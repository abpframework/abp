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7"/>
  </p:notesMasterIdLst>
  <p:sldIdLst>
    <p:sldId id="259" r:id="rId2"/>
    <p:sldId id="261" r:id="rId3"/>
    <p:sldId id="265" r:id="rId4"/>
    <p:sldId id="269" r:id="rId5"/>
    <p:sldId id="313" r:id="rId6"/>
    <p:sldId id="271" r:id="rId7"/>
    <p:sldId id="314" r:id="rId8"/>
    <p:sldId id="315" r:id="rId9"/>
    <p:sldId id="316" r:id="rId10"/>
    <p:sldId id="317" r:id="rId11"/>
    <p:sldId id="302" r:id="rId12"/>
    <p:sldId id="277" r:id="rId13"/>
    <p:sldId id="305" r:id="rId14"/>
    <p:sldId id="303" r:id="rId15"/>
    <p:sldId id="318" r:id="rId16"/>
    <p:sldId id="311" r:id="rId17"/>
    <p:sldId id="307" r:id="rId18"/>
    <p:sldId id="319" r:id="rId19"/>
    <p:sldId id="320" r:id="rId20"/>
    <p:sldId id="309" r:id="rId21"/>
    <p:sldId id="312" r:id="rId22"/>
    <p:sldId id="281" r:id="rId23"/>
    <p:sldId id="321" r:id="rId24"/>
    <p:sldId id="322" r:id="rId25"/>
    <p:sldId id="283" r:id="rId26"/>
    <p:sldId id="285" r:id="rId27"/>
    <p:sldId id="323" r:id="rId28"/>
    <p:sldId id="287" r:id="rId29"/>
    <p:sldId id="289" r:id="rId30"/>
    <p:sldId id="291" r:id="rId31"/>
    <p:sldId id="293" r:id="rId32"/>
    <p:sldId id="295" r:id="rId33"/>
    <p:sldId id="297" r:id="rId34"/>
    <p:sldId id="299" r:id="rId35"/>
    <p:sldId id="301"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892" autoAdjust="0"/>
    <p:restoredTop sz="64149" autoAdjust="0"/>
  </p:normalViewPr>
  <p:slideViewPr>
    <p:cSldViewPr snapToGrid="0">
      <p:cViewPr varScale="1">
        <p:scale>
          <a:sx n="71" d="100"/>
          <a:sy n="71" d="100"/>
        </p:scale>
        <p:origin x="131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E39086-FEBA-4514-ACB6-04CE029A2E95}" type="datetimeFigureOut">
              <a:rPr lang="en-US" smtClean="0"/>
              <a:t>6/29/2026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436005-B491-465F-AFF5-2CA7D4CBF5FE}" type="slidenum">
              <a:rPr lang="en-US" smtClean="0"/>
              <a:t>‹#›</a:t>
            </a:fld>
            <a:endParaRPr lang="en-US"/>
          </a:p>
        </p:txBody>
      </p:sp>
    </p:spTree>
    <p:extLst>
      <p:ext uri="{BB962C8B-B14F-4D97-AF65-F5344CB8AC3E}">
        <p14:creationId xmlns:p14="http://schemas.microsoft.com/office/powerpoint/2010/main" val="2443341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tr-TR" dirty="0"/>
              <a:t>Merhaba arkadaşlar. Bu sunumda Madrid'de katıldığım CONVEX Summit 2026 konferansından izlenimlerimi paylaşacağım.</a:t>
            </a:r>
          </a:p>
          <a:p>
            <a:r>
              <a:rPr lang="tr-TR" dirty="0"/>
              <a:t>Bu benim Madrid'deki ilk konuşmamdı. Konferans Plain Concepts tarafından düzenlendi; 17-18 Haziran 2026 tarihlerinde, 3 paralel oturumla, dev bir sinema salonunda gerçekleşti. Oturumların ikisi İspanyolca, biri İngilizceydi.</a:t>
            </a:r>
          </a:p>
          <a:p>
            <a:r>
              <a:rPr lang="tr-TR" dirty="0"/>
              <a:t>Hem kendi konuşmamı yaptım hem de bir yazılım mimarı ve dinleyici olarak diğer oturumları takip ettim. Bugün size hem teknik öğrendiklerimi hem de bu yolculuğun kültürel tarafını anlatacağım.</a:t>
            </a: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tr-TR" dirty="0"/>
              <a:t>Konferans Plain Concepts tarafından düzenlendi ve 17-18 Haziran 2026'da iki gün sürdü.</a:t>
            </a:r>
          </a:p>
          <a:p>
            <a:r>
              <a:rPr lang="tr-TR" dirty="0"/>
              <a:t>Mekan, Madrid'deki Kinépolis Ciudad de la Imagen sinemasıydı. Üç paralel oturum vardı; ikisi İspanyolca, biri tamamen İngilizceydi.</a:t>
            </a:r>
          </a:p>
          <a:p>
            <a:r>
              <a:rPr lang="tr-TR" dirty="0"/>
              <a:t>Daha önce Litvanya'da da bir sinemada konuşmuştum. Akustik, atmosfer ve sahne görünürlüğü açısından sinemada konferans yapmanın gerçekten avantajlı olduğunu düşünüyorum.</a:t>
            </a:r>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tr-TR" dirty="0"/>
              <a:t>Sunumuma, Madrid'in simgelerinden Sobrino de Botín restoranıyla başladım. Burası Guinness Rekorlar Kitabı'na göre dünyanın en eski restoranı; 1725'ten beri açık.</a:t>
            </a:r>
          </a:p>
          <a:p>
            <a:r>
              <a:rPr lang="tr-TR" dirty="0"/>
              <a:t>İlginç olan şu: lezzet hiç değişmemiş. Aynı klasik tarifler, aynı pişirme teknikleriyle çalışıyorlar ve bu onların gücü.</a:t>
            </a:r>
          </a:p>
          <a:p>
            <a:r>
              <a:rPr lang="tr-TR" dirty="0"/>
              <a:t>Ama vermek istediğim mesaj şuydu: biz restoran işletmiyoruz. Yazılımda, özellikle AI çağında raporlama yaparken eski yöntemlere sıkışıp kalamayız; yeni teknikleri, yeni standartları ve güncel pratikleri benimsemek zorundayız.</a:t>
            </a:r>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tr-TR" dirty="0"/>
              <a:t>En çok ilgi çeken an şuydu: konferans öncesi 10 İngilizce cümleyi İspanyolcaya çevirdim, ChatGPT'ye telaffuzumu puanlattım ve en yüksek puanı alan 3 cümleyi sahnede kendi AI raporlama aracıma İspanyolca konuşturarak gösterdim.</a:t>
            </a:r>
          </a:p>
          <a:p>
            <a:r>
              <a:rPr lang="tr-TR" dirty="0"/>
              <a:t>Salona da sordum: katılımcıların yaklaşık %80'i daha önce SQL yazmış ve raporlama ekranı geliştirmiş; aynı oran .NET kullanıyordu.</a:t>
            </a:r>
          </a:p>
        </p:txBody>
      </p:sp>
    </p:spTree>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28CBF-452A-A449-94AA-5F17D0B5F238}"/>
            </a:ext>
          </a:extLst>
        </p:cNvPr>
        <p:cNvGrpSpPr/>
        <p:nvPr/>
      </p:nvGrpSpPr>
      <p:grpSpPr>
        <a:xfrm>
          <a:off x="0" y="0"/>
          <a:ext cx="0" cy="0"/>
          <a:chOff x="0" y="0"/>
          <a:chExt cx="0" cy="0"/>
        </a:xfrm>
      </p:grpSpPr>
      <p:sp>
        <p:nvSpPr>
          <p:cNvPr id="2" name="Notes Placeholder 1">
            <a:extLst>
              <a:ext uri="{FF2B5EF4-FFF2-40B4-BE49-F238E27FC236}">
                <a16:creationId xmlns:a16="http://schemas.microsoft.com/office/drawing/2014/main" id="{7063CA84-4E83-38E0-996D-EE26BD8E536D}"/>
              </a:ext>
            </a:extLst>
          </p:cNvPr>
          <p:cNvSpPr>
            <a:spLocks noGrp="1"/>
          </p:cNvSpPr>
          <p:nvPr>
            <p:ph type="body" idx="1"/>
          </p:nvPr>
        </p:nvSpPr>
        <p:spPr/>
        <p:txBody>
          <a:bodyPr/>
          <a:lstStyle/>
          <a:p>
            <a:r>
              <a:rPr lang="tr-TR" dirty="0"/>
              <a:t>Diğer oturumlardan çıkardığım en güçlü temalardan biri buydu. Yazılım geliştirme, AI ajan araçlarıyla hızla evriliyor.</a:t>
            </a:r>
          </a:p>
          <a:p>
            <a:r>
              <a:rPr lang="tr-TR" dirty="0"/>
              <a:t>'Geliştirme öldü' diyemeyiz; ama el ile geliştirme, yani her satırı tek tek elle yazma dönemi bitti. Bundan sonra zamanımızı daha az kod yazmaya, daha çok düşünmeye ayıracağız: hangi özellikler, nasıl bir kullanıcı deneyimi, ne kadar sağlam bir altyapı.</a:t>
            </a:r>
          </a:p>
          <a:p>
            <a:r>
              <a:rPr lang="tr-TR" dirty="0"/>
              <a:t>Oturumda çok hoşuma giden bir benzetme vardı: AI çağında kodu elle yazmak, bağlılığını kanıtlamak için faks çekmek gibidir — gereksiz ve modası geçmiş.</a:t>
            </a:r>
          </a:p>
        </p:txBody>
      </p:sp>
    </p:spTree>
    <p:extLst>
      <p:ext uri="{BB962C8B-B14F-4D97-AF65-F5344CB8AC3E}">
        <p14:creationId xmlns:p14="http://schemas.microsoft.com/office/powerpoint/2010/main" val="323000202"/>
      </p:ext>
    </p:extLst>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tr-TR" dirty="0"/>
              <a:t>Diğer oturumlardan çıkardığım en güçlü temalardan biri buydu. Yazılım geliştirme, AI ajan araçlarıyla hızla evriliyor.</a:t>
            </a:r>
          </a:p>
          <a:p>
            <a:r>
              <a:rPr lang="tr-TR" dirty="0"/>
              <a:t>'Geliştirme öldü' diyemeyiz; ama el ile geliştirme, yani her satırı tek tek elle yazma dönemi bitti. Bundan sonra zamanımızı daha az kod yazmaya, daha çok düşünmeye ayıracağız: hangi özellikler, nasıl bir kullanıcı deneyimi, ne kadar sağlam bir altyapı.</a:t>
            </a:r>
          </a:p>
          <a:p>
            <a:r>
              <a:rPr lang="tr-TR" dirty="0"/>
              <a:t>Oturumda çok hoşuma giden bir benzetme vardı: AI çağında kodu elle yazmak, bağlılığını kanıtlamak için faks çekmek gibidir — gereksiz ve modası geçmiş.</a:t>
            </a:r>
          </a:p>
        </p:txBody>
      </p:sp>
    </p:spTree>
  </p:cSld>
  <p:clrMapOvr>
    <a:overrideClrMapping bg1="lt1" tx1="dk1" bg2="lt2" tx2="dk2" accent1="accent1" accent2="accent2" accent3="accent3" accent4="accent4" accent5="accent5" accent6="accent6" hlink="hlink" folHlink="folHlink"/>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5BFC3-4DF1-8CB7-3AE5-BA0685CE384B}"/>
            </a:ext>
          </a:extLst>
        </p:cNvPr>
        <p:cNvGrpSpPr/>
        <p:nvPr/>
      </p:nvGrpSpPr>
      <p:grpSpPr>
        <a:xfrm>
          <a:off x="0" y="0"/>
          <a:ext cx="0" cy="0"/>
          <a:chOff x="0" y="0"/>
          <a:chExt cx="0" cy="0"/>
        </a:xfrm>
      </p:grpSpPr>
      <p:sp>
        <p:nvSpPr>
          <p:cNvPr id="2" name="Notes Placeholder 1">
            <a:extLst>
              <a:ext uri="{FF2B5EF4-FFF2-40B4-BE49-F238E27FC236}">
                <a16:creationId xmlns:a16="http://schemas.microsoft.com/office/drawing/2014/main" id="{81657FE0-E506-90CF-BC18-2C080D40D821}"/>
              </a:ext>
            </a:extLst>
          </p:cNvPr>
          <p:cNvSpPr>
            <a:spLocks noGrp="1"/>
          </p:cNvSpPr>
          <p:nvPr>
            <p:ph type="body" idx="1"/>
          </p:nvPr>
        </p:nvSpPr>
        <p:spPr/>
        <p:txBody>
          <a:bodyPr/>
          <a:lstStyle/>
          <a:p>
            <a:endParaRPr lang="en-US" dirty="0"/>
          </a:p>
          <a:p>
            <a:r>
              <a:rPr lang="tr-TR" dirty="0"/>
              <a:t>iş birliğinin getiri matrisini gösteriyordu: Ürün yönetimi yalnızca kısa vadeli iş değerine odaklandığında, mimari zarar görebilir; mimarlar yalnızca mimariye odaklandığında ise pazar fırsatı kaybedilebilir. Kazan-kazan senaryosu, her iki tarafın da iş değeri ve mimariyi birlikte optimize etmesiyle ortaya çıkar. Kazan-kazan senaryosu, her iki tarafın da iş değeri ve mimariyi birlikte optimize etmesiyle gerçekleşir.</a:t>
            </a:r>
            <a:endParaRPr lang="en-US" dirty="0"/>
          </a:p>
          <a:p>
            <a:endParaRPr lang="en-US" dirty="0"/>
          </a:p>
          <a:p>
            <a:r>
              <a:rPr lang="en-US" sz="1200" dirty="0">
                <a:solidFill>
                  <a:srgbClr val="24364A"/>
                </a:solidFill>
                <a:latin typeface="Open Sans"/>
                <a:ea typeface="Open Sans"/>
                <a:cs typeface="Open Sans"/>
              </a:rPr>
              <a:t>•  </a:t>
            </a:r>
            <a:r>
              <a:rPr lang="en-US" sz="1200" dirty="0" err="1">
                <a:solidFill>
                  <a:srgbClr val="24364A"/>
                </a:solidFill>
                <a:latin typeface="Open Sans"/>
                <a:ea typeface="Open Sans"/>
                <a:cs typeface="Open Sans"/>
              </a:rPr>
              <a:t>Ürün</a:t>
            </a:r>
            <a:r>
              <a:rPr lang="en-US" sz="1200" dirty="0">
                <a:solidFill>
                  <a:srgbClr val="24364A"/>
                </a:solidFill>
                <a:latin typeface="Open Sans"/>
                <a:ea typeface="Open Sans"/>
                <a:cs typeface="Open Sans"/>
              </a:rPr>
              <a:t> </a:t>
            </a:r>
            <a:r>
              <a:rPr lang="en-US" sz="1200" dirty="0" err="1">
                <a:solidFill>
                  <a:srgbClr val="24364A"/>
                </a:solidFill>
                <a:latin typeface="Open Sans"/>
                <a:ea typeface="Open Sans"/>
                <a:cs typeface="Open Sans"/>
              </a:rPr>
              <a:t>yalnızca</a:t>
            </a:r>
            <a:r>
              <a:rPr lang="en-US" sz="1200" dirty="0">
                <a:solidFill>
                  <a:srgbClr val="24364A"/>
                </a:solidFill>
                <a:latin typeface="Open Sans"/>
                <a:ea typeface="Open Sans"/>
                <a:cs typeface="Open Sans"/>
              </a:rPr>
              <a:t> kısa </a:t>
            </a:r>
            <a:r>
              <a:rPr lang="en-US" sz="1200" dirty="0" err="1">
                <a:solidFill>
                  <a:srgbClr val="24364A"/>
                </a:solidFill>
                <a:latin typeface="Open Sans"/>
                <a:ea typeface="Open Sans"/>
                <a:cs typeface="Open Sans"/>
              </a:rPr>
              <a:t>vadeli</a:t>
            </a:r>
            <a:r>
              <a:rPr lang="en-US" sz="1200" dirty="0">
                <a:solidFill>
                  <a:srgbClr val="24364A"/>
                </a:solidFill>
                <a:latin typeface="Open Sans"/>
                <a:ea typeface="Open Sans"/>
                <a:cs typeface="Open Sans"/>
              </a:rPr>
              <a:t> iş </a:t>
            </a:r>
            <a:r>
              <a:rPr lang="en-US" sz="1200" dirty="0" err="1">
                <a:solidFill>
                  <a:srgbClr val="24364A"/>
                </a:solidFill>
                <a:latin typeface="Open Sans"/>
                <a:ea typeface="Open Sans"/>
                <a:cs typeface="Open Sans"/>
              </a:rPr>
              <a:t>değerine</a:t>
            </a:r>
            <a:r>
              <a:rPr lang="en-US" sz="1200" dirty="0">
                <a:solidFill>
                  <a:srgbClr val="24364A"/>
                </a:solidFill>
                <a:latin typeface="Open Sans"/>
                <a:ea typeface="Open Sans"/>
                <a:cs typeface="Open Sans"/>
              </a:rPr>
              <a:t> </a:t>
            </a:r>
            <a:r>
              <a:rPr lang="en-US" sz="1200" dirty="0" err="1">
                <a:solidFill>
                  <a:srgbClr val="24364A"/>
                </a:solidFill>
                <a:latin typeface="Open Sans"/>
                <a:ea typeface="Open Sans"/>
                <a:cs typeface="Open Sans"/>
              </a:rPr>
              <a:t>odaklanırsa</a:t>
            </a:r>
            <a:r>
              <a:rPr lang="en-US" sz="1200" dirty="0">
                <a:solidFill>
                  <a:srgbClr val="24364A"/>
                </a:solidFill>
                <a:latin typeface="Open Sans"/>
                <a:ea typeface="Open Sans"/>
                <a:cs typeface="Open Sans"/>
              </a:rPr>
              <a:t> </a:t>
            </a:r>
            <a:r>
              <a:rPr lang="en-US" sz="1200" dirty="0" err="1">
                <a:solidFill>
                  <a:srgbClr val="24364A"/>
                </a:solidFill>
                <a:latin typeface="Open Sans"/>
                <a:ea typeface="Open Sans"/>
                <a:cs typeface="Open Sans"/>
              </a:rPr>
              <a:t>mimari</a:t>
            </a:r>
            <a:r>
              <a:rPr lang="en-US" sz="1200" dirty="0">
                <a:solidFill>
                  <a:srgbClr val="24364A"/>
                </a:solidFill>
                <a:latin typeface="Open Sans"/>
                <a:ea typeface="Open Sans"/>
                <a:cs typeface="Open Sans"/>
              </a:rPr>
              <a:t> </a:t>
            </a:r>
            <a:r>
              <a:rPr lang="en-US" sz="1200" dirty="0" err="1">
                <a:solidFill>
                  <a:srgbClr val="24364A"/>
                </a:solidFill>
                <a:latin typeface="Open Sans"/>
                <a:ea typeface="Open Sans"/>
                <a:cs typeface="Open Sans"/>
              </a:rPr>
              <a:t>zarar</a:t>
            </a:r>
            <a:r>
              <a:rPr lang="en-US" sz="1200" dirty="0">
                <a:solidFill>
                  <a:srgbClr val="24364A"/>
                </a:solidFill>
                <a:latin typeface="Open Sans"/>
                <a:ea typeface="Open Sans"/>
                <a:cs typeface="Open Sans"/>
              </a:rPr>
              <a:t> </a:t>
            </a:r>
            <a:r>
              <a:rPr lang="en-US" sz="1200" dirty="0" err="1">
                <a:solidFill>
                  <a:srgbClr val="24364A"/>
                </a:solidFill>
                <a:latin typeface="Open Sans"/>
                <a:ea typeface="Open Sans"/>
                <a:cs typeface="Open Sans"/>
              </a:rPr>
              <a:t>görür</a:t>
            </a:r>
            <a:r>
              <a:rPr lang="en-US" sz="1200" dirty="0">
                <a:solidFill>
                  <a:srgbClr val="24364A"/>
                </a:solidFill>
                <a:latin typeface="Open Sans"/>
                <a:ea typeface="Open Sans"/>
                <a:cs typeface="Open Sans"/>
              </a:rPr>
              <a:t>
•  Mimar </a:t>
            </a:r>
            <a:r>
              <a:rPr lang="en-US" sz="1200" dirty="0" err="1">
                <a:solidFill>
                  <a:srgbClr val="24364A"/>
                </a:solidFill>
                <a:latin typeface="Open Sans"/>
                <a:ea typeface="Open Sans"/>
                <a:cs typeface="Open Sans"/>
              </a:rPr>
              <a:t>yalnızca</a:t>
            </a:r>
            <a:r>
              <a:rPr lang="en-US" sz="1200" dirty="0">
                <a:solidFill>
                  <a:srgbClr val="24364A"/>
                </a:solidFill>
                <a:latin typeface="Open Sans"/>
                <a:ea typeface="Open Sans"/>
                <a:cs typeface="Open Sans"/>
              </a:rPr>
              <a:t> </a:t>
            </a:r>
            <a:r>
              <a:rPr lang="en-US" sz="1200" dirty="0" err="1">
                <a:solidFill>
                  <a:srgbClr val="24364A"/>
                </a:solidFill>
                <a:latin typeface="Open Sans"/>
                <a:ea typeface="Open Sans"/>
                <a:cs typeface="Open Sans"/>
              </a:rPr>
              <a:t>mimariye</a:t>
            </a:r>
            <a:r>
              <a:rPr lang="en-US" sz="1200" dirty="0">
                <a:solidFill>
                  <a:srgbClr val="24364A"/>
                </a:solidFill>
                <a:latin typeface="Open Sans"/>
                <a:ea typeface="Open Sans"/>
                <a:cs typeface="Open Sans"/>
              </a:rPr>
              <a:t> </a:t>
            </a:r>
            <a:r>
              <a:rPr lang="en-US" sz="1200" dirty="0" err="1">
                <a:solidFill>
                  <a:srgbClr val="24364A"/>
                </a:solidFill>
                <a:latin typeface="Open Sans"/>
                <a:ea typeface="Open Sans"/>
                <a:cs typeface="Open Sans"/>
              </a:rPr>
              <a:t>odaklanırsa</a:t>
            </a:r>
            <a:r>
              <a:rPr lang="en-US" sz="1200" dirty="0">
                <a:solidFill>
                  <a:srgbClr val="24364A"/>
                </a:solidFill>
                <a:latin typeface="Open Sans"/>
                <a:ea typeface="Open Sans"/>
                <a:cs typeface="Open Sans"/>
              </a:rPr>
              <a:t> </a:t>
            </a:r>
            <a:r>
              <a:rPr lang="en-US" sz="1200" dirty="0" err="1">
                <a:solidFill>
                  <a:srgbClr val="24364A"/>
                </a:solidFill>
                <a:latin typeface="Open Sans"/>
                <a:ea typeface="Open Sans"/>
                <a:cs typeface="Open Sans"/>
              </a:rPr>
              <a:t>pazar</a:t>
            </a:r>
            <a:r>
              <a:rPr lang="en-US" sz="1200" dirty="0">
                <a:solidFill>
                  <a:srgbClr val="24364A"/>
                </a:solidFill>
                <a:latin typeface="Open Sans"/>
                <a:ea typeface="Open Sans"/>
                <a:cs typeface="Open Sans"/>
              </a:rPr>
              <a:t> </a:t>
            </a:r>
            <a:r>
              <a:rPr lang="en-US" sz="1200" dirty="0" err="1">
                <a:solidFill>
                  <a:srgbClr val="24364A"/>
                </a:solidFill>
                <a:latin typeface="Open Sans"/>
                <a:ea typeface="Open Sans"/>
                <a:cs typeface="Open Sans"/>
              </a:rPr>
              <a:t>fırsatı</a:t>
            </a:r>
            <a:r>
              <a:rPr lang="en-US" sz="1200" dirty="0">
                <a:solidFill>
                  <a:srgbClr val="24364A"/>
                </a:solidFill>
                <a:latin typeface="Open Sans"/>
                <a:ea typeface="Open Sans"/>
                <a:cs typeface="Open Sans"/>
              </a:rPr>
              <a:t> </a:t>
            </a:r>
            <a:r>
              <a:rPr lang="en-US" sz="1200" dirty="0" err="1">
                <a:solidFill>
                  <a:srgbClr val="24364A"/>
                </a:solidFill>
                <a:latin typeface="Open Sans"/>
                <a:ea typeface="Open Sans"/>
                <a:cs typeface="Open Sans"/>
              </a:rPr>
              <a:t>kaçar</a:t>
            </a:r>
            <a:r>
              <a:rPr lang="en-US" sz="1200" dirty="0">
                <a:solidFill>
                  <a:srgbClr val="24364A"/>
                </a:solidFill>
                <a:latin typeface="Open Sans"/>
                <a:ea typeface="Open Sans"/>
                <a:cs typeface="Open Sans"/>
              </a:rPr>
              <a:t>
•  Kazan-</a:t>
            </a:r>
            <a:r>
              <a:rPr lang="en-US" sz="1200" dirty="0" err="1">
                <a:solidFill>
                  <a:srgbClr val="24364A"/>
                </a:solidFill>
                <a:latin typeface="Open Sans"/>
                <a:ea typeface="Open Sans"/>
                <a:cs typeface="Open Sans"/>
              </a:rPr>
              <a:t>kazan</a:t>
            </a:r>
            <a:r>
              <a:rPr lang="en-US" sz="1200" dirty="0">
                <a:solidFill>
                  <a:srgbClr val="24364A"/>
                </a:solidFill>
                <a:latin typeface="Open Sans"/>
                <a:ea typeface="Open Sans"/>
                <a:cs typeface="Open Sans"/>
              </a:rPr>
              <a:t>: </a:t>
            </a:r>
            <a:r>
              <a:rPr lang="en-US" sz="1200" dirty="0" err="1">
                <a:solidFill>
                  <a:srgbClr val="24364A"/>
                </a:solidFill>
                <a:latin typeface="Open Sans"/>
                <a:ea typeface="Open Sans"/>
                <a:cs typeface="Open Sans"/>
              </a:rPr>
              <a:t>iki</a:t>
            </a:r>
            <a:r>
              <a:rPr lang="en-US" sz="1200" dirty="0">
                <a:solidFill>
                  <a:srgbClr val="24364A"/>
                </a:solidFill>
                <a:latin typeface="Open Sans"/>
                <a:ea typeface="Open Sans"/>
                <a:cs typeface="Open Sans"/>
              </a:rPr>
              <a:t> </a:t>
            </a:r>
            <a:r>
              <a:rPr lang="en-US" sz="1200" dirty="0" err="1">
                <a:solidFill>
                  <a:srgbClr val="24364A"/>
                </a:solidFill>
                <a:latin typeface="Open Sans"/>
                <a:ea typeface="Open Sans"/>
                <a:cs typeface="Open Sans"/>
              </a:rPr>
              <a:t>taraf</a:t>
            </a:r>
            <a:r>
              <a:rPr lang="en-US" sz="1200" dirty="0">
                <a:solidFill>
                  <a:srgbClr val="24364A"/>
                </a:solidFill>
                <a:latin typeface="Open Sans"/>
                <a:ea typeface="Open Sans"/>
                <a:cs typeface="Open Sans"/>
              </a:rPr>
              <a:t> da iş </a:t>
            </a:r>
            <a:r>
              <a:rPr lang="en-US" sz="1200" dirty="0" err="1">
                <a:solidFill>
                  <a:srgbClr val="24364A"/>
                </a:solidFill>
                <a:latin typeface="Open Sans"/>
                <a:ea typeface="Open Sans"/>
                <a:cs typeface="Open Sans"/>
              </a:rPr>
              <a:t>değeri</a:t>
            </a:r>
            <a:r>
              <a:rPr lang="en-US" sz="1200" dirty="0">
                <a:solidFill>
                  <a:srgbClr val="24364A"/>
                </a:solidFill>
                <a:latin typeface="Open Sans"/>
                <a:ea typeface="Open Sans"/>
                <a:cs typeface="Open Sans"/>
              </a:rPr>
              <a:t> + </a:t>
            </a:r>
            <a:r>
              <a:rPr lang="en-US" sz="1200" dirty="0" err="1">
                <a:solidFill>
                  <a:srgbClr val="24364A"/>
                </a:solidFill>
                <a:latin typeface="Open Sans"/>
                <a:ea typeface="Open Sans"/>
                <a:cs typeface="Open Sans"/>
              </a:rPr>
              <a:t>mimari</a:t>
            </a:r>
            <a:r>
              <a:rPr lang="en-US" sz="1200" dirty="0">
                <a:solidFill>
                  <a:srgbClr val="24364A"/>
                </a:solidFill>
                <a:latin typeface="Open Sans"/>
                <a:ea typeface="Open Sans"/>
                <a:cs typeface="Open Sans"/>
              </a:rPr>
              <a:t> </a:t>
            </a:r>
            <a:r>
              <a:rPr lang="en-US" sz="1200" dirty="0" err="1">
                <a:solidFill>
                  <a:srgbClr val="24364A"/>
                </a:solidFill>
                <a:latin typeface="Open Sans"/>
                <a:ea typeface="Open Sans"/>
                <a:cs typeface="Open Sans"/>
              </a:rPr>
              <a:t>için</a:t>
            </a:r>
            <a:r>
              <a:rPr lang="en-US" sz="1200" dirty="0">
                <a:solidFill>
                  <a:srgbClr val="24364A"/>
                </a:solidFill>
                <a:latin typeface="Open Sans"/>
                <a:ea typeface="Open Sans"/>
                <a:cs typeface="Open Sans"/>
              </a:rPr>
              <a:t> </a:t>
            </a:r>
            <a:r>
              <a:rPr lang="en-US" sz="1200" dirty="0" err="1">
                <a:solidFill>
                  <a:srgbClr val="24364A"/>
                </a:solidFill>
                <a:latin typeface="Open Sans"/>
                <a:ea typeface="Open Sans"/>
                <a:cs typeface="Open Sans"/>
              </a:rPr>
              <a:t>birlikte</a:t>
            </a:r>
            <a:r>
              <a:rPr lang="en-US" sz="1200" dirty="0">
                <a:solidFill>
                  <a:srgbClr val="24364A"/>
                </a:solidFill>
                <a:latin typeface="Open Sans"/>
                <a:ea typeface="Open Sans"/>
                <a:cs typeface="Open Sans"/>
              </a:rPr>
              <a:t> optimize </a:t>
            </a:r>
            <a:r>
              <a:rPr lang="en-US" sz="1200" dirty="0" err="1">
                <a:solidFill>
                  <a:srgbClr val="24364A"/>
                </a:solidFill>
                <a:latin typeface="Open Sans"/>
                <a:ea typeface="Open Sans"/>
                <a:cs typeface="Open Sans"/>
              </a:rPr>
              <a:t>ederse</a:t>
            </a:r>
            <a:endParaRPr lang="en-US" sz="1200" dirty="0">
              <a:solidFill>
                <a:srgbClr val="24364A"/>
              </a:solidFill>
              <a:latin typeface="Open Sans"/>
              <a:ea typeface="Open Sans"/>
              <a:cs typeface="Open Sans"/>
            </a:endParaRPr>
          </a:p>
          <a:p>
            <a:r>
              <a:rPr lang="en-US" dirty="0"/>
              <a:t> </a:t>
            </a:r>
            <a:endParaRPr lang="tr-TR" dirty="0"/>
          </a:p>
        </p:txBody>
      </p:sp>
    </p:spTree>
    <p:extLst>
      <p:ext uri="{BB962C8B-B14F-4D97-AF65-F5344CB8AC3E}">
        <p14:creationId xmlns:p14="http://schemas.microsoft.com/office/powerpoint/2010/main" val="3922357336"/>
      </p:ext>
    </p:extLst>
  </p:cSld>
  <p:clrMapOvr>
    <a:overrideClrMapping bg1="lt1" tx1="dk1" bg2="lt2" tx2="dk2" accent1="accent1" accent2="accent2" accent3="accent3" accent4="accent4" accent5="accent5" accent6="accent6" hlink="hlink" folHlink="folHlink"/>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63085-4124-7949-BEF6-8BA1C3F1D6B1}"/>
            </a:ext>
          </a:extLst>
        </p:cNvPr>
        <p:cNvGrpSpPr/>
        <p:nvPr/>
      </p:nvGrpSpPr>
      <p:grpSpPr>
        <a:xfrm>
          <a:off x="0" y="0"/>
          <a:ext cx="0" cy="0"/>
          <a:chOff x="0" y="0"/>
          <a:chExt cx="0" cy="0"/>
        </a:xfrm>
      </p:grpSpPr>
      <p:sp>
        <p:nvSpPr>
          <p:cNvPr id="2" name="Notes Placeholder 1">
            <a:extLst>
              <a:ext uri="{FF2B5EF4-FFF2-40B4-BE49-F238E27FC236}">
                <a16:creationId xmlns:a16="http://schemas.microsoft.com/office/drawing/2014/main" id="{39E28836-3713-EFC2-E686-4C34DFE2D574}"/>
              </a:ext>
            </a:extLst>
          </p:cNvPr>
          <p:cNvSpPr>
            <a:spLocks noGrp="1"/>
          </p:cNvSpPr>
          <p:nvPr>
            <p:ph type="body" idx="1"/>
          </p:nvPr>
        </p:nvSpPr>
        <p:spPr/>
        <p:txBody>
          <a:bodyPr/>
          <a:lstStyle/>
          <a:p>
            <a:endParaRPr lang="tr-TR" dirty="0"/>
          </a:p>
          <a:p>
            <a:r>
              <a:rPr lang="en-US" dirty="0"/>
              <a:t>Yine aynı </a:t>
            </a:r>
            <a:r>
              <a:rPr lang="en-US" dirty="0" err="1"/>
              <a:t>konuşmada</a:t>
            </a:r>
            <a:r>
              <a:rPr lang="en-US" dirty="0"/>
              <a:t> </a:t>
            </a:r>
            <a:r>
              <a:rPr lang="tr-TR" dirty="0"/>
              <a:t>işi öğren, rekabeti anla, büyük patlama değişikliklerinden kaçın, kademeli ilerle, seçenekler yarat ve sadece talepleri yanıtlayan değil iş değeri üreten biri ol.</a:t>
            </a:r>
          </a:p>
          <a:p>
            <a:r>
              <a:rPr lang="tr-TR" dirty="0"/>
              <a:t>Bu mesajı çok sevdim: mimari, sürekli 'bu riskli' diyen değil, işe seçenek üreten bir disiplin olduğunda çok daha değerlidir.</a:t>
            </a:r>
          </a:p>
          <a:p>
            <a:endParaRPr lang="tr-TR" dirty="0"/>
          </a:p>
        </p:txBody>
      </p:sp>
    </p:spTree>
    <p:extLst>
      <p:ext uri="{BB962C8B-B14F-4D97-AF65-F5344CB8AC3E}">
        <p14:creationId xmlns:p14="http://schemas.microsoft.com/office/powerpoint/2010/main" val="394404818"/>
      </p:ext>
    </p:extLst>
  </p:cSld>
  <p:clrMapOvr>
    <a:overrideClrMapping bg1="lt1" tx1="dk1" bg2="lt2" tx2="dk2" accent1="accent1" accent2="accent2" accent3="accent3" accent4="accent4" accent5="accent5" accent6="accent6" hlink="hlink" folHlink="folHlink"/>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A8A5A-ED8F-0A43-7847-A00185633E2D}"/>
            </a:ext>
          </a:extLst>
        </p:cNvPr>
        <p:cNvGrpSpPr/>
        <p:nvPr/>
      </p:nvGrpSpPr>
      <p:grpSpPr>
        <a:xfrm>
          <a:off x="0" y="0"/>
          <a:ext cx="0" cy="0"/>
          <a:chOff x="0" y="0"/>
          <a:chExt cx="0" cy="0"/>
        </a:xfrm>
      </p:grpSpPr>
      <p:sp>
        <p:nvSpPr>
          <p:cNvPr id="2" name="Notes Placeholder 1">
            <a:extLst>
              <a:ext uri="{FF2B5EF4-FFF2-40B4-BE49-F238E27FC236}">
                <a16:creationId xmlns:a16="http://schemas.microsoft.com/office/drawing/2014/main" id="{DD046A67-E488-BA02-4191-D35818A6180B}"/>
              </a:ext>
            </a:extLst>
          </p:cNvPr>
          <p:cNvSpPr>
            <a:spLocks noGrp="1"/>
          </p:cNvSpPr>
          <p:nvPr>
            <p:ph type="body" idx="1"/>
          </p:nvPr>
        </p:nvSpPr>
        <p:spPr/>
        <p:txBody>
          <a:bodyPr/>
          <a:lstStyle/>
          <a:p>
            <a:endParaRPr lang="tr-TR" dirty="0"/>
          </a:p>
        </p:txBody>
      </p:sp>
    </p:spTree>
    <p:extLst>
      <p:ext uri="{BB962C8B-B14F-4D97-AF65-F5344CB8AC3E}">
        <p14:creationId xmlns:p14="http://schemas.microsoft.com/office/powerpoint/2010/main" val="36665213"/>
      </p:ext>
    </p:extLst>
  </p:cSld>
  <p:clrMapOvr>
    <a:overrideClrMapping bg1="lt1" tx1="dk1" bg2="lt2" tx2="dk2" accent1="accent1" accent2="accent2" accent3="accent3" accent4="accent4" accent5="accent5" accent6="accent6" hlink="hlink" folHlink="folHlink"/>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E9856-5BFA-DB88-E841-42897A9DA622}"/>
            </a:ext>
          </a:extLst>
        </p:cNvPr>
        <p:cNvGrpSpPr/>
        <p:nvPr/>
      </p:nvGrpSpPr>
      <p:grpSpPr>
        <a:xfrm>
          <a:off x="0" y="0"/>
          <a:ext cx="0" cy="0"/>
          <a:chOff x="0" y="0"/>
          <a:chExt cx="0" cy="0"/>
        </a:xfrm>
      </p:grpSpPr>
      <p:sp>
        <p:nvSpPr>
          <p:cNvPr id="2" name="Notes Placeholder 1">
            <a:extLst>
              <a:ext uri="{FF2B5EF4-FFF2-40B4-BE49-F238E27FC236}">
                <a16:creationId xmlns:a16="http://schemas.microsoft.com/office/drawing/2014/main" id="{FFF24CC3-6B5F-CC28-F5DF-519A63FE0353}"/>
              </a:ext>
            </a:extLst>
          </p:cNvPr>
          <p:cNvSpPr>
            <a:spLocks noGrp="1"/>
          </p:cNvSpPr>
          <p:nvPr>
            <p:ph type="body" idx="1"/>
          </p:nvPr>
        </p:nvSpPr>
        <p:spPr/>
        <p:txBody>
          <a:bodyPr/>
          <a:lstStyle/>
          <a:p>
            <a:r>
              <a:rPr lang="en-US" dirty="0" err="1"/>
              <a:t>Dağıtık</a:t>
            </a:r>
            <a:r>
              <a:rPr lang="en-US" dirty="0"/>
              <a:t> </a:t>
            </a:r>
            <a:r>
              <a:rPr lang="en-US" dirty="0" err="1"/>
              <a:t>monolit</a:t>
            </a:r>
            <a:r>
              <a:rPr lang="en-US" dirty="0"/>
              <a:t> </a:t>
            </a:r>
            <a:r>
              <a:rPr lang="en-US" dirty="0" err="1"/>
              <a:t>oluşturmayın</a:t>
            </a:r>
            <a:r>
              <a:rPr lang="en-US" dirty="0"/>
              <a:t>.</a:t>
            </a:r>
          </a:p>
          <a:p>
            <a:r>
              <a:rPr lang="en-US" dirty="0"/>
              <a:t>Bir </a:t>
            </a:r>
            <a:r>
              <a:rPr lang="en-US" dirty="0" err="1"/>
              <a:t>uygulamayı</a:t>
            </a:r>
            <a:r>
              <a:rPr lang="en-US" dirty="0"/>
              <a:t> </a:t>
            </a:r>
            <a:r>
              <a:rPr lang="en-US" dirty="0" err="1"/>
              <a:t>birçok</a:t>
            </a:r>
            <a:r>
              <a:rPr lang="en-US" dirty="0"/>
              <a:t> micro </a:t>
            </a:r>
            <a:r>
              <a:rPr lang="en-US" dirty="0" err="1"/>
              <a:t>frontend'e</a:t>
            </a:r>
            <a:r>
              <a:rPr lang="en-US" dirty="0"/>
              <a:t> </a:t>
            </a:r>
            <a:r>
              <a:rPr lang="en-US" dirty="0" err="1"/>
              <a:t>bölseniz</a:t>
            </a:r>
            <a:r>
              <a:rPr lang="en-US" dirty="0"/>
              <a:t> bile, </a:t>
            </a:r>
            <a:r>
              <a:rPr lang="en-US" dirty="0" err="1"/>
              <a:t>eğer</a:t>
            </a:r>
            <a:r>
              <a:rPr lang="en-US" dirty="0"/>
              <a:t> </a:t>
            </a:r>
            <a:r>
              <a:rPr lang="en-US" dirty="0" err="1"/>
              <a:t>hepsi</a:t>
            </a:r>
            <a:r>
              <a:rPr lang="en-US" dirty="0"/>
              <a:t> </a:t>
            </a:r>
            <a:r>
              <a:rPr lang="en-US" dirty="0" err="1"/>
              <a:t>birbirine</a:t>
            </a:r>
            <a:r>
              <a:rPr lang="en-US" dirty="0"/>
              <a:t> </a:t>
            </a:r>
            <a:r>
              <a:rPr lang="en-US" dirty="0" err="1"/>
              <a:t>sıkı</a:t>
            </a:r>
            <a:r>
              <a:rPr lang="en-US" dirty="0"/>
              <a:t> </a:t>
            </a:r>
            <a:r>
              <a:rPr lang="en-US" dirty="0" err="1"/>
              <a:t>sıkıya</a:t>
            </a:r>
            <a:r>
              <a:rPr lang="en-US" dirty="0"/>
              <a:t> </a:t>
            </a:r>
            <a:r>
              <a:rPr lang="en-US" dirty="0" err="1"/>
              <a:t>bağlıysa</a:t>
            </a:r>
            <a:r>
              <a:rPr lang="en-US" dirty="0"/>
              <a:t> </a:t>
            </a:r>
            <a:r>
              <a:rPr lang="en-US" dirty="0" err="1"/>
              <a:t>aslında</a:t>
            </a:r>
            <a:r>
              <a:rPr lang="en-US" dirty="0"/>
              <a:t> </a:t>
            </a:r>
            <a:r>
              <a:rPr lang="en-US" dirty="0" err="1"/>
              <a:t>tek</a:t>
            </a:r>
            <a:r>
              <a:rPr lang="en-US" dirty="0"/>
              <a:t> </a:t>
            </a:r>
            <a:r>
              <a:rPr lang="en-US" dirty="0" err="1"/>
              <a:t>bir</a:t>
            </a:r>
            <a:r>
              <a:rPr lang="en-US" dirty="0"/>
              <a:t> </a:t>
            </a:r>
            <a:r>
              <a:rPr lang="en-US" dirty="0" err="1"/>
              <a:t>büyük</a:t>
            </a:r>
            <a:r>
              <a:rPr lang="en-US" dirty="0"/>
              <a:t> </a:t>
            </a:r>
            <a:r>
              <a:rPr lang="en-US" dirty="0" err="1"/>
              <a:t>monolitten</a:t>
            </a:r>
            <a:r>
              <a:rPr lang="en-US" dirty="0"/>
              <a:t> </a:t>
            </a:r>
            <a:r>
              <a:rPr lang="en-US" dirty="0" err="1"/>
              <a:t>farkı</a:t>
            </a:r>
            <a:r>
              <a:rPr lang="en-US" dirty="0"/>
              <a:t> </a:t>
            </a:r>
            <a:r>
              <a:rPr lang="en-US" dirty="0" err="1"/>
              <a:t>kalmaz</a:t>
            </a:r>
            <a:r>
              <a:rPr lang="en-US" dirty="0"/>
              <a:t>.</a:t>
            </a:r>
          </a:p>
          <a:p>
            <a:r>
              <a:rPr lang="en-US" b="1" dirty="0"/>
              <a:t>Bunu nasıl </a:t>
            </a:r>
            <a:r>
              <a:rPr lang="en-US" b="1" dirty="0" err="1"/>
              <a:t>önlersiniz</a:t>
            </a:r>
            <a:r>
              <a:rPr lang="en-US" b="1" dirty="0"/>
              <a:t>?</a:t>
            </a:r>
            <a:endParaRPr lang="en-US" dirty="0"/>
          </a:p>
          <a:p>
            <a:r>
              <a:rPr lang="en-US" i="1" dirty="0"/>
              <a:t>"By setting up proper boundaries to ensure independence."</a:t>
            </a:r>
            <a:endParaRPr lang="en-US" dirty="0"/>
          </a:p>
          <a:p>
            <a:r>
              <a:rPr lang="en-US" dirty="0"/>
              <a:t>Yani:</a:t>
            </a:r>
          </a:p>
          <a:p>
            <a:r>
              <a:rPr lang="en-US" dirty="0"/>
              <a:t>Her micro frontend </a:t>
            </a:r>
            <a:r>
              <a:rPr lang="en-US" dirty="0" err="1"/>
              <a:t>bağımsız</a:t>
            </a:r>
            <a:r>
              <a:rPr lang="en-US" dirty="0"/>
              <a:t> </a:t>
            </a:r>
            <a:r>
              <a:rPr lang="en-US" dirty="0" err="1"/>
              <a:t>geliştirilebilmeli</a:t>
            </a:r>
            <a:r>
              <a:rPr lang="en-US" dirty="0"/>
              <a:t>. </a:t>
            </a:r>
          </a:p>
          <a:p>
            <a:r>
              <a:rPr lang="en-US" dirty="0" err="1"/>
              <a:t>Bağımsız</a:t>
            </a:r>
            <a:r>
              <a:rPr lang="en-US" dirty="0"/>
              <a:t> deploy </a:t>
            </a:r>
            <a:r>
              <a:rPr lang="en-US" dirty="0" err="1"/>
              <a:t>edilebilmeli</a:t>
            </a:r>
            <a:r>
              <a:rPr lang="en-US" dirty="0"/>
              <a:t>. </a:t>
            </a:r>
          </a:p>
          <a:p>
            <a:r>
              <a:rPr lang="en-US" dirty="0" err="1"/>
              <a:t>Diğer</a:t>
            </a:r>
            <a:r>
              <a:rPr lang="en-US" dirty="0"/>
              <a:t> </a:t>
            </a:r>
            <a:r>
              <a:rPr lang="en-US" dirty="0" err="1"/>
              <a:t>ekiplerin</a:t>
            </a:r>
            <a:r>
              <a:rPr lang="en-US" dirty="0"/>
              <a:t> </a:t>
            </a:r>
            <a:r>
              <a:rPr lang="en-US" dirty="0" err="1"/>
              <a:t>koduna</a:t>
            </a:r>
            <a:r>
              <a:rPr lang="en-US" dirty="0"/>
              <a:t> minimum </a:t>
            </a:r>
            <a:r>
              <a:rPr lang="en-US" dirty="0" err="1"/>
              <a:t>bağımlı</a:t>
            </a:r>
            <a:r>
              <a:rPr lang="en-US" dirty="0"/>
              <a:t> </a:t>
            </a:r>
            <a:r>
              <a:rPr lang="en-US" dirty="0" err="1"/>
              <a:t>olmalı</a:t>
            </a:r>
            <a:r>
              <a:rPr lang="en-US" dirty="0"/>
              <a:t>.</a:t>
            </a:r>
          </a:p>
          <a:p>
            <a:endParaRPr lang="en-US" dirty="0"/>
          </a:p>
          <a:p>
            <a:endParaRPr lang="en-US" dirty="0"/>
          </a:p>
          <a:p>
            <a:r>
              <a:rPr lang="en-US" b="1" dirty="0"/>
              <a:t>2. "Avoid Nano Frontends"</a:t>
            </a:r>
          </a:p>
          <a:p>
            <a:r>
              <a:rPr lang="en-US" b="1" dirty="0" err="1"/>
              <a:t>Aşırı</a:t>
            </a:r>
            <a:r>
              <a:rPr lang="en-US" b="1" dirty="0"/>
              <a:t> </a:t>
            </a:r>
            <a:r>
              <a:rPr lang="en-US" b="1" dirty="0" err="1"/>
              <a:t>küçük</a:t>
            </a:r>
            <a:r>
              <a:rPr lang="en-US" b="1" dirty="0"/>
              <a:t> </a:t>
            </a:r>
            <a:r>
              <a:rPr lang="en-US" b="1" dirty="0" err="1"/>
              <a:t>parçalara</a:t>
            </a:r>
            <a:r>
              <a:rPr lang="en-US" b="1" dirty="0"/>
              <a:t> </a:t>
            </a:r>
            <a:r>
              <a:rPr lang="en-US" b="1" dirty="0" err="1"/>
              <a:t>bölmeyin</a:t>
            </a:r>
            <a:r>
              <a:rPr lang="en-US" b="1" dirty="0"/>
              <a:t>.</a:t>
            </a:r>
            <a:endParaRPr lang="en-US" dirty="0"/>
          </a:p>
          <a:p>
            <a:r>
              <a:rPr lang="en-US" dirty="0" err="1"/>
              <a:t>Bazı</a:t>
            </a:r>
            <a:r>
              <a:rPr lang="en-US" dirty="0"/>
              <a:t> </a:t>
            </a:r>
            <a:r>
              <a:rPr lang="en-US" dirty="0" err="1"/>
              <a:t>ekipler</a:t>
            </a:r>
            <a:r>
              <a:rPr lang="en-US" dirty="0"/>
              <a:t> her </a:t>
            </a:r>
            <a:r>
              <a:rPr lang="en-US" dirty="0" err="1"/>
              <a:t>butonu</a:t>
            </a:r>
            <a:r>
              <a:rPr lang="en-US" dirty="0"/>
              <a:t>, her </a:t>
            </a:r>
            <a:r>
              <a:rPr lang="en-US" dirty="0" err="1"/>
              <a:t>widget'ı</a:t>
            </a:r>
            <a:r>
              <a:rPr lang="en-US" dirty="0"/>
              <a:t> </a:t>
            </a:r>
            <a:r>
              <a:rPr lang="en-US" dirty="0" err="1"/>
              <a:t>ayrı</a:t>
            </a:r>
            <a:r>
              <a:rPr lang="en-US" dirty="0"/>
              <a:t> micro frontend </a:t>
            </a:r>
            <a:r>
              <a:rPr lang="en-US" dirty="0" err="1"/>
              <a:t>yapıyor</a:t>
            </a:r>
            <a:r>
              <a:rPr lang="en-US" dirty="0"/>
              <a:t>. Bu da </a:t>
            </a:r>
            <a:r>
              <a:rPr lang="en-US" dirty="0" err="1"/>
              <a:t>yönetilmesi</a:t>
            </a:r>
            <a:r>
              <a:rPr lang="en-US" dirty="0"/>
              <a:t> çok </a:t>
            </a:r>
            <a:r>
              <a:rPr lang="en-US" dirty="0" err="1"/>
              <a:t>zor</a:t>
            </a:r>
            <a:r>
              <a:rPr lang="en-US" dirty="0"/>
              <a:t> </a:t>
            </a:r>
            <a:r>
              <a:rPr lang="en-US" dirty="0" err="1"/>
              <a:t>bir</a:t>
            </a:r>
            <a:r>
              <a:rPr lang="en-US" dirty="0"/>
              <a:t> </a:t>
            </a:r>
            <a:r>
              <a:rPr lang="en-US" dirty="0" err="1"/>
              <a:t>sistem</a:t>
            </a:r>
            <a:r>
              <a:rPr lang="en-US" dirty="0"/>
              <a:t> </a:t>
            </a:r>
            <a:r>
              <a:rPr lang="en-US" dirty="0" err="1"/>
              <a:t>oluşturuyor</a:t>
            </a:r>
            <a:r>
              <a:rPr lang="en-US" dirty="0"/>
              <a:t>.</a:t>
            </a:r>
          </a:p>
          <a:p>
            <a:r>
              <a:rPr lang="en-US" b="1" dirty="0"/>
              <a:t>Bunu nasıl </a:t>
            </a:r>
            <a:r>
              <a:rPr lang="en-US" b="1" dirty="0" err="1"/>
              <a:t>önlersiniz</a:t>
            </a:r>
            <a:r>
              <a:rPr lang="en-US" b="1" dirty="0"/>
              <a:t>?</a:t>
            </a:r>
            <a:endParaRPr lang="en-US" dirty="0"/>
          </a:p>
          <a:p>
            <a:r>
              <a:rPr lang="en-US" i="1" dirty="0"/>
              <a:t>"By choosing the right granularity..."</a:t>
            </a:r>
            <a:endParaRPr lang="en-US" dirty="0"/>
          </a:p>
          <a:p>
            <a:r>
              <a:rPr lang="en-US" dirty="0"/>
              <a:t>Yani doğru </a:t>
            </a:r>
            <a:r>
              <a:rPr lang="en-US" dirty="0" err="1"/>
              <a:t>büyüklüğü</a:t>
            </a:r>
            <a:r>
              <a:rPr lang="en-US" dirty="0"/>
              <a:t> </a:t>
            </a:r>
            <a:r>
              <a:rPr lang="en-US" dirty="0" err="1"/>
              <a:t>seçin</a:t>
            </a:r>
            <a:r>
              <a:rPr lang="en-US" dirty="0"/>
              <a:t>.</a:t>
            </a:r>
            <a:br>
              <a:rPr lang="en-US" dirty="0"/>
            </a:br>
            <a:r>
              <a:rPr lang="en-US" dirty="0" err="1"/>
              <a:t>Örneğin</a:t>
            </a:r>
            <a:r>
              <a:rPr lang="en-US" dirty="0"/>
              <a:t>:</a:t>
            </a:r>
          </a:p>
          <a:p>
            <a:r>
              <a:rPr lang="en-US" dirty="0"/>
              <a:t>✅ </a:t>
            </a:r>
            <a:r>
              <a:rPr lang="en-US" dirty="0" err="1"/>
              <a:t>Sipariş</a:t>
            </a:r>
            <a:r>
              <a:rPr lang="en-US" dirty="0"/>
              <a:t> Yönetimi </a:t>
            </a:r>
          </a:p>
          <a:p>
            <a:r>
              <a:rPr lang="en-US" dirty="0"/>
              <a:t>✅ </a:t>
            </a:r>
            <a:r>
              <a:rPr lang="en-US" dirty="0" err="1"/>
              <a:t>Kullanıcı</a:t>
            </a:r>
            <a:r>
              <a:rPr lang="en-US" dirty="0"/>
              <a:t> Yönetimi </a:t>
            </a:r>
          </a:p>
          <a:p>
            <a:r>
              <a:rPr lang="en-US" dirty="0"/>
              <a:t>❌ Header </a:t>
            </a:r>
          </a:p>
          <a:p>
            <a:r>
              <a:rPr lang="en-US" dirty="0"/>
              <a:t>❌ Footer </a:t>
            </a:r>
          </a:p>
          <a:p>
            <a:r>
              <a:rPr lang="en-US" dirty="0"/>
              <a:t>❌ Login Button</a:t>
            </a:r>
          </a:p>
          <a:p>
            <a:endParaRPr lang="en-US" dirty="0"/>
          </a:p>
          <a:p>
            <a:r>
              <a:rPr lang="en-US" b="1" dirty="0"/>
              <a:t>3. "Avoid Anarchy"</a:t>
            </a:r>
          </a:p>
          <a:p>
            <a:r>
              <a:rPr lang="en-US" b="1" dirty="0" err="1"/>
              <a:t>Kontrolsüz</a:t>
            </a:r>
            <a:r>
              <a:rPr lang="en-US" b="1" dirty="0"/>
              <a:t> </a:t>
            </a:r>
            <a:r>
              <a:rPr lang="en-US" b="1" dirty="0" err="1"/>
              <a:t>bir</a:t>
            </a:r>
            <a:r>
              <a:rPr lang="en-US" b="1" dirty="0"/>
              <a:t> </a:t>
            </a:r>
            <a:r>
              <a:rPr lang="en-US" b="1" dirty="0" err="1"/>
              <a:t>yapı</a:t>
            </a:r>
            <a:r>
              <a:rPr lang="en-US" b="1" dirty="0"/>
              <a:t> </a:t>
            </a:r>
            <a:r>
              <a:rPr lang="en-US" b="1" dirty="0" err="1"/>
              <a:t>oluşturmayın</a:t>
            </a:r>
            <a:r>
              <a:rPr lang="en-US" b="1" dirty="0"/>
              <a:t>.</a:t>
            </a:r>
            <a:endParaRPr lang="en-US" dirty="0"/>
          </a:p>
          <a:p>
            <a:r>
              <a:rPr lang="en-US" dirty="0"/>
              <a:t>Her </a:t>
            </a:r>
            <a:r>
              <a:rPr lang="en-US" dirty="0" err="1"/>
              <a:t>ekip</a:t>
            </a:r>
            <a:r>
              <a:rPr lang="en-US" dirty="0"/>
              <a:t> </a:t>
            </a:r>
            <a:r>
              <a:rPr lang="en-US" dirty="0" err="1"/>
              <a:t>istediği</a:t>
            </a:r>
            <a:r>
              <a:rPr lang="en-US" dirty="0"/>
              <a:t> </a:t>
            </a:r>
            <a:r>
              <a:rPr lang="en-US" dirty="0" err="1"/>
              <a:t>framework'ü</a:t>
            </a:r>
            <a:r>
              <a:rPr lang="en-US" dirty="0"/>
              <a:t>, </a:t>
            </a:r>
            <a:r>
              <a:rPr lang="en-US" dirty="0" err="1"/>
              <a:t>istediği</a:t>
            </a:r>
            <a:r>
              <a:rPr lang="en-US" dirty="0"/>
              <a:t> </a:t>
            </a:r>
            <a:r>
              <a:rPr lang="en-US" dirty="0" err="1"/>
              <a:t>standartları</a:t>
            </a:r>
            <a:r>
              <a:rPr lang="en-US" dirty="0"/>
              <a:t> </a:t>
            </a:r>
            <a:r>
              <a:rPr lang="en-US" dirty="0" err="1"/>
              <a:t>kullanırsa</a:t>
            </a:r>
            <a:r>
              <a:rPr lang="en-US" dirty="0"/>
              <a:t> </a:t>
            </a:r>
            <a:r>
              <a:rPr lang="en-US" dirty="0" err="1"/>
              <a:t>zamanla</a:t>
            </a:r>
            <a:r>
              <a:rPr lang="en-US" dirty="0"/>
              <a:t> </a:t>
            </a:r>
            <a:r>
              <a:rPr lang="en-US" dirty="0" err="1"/>
              <a:t>sistem</a:t>
            </a:r>
            <a:r>
              <a:rPr lang="en-US" dirty="0"/>
              <a:t> </a:t>
            </a:r>
            <a:r>
              <a:rPr lang="en-US" dirty="0" err="1"/>
              <a:t>yönetilemez</a:t>
            </a:r>
            <a:r>
              <a:rPr lang="en-US" dirty="0"/>
              <a:t> hale gelir.</a:t>
            </a:r>
          </a:p>
          <a:p>
            <a:r>
              <a:rPr lang="en-US" b="1" dirty="0"/>
              <a:t>Bunu nasıl </a:t>
            </a:r>
            <a:r>
              <a:rPr lang="en-US" b="1" dirty="0" err="1"/>
              <a:t>önlersiniz</a:t>
            </a:r>
            <a:r>
              <a:rPr lang="en-US" b="1" dirty="0"/>
              <a:t>?</a:t>
            </a:r>
            <a:endParaRPr lang="en-US" dirty="0"/>
          </a:p>
          <a:p>
            <a:r>
              <a:rPr lang="en-US" i="1" dirty="0"/>
              <a:t>"By providing automation, standardization and governance..."</a:t>
            </a:r>
            <a:endParaRPr lang="en-US" dirty="0"/>
          </a:p>
          <a:p>
            <a:r>
              <a:rPr lang="en-US" dirty="0"/>
              <a:t>Yani:</a:t>
            </a:r>
          </a:p>
          <a:p>
            <a:pPr marL="171450" indent="-171450">
              <a:buFont typeface="Arial" panose="020B0604020202020204" pitchFamily="34" charset="0"/>
              <a:buChar char="•"/>
            </a:pPr>
            <a:r>
              <a:rPr lang="en-US" dirty="0" err="1"/>
              <a:t>Ortak</a:t>
            </a:r>
            <a:r>
              <a:rPr lang="en-US" dirty="0"/>
              <a:t> </a:t>
            </a:r>
            <a:r>
              <a:rPr lang="en-US" dirty="0" err="1"/>
              <a:t>standartlar</a:t>
            </a:r>
            <a:r>
              <a:rPr lang="en-US" dirty="0"/>
              <a:t> </a:t>
            </a:r>
            <a:r>
              <a:rPr lang="en-US" dirty="0" err="1"/>
              <a:t>belirleyin</a:t>
            </a:r>
            <a:r>
              <a:rPr lang="en-US" dirty="0"/>
              <a:t>. </a:t>
            </a:r>
          </a:p>
          <a:p>
            <a:pPr marL="171450" indent="-171450">
              <a:buFont typeface="Arial" panose="020B0604020202020204" pitchFamily="34" charset="0"/>
              <a:buChar char="•"/>
            </a:pPr>
            <a:r>
              <a:rPr lang="en-US" dirty="0" err="1"/>
              <a:t>Ortak</a:t>
            </a:r>
            <a:r>
              <a:rPr lang="en-US" dirty="0"/>
              <a:t> CI/CD </a:t>
            </a:r>
            <a:r>
              <a:rPr lang="en-US" dirty="0" err="1"/>
              <a:t>süreçleri</a:t>
            </a:r>
            <a:r>
              <a:rPr lang="en-US" dirty="0"/>
              <a:t> </a:t>
            </a:r>
            <a:r>
              <a:rPr lang="en-US" dirty="0" err="1"/>
              <a:t>kullanın</a:t>
            </a:r>
            <a:r>
              <a:rPr lang="en-US" dirty="0"/>
              <a:t>. </a:t>
            </a:r>
          </a:p>
          <a:p>
            <a:pPr marL="171450" indent="-171450">
              <a:buFont typeface="Arial" panose="020B0604020202020204" pitchFamily="34" charset="0"/>
              <a:buChar char="•"/>
            </a:pPr>
            <a:r>
              <a:rPr lang="en-US" dirty="0" err="1"/>
              <a:t>Ortak</a:t>
            </a:r>
            <a:r>
              <a:rPr lang="en-US" dirty="0"/>
              <a:t> </a:t>
            </a:r>
            <a:r>
              <a:rPr lang="en-US" dirty="0" err="1"/>
              <a:t>tasarım</a:t>
            </a:r>
            <a:r>
              <a:rPr lang="en-US" dirty="0"/>
              <a:t> </a:t>
            </a:r>
            <a:r>
              <a:rPr lang="en-US" dirty="0" err="1"/>
              <a:t>sistemi</a:t>
            </a:r>
            <a:r>
              <a:rPr lang="en-US" dirty="0"/>
              <a:t> </a:t>
            </a:r>
            <a:r>
              <a:rPr lang="en-US" dirty="0" err="1"/>
              <a:t>oluşturun</a:t>
            </a:r>
            <a:r>
              <a:rPr lang="en-US" dirty="0"/>
              <a:t>. </a:t>
            </a:r>
          </a:p>
          <a:p>
            <a:pPr marL="171450" indent="-171450">
              <a:buFont typeface="Arial" panose="020B0604020202020204" pitchFamily="34" charset="0"/>
              <a:buChar char="•"/>
            </a:pPr>
            <a:r>
              <a:rPr lang="en-US" dirty="0" err="1"/>
              <a:t>Kod</a:t>
            </a:r>
            <a:r>
              <a:rPr lang="en-US" dirty="0"/>
              <a:t> </a:t>
            </a:r>
            <a:r>
              <a:rPr lang="en-US" dirty="0" err="1"/>
              <a:t>kalite</a:t>
            </a:r>
            <a:r>
              <a:rPr lang="en-US" dirty="0"/>
              <a:t> </a:t>
            </a:r>
            <a:r>
              <a:rPr lang="en-US" dirty="0" err="1"/>
              <a:t>kuralları</a:t>
            </a:r>
            <a:r>
              <a:rPr lang="en-US" dirty="0"/>
              <a:t> </a:t>
            </a:r>
            <a:r>
              <a:rPr lang="en-US" dirty="0" err="1"/>
              <a:t>belirleyin</a:t>
            </a:r>
            <a:r>
              <a:rPr lang="en-US" dirty="0"/>
              <a:t>. </a:t>
            </a:r>
          </a:p>
          <a:p>
            <a:pPr marL="171450" indent="-171450">
              <a:buFont typeface="Arial" panose="020B0604020202020204" pitchFamily="34" charset="0"/>
              <a:buChar char="•"/>
            </a:pPr>
            <a:r>
              <a:rPr lang="en-US" dirty="0" err="1"/>
              <a:t>Gerekli</a:t>
            </a:r>
            <a:r>
              <a:rPr lang="en-US" dirty="0"/>
              <a:t> </a:t>
            </a:r>
            <a:r>
              <a:rPr lang="en-US" dirty="0" err="1"/>
              <a:t>yönetişim</a:t>
            </a:r>
            <a:r>
              <a:rPr lang="en-US" dirty="0"/>
              <a:t> (governance) </a:t>
            </a:r>
            <a:r>
              <a:rPr lang="en-US" dirty="0" err="1"/>
              <a:t>mekanizmalarını</a:t>
            </a:r>
            <a:r>
              <a:rPr lang="en-US" dirty="0"/>
              <a:t> </a:t>
            </a:r>
            <a:r>
              <a:rPr lang="en-US" dirty="0" err="1"/>
              <a:t>kurun</a:t>
            </a:r>
            <a:r>
              <a:rPr lang="en-US" dirty="0"/>
              <a:t>.</a:t>
            </a:r>
          </a:p>
          <a:p>
            <a:endParaRPr lang="tr-TR" dirty="0"/>
          </a:p>
        </p:txBody>
      </p:sp>
    </p:spTree>
    <p:extLst>
      <p:ext uri="{BB962C8B-B14F-4D97-AF65-F5344CB8AC3E}">
        <p14:creationId xmlns:p14="http://schemas.microsoft.com/office/powerpoint/2010/main" val="1082212840"/>
      </p:ext>
    </p:extLst>
  </p:cSld>
  <p:clrMapOvr>
    <a:overrideClrMapping bg1="lt1" tx1="dk1" bg2="lt2" tx2="dk2" accent1="accent1" accent2="accent2" accent3="accent3" accent4="accent4" accent5="accent5" accent6="accent6" hlink="hlink" folHlink="folHlink"/>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endParaRPr lang="tr-TR" dirty="0"/>
          </a:p>
        </p:txBody>
      </p:sp>
    </p:spTree>
  </p:cSld>
  <p:clrMapOvr>
    <a:overrideClrMapping bg1="lt1" tx1="dk1" bg2="lt2" tx2="dk2" accent1="accent1" accent2="accent2" accent3="accent3" accent4="accent4" accent5="accent5" accent6="accent6" hlink="hlink" folHlink="folHlink"/>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tr-TR" dirty="0"/>
              <a:t>Bir başka ilgi çekici oturum, organizasyonlardaki güç kavramını ele aldı ve 'Power-With' fikrine değindi. Bu fikri sevdim çünkü konuşmayı kontrolden uzaklaştırıp iş birliğine yöneltiyor.</a:t>
            </a:r>
          </a:p>
          <a:p>
            <a:r>
              <a:rPr lang="tr-TR" dirty="0"/>
              <a:t>İki tür güç var: Power-Over, yani başkalarının zihnini ele geçirerek kontrol, zorlama ve emirle iş çıkarmak. Power-With ise herkesin gücünü birleştirip birlikte hareket ederek üretmek.</a:t>
            </a:r>
          </a:p>
          <a:p>
            <a:r>
              <a:rPr lang="tr-TR" dirty="0"/>
              <a:t>Bu konu bir veritabanı ya da framework kadar teknik gelmeyebilir; ama pratikte birçok teknik karar organizasyonel dinamikler yüzünden başarılı ya da başarısız oluyor.</a:t>
            </a:r>
          </a:p>
          <a:p>
            <a:r>
              <a:rPr lang="tr-TR" dirty="0"/>
              <a:t>Temiz bir mimari bile ekipler hizalı değilse çökebilir; aynı şekilde umut vaat eden bir AI özelliği de kimse çıktısına güvenmiyorsa başarısız olur.</a:t>
            </a:r>
          </a:p>
        </p:txBody>
      </p:sp>
    </p:spTree>
  </p:cSld>
  <p:clrMapOvr>
    <a:overrideClrMapping bg1="lt1" tx1="dk1" bg2="lt2" tx2="dk2" accent1="accent1" accent2="accent2" accent3="accent3" accent4="accent4" accent5="accent5" accent6="accent6" hlink="hlink" folHlink="folHlink"/>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tr-TR" dirty="0"/>
              <a:t>Bu içerikler de Andrea Magnorsky'nin oturumundan. Soldaki slayt gücün üç kaynağını gösteriyor: otorite, karizma ve bilgiye erişim. Yani bir organizasyonda etki sadece unvandan değil; karizmadan ve doğru bilgiye ulaşabilmekten de geliyor.</a:t>
            </a:r>
          </a:p>
          <a:p>
            <a:r>
              <a:rPr lang="tr-TR" dirty="0"/>
              <a:t>Sağdaki şema ise kararların nasıl alındığını anlatıyor: bir şeyi 'bilmek' ile onu 'değiştirebilmek' bir araya geldiğinde karar verme gücü ortaya çıkıyor.</a:t>
            </a:r>
          </a:p>
          <a:p>
            <a:r>
              <a:rPr lang="tr-TR" dirty="0"/>
              <a:t>Karar verme tek bir an değil, bir süreç: önce bir karar gerekiyor, sonra seçenekler üretiliyor, karar alınıyor, paylaşılıyor ve nihayet uygulanıyor.</a:t>
            </a:r>
          </a:p>
          <a:p>
            <a:r>
              <a:rPr lang="tr-TR" dirty="0"/>
              <a:t>Bu da bize şunu hatırlatıyor: teknik kararların başarısı, bilgi ve etkinin organizasyon içinde nasıl aktığına bağlı.</a:t>
            </a:r>
          </a:p>
        </p:txBody>
      </p:sp>
    </p:spTree>
  </p:cSld>
  <p:clrMapOvr>
    <a:overrideClrMapping bg1="lt1" tx1="dk1" bg2="lt2" tx2="dk2" accent1="accent1" accent2="accent2" accent3="accent3" accent4="accent4" accent5="accent5" accent6="accent6" hlink="hlink" folHlink="folHlink"/>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tr-TR" dirty="0"/>
              <a:t>Bu oturum dizisinde işyerinde karizma ve bilgi üzerine ilginç fikirler vardı. Bana göre karizma; deneyim, bilgelik, zarafet, çok dinleyip az konuşmak, güvenilirlik ve başkalarına rol model olup ilham vermektir. Neden önemli? Çünkü sözlerinizin, kimseye dikte etmeye gerek kalmadan doğal olarak dinlenmesini sağlar.</a:t>
            </a:r>
          </a:p>
          <a:p>
            <a:r>
              <a:rPr lang="tr-TR" dirty="0"/>
              <a:t>Bir slayt, bilgi işçilerinin 'geçimini düşünerek kazandığını' söylüyordu. Bir diğeri Peter Naur'un 'Programming as Theory Building' fikrine değindi: program metni ve dokümantasyon, en önemli tasarım fikirlerini her zaman taşıyamaz. Bu, AI'ın kod ürettiği çağda çok anlamlı.</a:t>
            </a:r>
          </a:p>
          <a:p>
            <a:r>
              <a:rPr lang="tr-TR" dirty="0"/>
              <a:t>Sağdaki DIKW piramidi de bunu güzel özetliyor: veriden bilgiye, bilgiden bilgeliğe çıkıyoruz. Veri sadece olgudur; bağlam eklenince bilgi, deneyim eklenince knowledge, zamanla uygulanınca bilgelik olur. AI veri ve bilgi katmanında çok güçlü; ama bilgelik hâlâ insanın işi.</a:t>
            </a:r>
          </a:p>
          <a:p>
            <a:r>
              <a:rPr lang="tr-TR" dirty="0"/>
              <a:t>Özetle: AI mimariyi koddan çıkarabilir; ama o mimarinin neden öyle olduğunu — tasarım kararlarını, ödünleşimleri, tarihsel bağlamı ve ekibin kafasındaki varsayımları — genelde güvenilir biçimde bilemez.</a:t>
            </a:r>
          </a:p>
        </p:txBody>
      </p:sp>
    </p:spTree>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F5C81-82E6-C8D5-62F7-2496106127B2}"/>
            </a:ext>
          </a:extLst>
        </p:cNvPr>
        <p:cNvGrpSpPr/>
        <p:nvPr/>
      </p:nvGrpSpPr>
      <p:grpSpPr>
        <a:xfrm>
          <a:off x="0" y="0"/>
          <a:ext cx="0" cy="0"/>
          <a:chOff x="0" y="0"/>
          <a:chExt cx="0" cy="0"/>
        </a:xfrm>
      </p:grpSpPr>
      <p:sp>
        <p:nvSpPr>
          <p:cNvPr id="2" name="Notes Placeholder 1">
            <a:extLst>
              <a:ext uri="{FF2B5EF4-FFF2-40B4-BE49-F238E27FC236}">
                <a16:creationId xmlns:a16="http://schemas.microsoft.com/office/drawing/2014/main" id="{B3E066C4-662E-F3BF-8DB1-BDA47CCE0DE3}"/>
              </a:ext>
            </a:extLst>
          </p:cNvPr>
          <p:cNvSpPr>
            <a:spLocks noGrp="1"/>
          </p:cNvSpPr>
          <p:nvPr>
            <p:ph type="body" idx="1"/>
          </p:nvPr>
        </p:nvSpPr>
        <p:spPr/>
        <p:txBody>
          <a:bodyPr/>
          <a:lstStyle/>
          <a:p>
            <a:r>
              <a:rPr lang="en-US" dirty="0" err="1"/>
              <a:t>Fabrika</a:t>
            </a:r>
            <a:r>
              <a:rPr lang="en-US" dirty="0"/>
              <a:t> </a:t>
            </a:r>
            <a:r>
              <a:rPr lang="en-US" dirty="0" err="1"/>
              <a:t>işçisinin</a:t>
            </a:r>
            <a:r>
              <a:rPr lang="en-US" dirty="0"/>
              <a:t> </a:t>
            </a:r>
            <a:r>
              <a:rPr lang="en-US" dirty="0" err="1"/>
              <a:t>sermayesi</a:t>
            </a:r>
            <a:r>
              <a:rPr lang="en-US" dirty="0"/>
              <a:t> </a:t>
            </a:r>
            <a:r>
              <a:rPr lang="en-US" dirty="0" err="1"/>
              <a:t>fiziksel</a:t>
            </a:r>
            <a:r>
              <a:rPr lang="en-US" dirty="0"/>
              <a:t> </a:t>
            </a:r>
            <a:r>
              <a:rPr lang="en-US" dirty="0" err="1"/>
              <a:t>emeğiydi</a:t>
            </a:r>
            <a:r>
              <a:rPr lang="en-US" dirty="0"/>
              <a:t>. </a:t>
            </a:r>
            <a:r>
              <a:rPr lang="en-US" dirty="0" err="1"/>
              <a:t>Çiftçinin</a:t>
            </a:r>
            <a:r>
              <a:rPr lang="en-US" dirty="0"/>
              <a:t> </a:t>
            </a:r>
            <a:r>
              <a:rPr lang="en-US" dirty="0" err="1"/>
              <a:t>sermayesi</a:t>
            </a:r>
            <a:r>
              <a:rPr lang="en-US" dirty="0"/>
              <a:t> </a:t>
            </a:r>
            <a:r>
              <a:rPr lang="en-US" dirty="0" err="1"/>
              <a:t>toprağıydı</a:t>
            </a:r>
            <a:r>
              <a:rPr lang="en-US" dirty="0"/>
              <a:t>. </a:t>
            </a:r>
            <a:r>
              <a:rPr lang="en-US" dirty="0" err="1"/>
              <a:t>Şirketlerin</a:t>
            </a:r>
            <a:r>
              <a:rPr lang="en-US" dirty="0"/>
              <a:t> </a:t>
            </a:r>
            <a:r>
              <a:rPr lang="en-US" dirty="0" err="1"/>
              <a:t>sermayesi</a:t>
            </a:r>
            <a:r>
              <a:rPr lang="en-US" dirty="0"/>
              <a:t> </a:t>
            </a:r>
            <a:r>
              <a:rPr lang="en-US" dirty="0" err="1"/>
              <a:t>makineleriydi</a:t>
            </a:r>
            <a:r>
              <a:rPr lang="en-US" dirty="0"/>
              <a:t>.</a:t>
            </a:r>
          </a:p>
          <a:p>
            <a:r>
              <a:rPr lang="en-US" b="1" dirty="0"/>
              <a:t>Think for a living"</a:t>
            </a:r>
          </a:p>
          <a:p>
            <a:r>
              <a:rPr lang="en-US" dirty="0" err="1"/>
              <a:t>Anlamı</a:t>
            </a:r>
            <a:r>
              <a:rPr lang="en-US" dirty="0"/>
              <a:t>:</a:t>
            </a:r>
          </a:p>
          <a:p>
            <a:r>
              <a:rPr lang="en-US" dirty="0" err="1"/>
              <a:t>Düşünerek</a:t>
            </a:r>
            <a:r>
              <a:rPr lang="en-US" dirty="0"/>
              <a:t> para </a:t>
            </a:r>
            <a:r>
              <a:rPr lang="en-US" dirty="0" err="1"/>
              <a:t>kazanmak</a:t>
            </a:r>
            <a:r>
              <a:rPr lang="en-US" dirty="0"/>
              <a:t>. </a:t>
            </a:r>
          </a:p>
          <a:p>
            <a:r>
              <a:rPr lang="en-US" dirty="0"/>
              <a:t>Problem </a:t>
            </a:r>
            <a:r>
              <a:rPr lang="en-US" dirty="0" err="1"/>
              <a:t>çözerek</a:t>
            </a:r>
            <a:r>
              <a:rPr lang="en-US" dirty="0"/>
              <a:t> </a:t>
            </a:r>
            <a:r>
              <a:rPr lang="en-US" dirty="0" err="1"/>
              <a:t>değer</a:t>
            </a:r>
            <a:r>
              <a:rPr lang="en-US" dirty="0"/>
              <a:t> </a:t>
            </a:r>
            <a:r>
              <a:rPr lang="en-US" dirty="0" err="1"/>
              <a:t>üretmek</a:t>
            </a:r>
            <a:r>
              <a:rPr lang="en-US" dirty="0"/>
              <a:t>. </a:t>
            </a:r>
          </a:p>
          <a:p>
            <a:r>
              <a:rPr lang="en-US" dirty="0" err="1"/>
              <a:t>Bilgiyi</a:t>
            </a:r>
            <a:r>
              <a:rPr lang="en-US" dirty="0"/>
              <a:t> </a:t>
            </a:r>
            <a:r>
              <a:rPr lang="en-US" dirty="0" err="1"/>
              <a:t>kullanarak</a:t>
            </a:r>
            <a:r>
              <a:rPr lang="en-US" dirty="0"/>
              <a:t> </a:t>
            </a:r>
            <a:r>
              <a:rPr lang="en-US" dirty="0" err="1"/>
              <a:t>çalışmak</a:t>
            </a:r>
            <a:r>
              <a:rPr lang="en-US" dirty="0"/>
              <a:t>. </a:t>
            </a:r>
          </a:p>
          <a:p>
            <a:endParaRPr lang="en-US" dirty="0"/>
          </a:p>
          <a:p>
            <a:r>
              <a:rPr lang="en-US" b="1" dirty="0"/>
              <a:t>Bir </a:t>
            </a:r>
            <a:r>
              <a:rPr lang="en-US" b="1" dirty="0" err="1"/>
              <a:t>yazılımcının</a:t>
            </a:r>
            <a:r>
              <a:rPr lang="en-US" b="1" dirty="0"/>
              <a:t> </a:t>
            </a:r>
            <a:r>
              <a:rPr lang="en-US" b="1" dirty="0" err="1"/>
              <a:t>ürettiği</a:t>
            </a:r>
            <a:r>
              <a:rPr lang="en-US" b="1" dirty="0"/>
              <a:t> </a:t>
            </a:r>
            <a:r>
              <a:rPr lang="en-US" b="1" dirty="0" err="1"/>
              <a:t>değer</a:t>
            </a:r>
            <a:r>
              <a:rPr lang="en-US" b="1" dirty="0"/>
              <a:t>:</a:t>
            </a:r>
          </a:p>
          <a:p>
            <a:r>
              <a:rPr lang="en-US" dirty="0" err="1"/>
              <a:t>Kod</a:t>
            </a:r>
            <a:r>
              <a:rPr lang="en-US" dirty="0"/>
              <a:t> </a:t>
            </a:r>
            <a:r>
              <a:rPr lang="en-US" dirty="0" err="1"/>
              <a:t>yazması</a:t>
            </a:r>
            <a:r>
              <a:rPr lang="en-US" dirty="0"/>
              <a:t> değil, </a:t>
            </a:r>
          </a:p>
          <a:p>
            <a:r>
              <a:rPr lang="en-US" dirty="0"/>
              <a:t>Doğru </a:t>
            </a:r>
            <a:r>
              <a:rPr lang="en-US" dirty="0" err="1"/>
              <a:t>mimariyi</a:t>
            </a:r>
            <a:r>
              <a:rPr lang="en-US" dirty="0"/>
              <a:t> </a:t>
            </a:r>
            <a:r>
              <a:rPr lang="en-US" dirty="0" err="1"/>
              <a:t>seçmesi</a:t>
            </a:r>
            <a:r>
              <a:rPr lang="en-US" dirty="0"/>
              <a:t>, </a:t>
            </a:r>
          </a:p>
          <a:p>
            <a:r>
              <a:rPr lang="en-US" dirty="0" err="1"/>
              <a:t>Karmaşık</a:t>
            </a:r>
            <a:r>
              <a:rPr lang="en-US" dirty="0"/>
              <a:t> </a:t>
            </a:r>
            <a:r>
              <a:rPr lang="en-US" dirty="0" err="1"/>
              <a:t>problemleri</a:t>
            </a:r>
            <a:r>
              <a:rPr lang="en-US" dirty="0"/>
              <a:t> </a:t>
            </a:r>
            <a:r>
              <a:rPr lang="en-US" dirty="0" err="1"/>
              <a:t>çözmesi</a:t>
            </a:r>
            <a:r>
              <a:rPr lang="en-US" dirty="0"/>
              <a:t>, </a:t>
            </a:r>
          </a:p>
          <a:p>
            <a:r>
              <a:rPr lang="en-US" dirty="0" err="1"/>
              <a:t>Bilgisini</a:t>
            </a:r>
            <a:r>
              <a:rPr lang="en-US" dirty="0"/>
              <a:t> </a:t>
            </a:r>
            <a:r>
              <a:rPr lang="en-US" dirty="0" err="1"/>
              <a:t>ürüne</a:t>
            </a:r>
            <a:r>
              <a:rPr lang="en-US" dirty="0"/>
              <a:t> </a:t>
            </a:r>
            <a:r>
              <a:rPr lang="en-US" dirty="0" err="1"/>
              <a:t>dönüştürmesidir</a:t>
            </a:r>
            <a:r>
              <a:rPr lang="en-US" dirty="0"/>
              <a:t>.</a:t>
            </a:r>
          </a:p>
          <a:p>
            <a:endParaRPr lang="en-US" b="1" dirty="0"/>
          </a:p>
          <a:p>
            <a:r>
              <a:rPr lang="en-US" b="1" dirty="0"/>
              <a:t>Bu </a:t>
            </a:r>
            <a:r>
              <a:rPr lang="en-US" b="1" dirty="0" err="1"/>
              <a:t>yüzden</a:t>
            </a:r>
            <a:r>
              <a:rPr lang="en-US" b="1" dirty="0"/>
              <a:t> </a:t>
            </a:r>
            <a:r>
              <a:rPr lang="en-US" b="1" dirty="0" err="1"/>
              <a:t>bilgi</a:t>
            </a:r>
            <a:r>
              <a:rPr lang="en-US" b="1" dirty="0"/>
              <a:t> </a:t>
            </a:r>
            <a:r>
              <a:rPr lang="en-US" b="1" dirty="0" err="1"/>
              <a:t>çalışanlarının</a:t>
            </a:r>
            <a:r>
              <a:rPr lang="en-US" b="1" dirty="0"/>
              <a:t> </a:t>
            </a:r>
            <a:r>
              <a:rPr lang="en-US" b="1" dirty="0" err="1"/>
              <a:t>verimliliği</a:t>
            </a:r>
            <a:r>
              <a:rPr lang="en-US" b="1" dirty="0"/>
              <a:t>, sadece daha fazla </a:t>
            </a:r>
            <a:r>
              <a:rPr lang="en-US" b="1" dirty="0" err="1"/>
              <a:t>saat</a:t>
            </a:r>
            <a:r>
              <a:rPr lang="en-US" b="1" dirty="0"/>
              <a:t> </a:t>
            </a:r>
            <a:r>
              <a:rPr lang="en-US" b="1" dirty="0" err="1"/>
              <a:t>çalışmalarıyla</a:t>
            </a:r>
            <a:r>
              <a:rPr lang="en-US" b="1" dirty="0"/>
              <a:t> değil; doğru </a:t>
            </a:r>
            <a:r>
              <a:rPr lang="en-US" b="1" dirty="0" err="1"/>
              <a:t>araçlar</a:t>
            </a:r>
            <a:r>
              <a:rPr lang="en-US" b="1" dirty="0"/>
              <a:t>, iyi </a:t>
            </a:r>
            <a:r>
              <a:rPr lang="en-US" b="1" dirty="0" err="1"/>
              <a:t>süreçler</a:t>
            </a:r>
            <a:r>
              <a:rPr lang="en-US" b="1" dirty="0"/>
              <a:t> ve </a:t>
            </a:r>
            <a:r>
              <a:rPr lang="en-US" b="1" dirty="0" err="1"/>
              <a:t>sürekli</a:t>
            </a:r>
            <a:r>
              <a:rPr lang="en-US" b="1" dirty="0"/>
              <a:t> </a:t>
            </a:r>
            <a:r>
              <a:rPr lang="en-US" b="1" dirty="0" err="1"/>
              <a:t>öğrenme</a:t>
            </a:r>
            <a:r>
              <a:rPr lang="en-US" b="1" dirty="0"/>
              <a:t> </a:t>
            </a:r>
            <a:r>
              <a:rPr lang="en-US" b="1" dirty="0" err="1"/>
              <a:t>ile</a:t>
            </a:r>
            <a:r>
              <a:rPr lang="en-US" b="1" dirty="0"/>
              <a:t> </a:t>
            </a:r>
            <a:r>
              <a:rPr lang="en-US" b="1" dirty="0" err="1"/>
              <a:t>artar</a:t>
            </a:r>
            <a:r>
              <a:rPr lang="en-US" b="1" dirty="0"/>
              <a:t>.</a:t>
            </a:r>
            <a:endParaRPr lang="tr-TR" b="1" dirty="0"/>
          </a:p>
        </p:txBody>
      </p:sp>
    </p:spTree>
    <p:extLst>
      <p:ext uri="{BB962C8B-B14F-4D97-AF65-F5344CB8AC3E}">
        <p14:creationId xmlns:p14="http://schemas.microsoft.com/office/powerpoint/2010/main" val="2699164873"/>
      </p:ext>
    </p:extLst>
  </p:cSld>
  <p:clrMapOvr>
    <a:overrideClrMapping bg1="lt1" tx1="dk1" bg2="lt2" tx2="dk2" accent1="accent1" accent2="accent2" accent3="accent3" accent4="accent4" accent5="accent5" accent6="accent6" hlink="hlink" folHlink="folHlink"/>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tr-TR" dirty="0"/>
              <a:t>Mimari kararlar üzerine güzel bir fikir de 'Architecture Advice Process'ti; Andrew Harmel-Law'ın 'Facilitating Software Architecture' kitabından geliyor.</a:t>
            </a:r>
            <a:endParaRPr lang="en-US" dirty="0"/>
          </a:p>
          <a:p>
            <a:endParaRPr lang="tr-TR" dirty="0"/>
          </a:p>
          <a:p>
            <a:r>
              <a:rPr lang="tr-TR" dirty="0"/>
              <a:t>Temel kural şu: bir organizasyonda herkes bir mimari kararı verebilir — yani karar yetkisi tek bir kişiye ya da komiteye kilitli değil. Ama karar veren kişi, vermeden önce iki şeyi mutlaka yapmak zorunda: birincisi, karardan etkilenen tüm taraflardan tavsiye almak; ikincisi, o konuda gerçekten uzman olan kişilerden görüş almak.</a:t>
            </a:r>
          </a:p>
          <a:p>
            <a:r>
              <a:rPr lang="tr-TR" dirty="0"/>
              <a:t>Bu yaklaşım çok hoşuma gitti çünkü hızı ve uzmanlığı birleştiriyor: kararlar tek bir darboğaza takılmadan hızlı alınıyor, ama tavsiye zorunluluğu sayesinde kalite ve ekip hizalanması korunuyor. </a:t>
            </a:r>
          </a:p>
        </p:txBody>
      </p:sp>
    </p:spTree>
  </p:cSld>
  <p:clrMapOvr>
    <a:overrideClrMapping bg1="lt1" tx1="dk1" bg2="lt2" tx2="dk2" accent1="accent1" accent2="accent2" accent3="accent3" accent4="accent4" accent5="accent5" accent6="accent6" hlink="hlink" folHlink="folHlink"/>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endParaRPr lang="tr-TR" dirty="0"/>
          </a:p>
        </p:txBody>
      </p:sp>
    </p:spTree>
  </p:cSld>
  <p:clrMapOvr>
    <a:overrideClrMapping bg1="lt1" tx1="dk1" bg2="lt2" tx2="dk2" accent1="accent1" accent2="accent2" accent3="accent3" accent4="accent4" accent5="accent5" accent6="accent6" hlink="hlink" folHlink="folHlink"/>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D56FF-83DE-DD94-750F-D4DB587C3D27}"/>
            </a:ext>
          </a:extLst>
        </p:cNvPr>
        <p:cNvGrpSpPr/>
        <p:nvPr/>
      </p:nvGrpSpPr>
      <p:grpSpPr>
        <a:xfrm>
          <a:off x="0" y="0"/>
          <a:ext cx="0" cy="0"/>
          <a:chOff x="0" y="0"/>
          <a:chExt cx="0" cy="0"/>
        </a:xfrm>
      </p:grpSpPr>
      <p:sp>
        <p:nvSpPr>
          <p:cNvPr id="2" name="Notes Placeholder 1">
            <a:extLst>
              <a:ext uri="{FF2B5EF4-FFF2-40B4-BE49-F238E27FC236}">
                <a16:creationId xmlns:a16="http://schemas.microsoft.com/office/drawing/2014/main" id="{F1BF17B1-D955-5B2A-EE33-290CDA534B1B}"/>
              </a:ext>
            </a:extLst>
          </p:cNvPr>
          <p:cNvSpPr>
            <a:spLocks noGrp="1"/>
          </p:cNvSpPr>
          <p:nvPr>
            <p:ph type="body" idx="1"/>
          </p:nvPr>
        </p:nvSpPr>
        <p:spPr/>
        <p:txBody>
          <a:bodyPr/>
          <a:lstStyle/>
          <a:p>
            <a:r>
              <a:rPr lang="tr-TR" dirty="0"/>
              <a:t>Diğer oturumlardan birinde, AI dünyasının ne kadar hızlı evrildiğini gösteren eğlenceli bir görsel vardı.</a:t>
            </a:r>
          </a:p>
          <a:p>
            <a:r>
              <a:rPr lang="tr-TR" dirty="0"/>
              <a:t>Grok, OpenAI, Gemini, Claude... hepsi sırayla 'dünyanın en güçlü modelini' duyuruyor ve bu bir döngü gibi sürekli başa dönüyor. 'Şu an buradayız' diyor ama yarın yine değişecek.</a:t>
            </a:r>
          </a:p>
          <a:p>
            <a:r>
              <a:rPr lang="tr-TR" dirty="0"/>
              <a:t>Bu hype gerçek; ancak benim çıkardığım ders şu: hangi modelin en güçlü olduğu sürekli değişiyor. Dolayısıyla kurumsal değer tek bir modelden değil; o modeli çevreleyen mimariden, veriden ve süreçlerden geliyor. Model gelir geçer, iyi mimari kalır.</a:t>
            </a:r>
          </a:p>
        </p:txBody>
      </p:sp>
    </p:spTree>
    <p:extLst>
      <p:ext uri="{BB962C8B-B14F-4D97-AF65-F5344CB8AC3E}">
        <p14:creationId xmlns:p14="http://schemas.microsoft.com/office/powerpoint/2010/main" val="466643661"/>
      </p:ext>
    </p:extLst>
  </p:cSld>
  <p:clrMapOvr>
    <a:overrideClrMapping bg1="lt1" tx1="dk1" bg2="lt2" tx2="dk2" accent1="accent1" accent2="accent2" accent3="accent3" accent4="accent4" accent5="accent5" accent6="accent6" hlink="hlink" folHlink="folHlink"/>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EB256-18BA-319E-81AA-2204150BD3E8}"/>
            </a:ext>
          </a:extLst>
        </p:cNvPr>
        <p:cNvGrpSpPr/>
        <p:nvPr/>
      </p:nvGrpSpPr>
      <p:grpSpPr>
        <a:xfrm>
          <a:off x="0" y="0"/>
          <a:ext cx="0" cy="0"/>
          <a:chOff x="0" y="0"/>
          <a:chExt cx="0" cy="0"/>
        </a:xfrm>
      </p:grpSpPr>
      <p:sp>
        <p:nvSpPr>
          <p:cNvPr id="2" name="Notes Placeholder 1">
            <a:extLst>
              <a:ext uri="{FF2B5EF4-FFF2-40B4-BE49-F238E27FC236}">
                <a16:creationId xmlns:a16="http://schemas.microsoft.com/office/drawing/2014/main" id="{78675F14-7382-5A15-39FC-9C3A874DD537}"/>
              </a:ext>
            </a:extLst>
          </p:cNvPr>
          <p:cNvSpPr>
            <a:spLocks noGrp="1"/>
          </p:cNvSpPr>
          <p:nvPr>
            <p:ph type="body" idx="1"/>
          </p:nvPr>
        </p:nvSpPr>
        <p:spPr/>
        <p:txBody>
          <a:bodyPr/>
          <a:lstStyle/>
          <a:p>
            <a:r>
              <a:rPr lang="en-US" dirty="0" err="1"/>
              <a:t>AI'ya</a:t>
            </a:r>
            <a:r>
              <a:rPr lang="en-US" dirty="0"/>
              <a:t> </a:t>
            </a:r>
            <a:r>
              <a:rPr lang="en-US" dirty="0" err="1"/>
              <a:t>gereğinden</a:t>
            </a:r>
            <a:r>
              <a:rPr lang="en-US" dirty="0"/>
              <a:t> fazla </a:t>
            </a:r>
            <a:r>
              <a:rPr lang="en-US" dirty="0" err="1"/>
              <a:t>yatırım</a:t>
            </a:r>
            <a:r>
              <a:rPr lang="en-US" dirty="0"/>
              <a:t> </a:t>
            </a:r>
            <a:r>
              <a:rPr lang="en-US" dirty="0" err="1"/>
              <a:t>yapılıyor</a:t>
            </a:r>
            <a:r>
              <a:rPr lang="en-US" dirty="0"/>
              <a:t>. </a:t>
            </a:r>
          </a:p>
          <a:p>
            <a:r>
              <a:rPr lang="en-US" dirty="0"/>
              <a:t>Her </a:t>
            </a:r>
            <a:r>
              <a:rPr lang="en-US" dirty="0" err="1"/>
              <a:t>şirket</a:t>
            </a:r>
            <a:r>
              <a:rPr lang="en-US" dirty="0"/>
              <a:t> AI </a:t>
            </a:r>
            <a:r>
              <a:rPr lang="en-US" dirty="0" err="1"/>
              <a:t>ekliyor</a:t>
            </a:r>
            <a:r>
              <a:rPr lang="en-US" dirty="0"/>
              <a:t>. </a:t>
            </a:r>
          </a:p>
          <a:p>
            <a:r>
              <a:rPr lang="en-US" dirty="0" err="1"/>
              <a:t>Beklentiler</a:t>
            </a:r>
            <a:r>
              <a:rPr lang="en-US" dirty="0"/>
              <a:t> </a:t>
            </a:r>
            <a:r>
              <a:rPr lang="en-US" dirty="0" err="1"/>
              <a:t>aşırı</a:t>
            </a:r>
            <a:r>
              <a:rPr lang="en-US" dirty="0"/>
              <a:t> </a:t>
            </a:r>
            <a:r>
              <a:rPr lang="en-US" dirty="0" err="1"/>
              <a:t>yüksek</a:t>
            </a:r>
            <a:r>
              <a:rPr lang="en-US" dirty="0"/>
              <a:t>. </a:t>
            </a:r>
          </a:p>
          <a:p>
            <a:r>
              <a:rPr lang="en-US" dirty="0"/>
              <a:t>Bir </a:t>
            </a:r>
            <a:r>
              <a:rPr lang="en-US" dirty="0" err="1"/>
              <a:t>noktada</a:t>
            </a:r>
            <a:r>
              <a:rPr lang="en-US" dirty="0"/>
              <a:t> hype </a:t>
            </a:r>
            <a:r>
              <a:rPr lang="en-US" dirty="0" err="1"/>
              <a:t>sönecek</a:t>
            </a:r>
            <a:r>
              <a:rPr lang="en-US" dirty="0"/>
              <a:t>.</a:t>
            </a:r>
          </a:p>
          <a:p>
            <a:endParaRPr lang="en-US" dirty="0"/>
          </a:p>
          <a:p>
            <a:r>
              <a:rPr lang="en-US" dirty="0" err="1"/>
              <a:t>Konuşmacı</a:t>
            </a:r>
            <a:r>
              <a:rPr lang="en-US" dirty="0"/>
              <a:t> diyor ki:</a:t>
            </a:r>
          </a:p>
          <a:p>
            <a:r>
              <a:rPr lang="en-US" dirty="0" err="1"/>
              <a:t>Asıl</a:t>
            </a:r>
            <a:r>
              <a:rPr lang="en-US" dirty="0"/>
              <a:t> problem </a:t>
            </a:r>
            <a:r>
              <a:rPr lang="en-US" dirty="0" err="1"/>
              <a:t>AI'nın</a:t>
            </a:r>
            <a:r>
              <a:rPr lang="en-US" dirty="0"/>
              <a:t> fazla </a:t>
            </a:r>
            <a:r>
              <a:rPr lang="en-US" dirty="0" err="1"/>
              <a:t>abartılması</a:t>
            </a:r>
            <a:r>
              <a:rPr lang="en-US" dirty="0"/>
              <a:t> değil.</a:t>
            </a:r>
          </a:p>
          <a:p>
            <a:r>
              <a:rPr lang="en-US" dirty="0" err="1"/>
              <a:t>Asıl</a:t>
            </a:r>
            <a:r>
              <a:rPr lang="en-US" dirty="0"/>
              <a:t> problem:</a:t>
            </a:r>
          </a:p>
          <a:p>
            <a:r>
              <a:rPr lang="en-US" dirty="0" err="1"/>
              <a:t>İnsanların</a:t>
            </a:r>
            <a:r>
              <a:rPr lang="en-US" dirty="0"/>
              <a:t> </a:t>
            </a:r>
            <a:r>
              <a:rPr lang="en-US" dirty="0" err="1"/>
              <a:t>düşünme</a:t>
            </a:r>
            <a:r>
              <a:rPr lang="en-US" dirty="0"/>
              <a:t> </a:t>
            </a:r>
            <a:r>
              <a:rPr lang="en-US" dirty="0" err="1"/>
              <a:t>becerilerini</a:t>
            </a:r>
            <a:r>
              <a:rPr lang="en-US" dirty="0"/>
              <a:t> </a:t>
            </a:r>
            <a:r>
              <a:rPr lang="en-US" dirty="0" err="1"/>
              <a:t>AI'ya</a:t>
            </a:r>
            <a:r>
              <a:rPr lang="en-US" dirty="0"/>
              <a:t> </a:t>
            </a:r>
            <a:r>
              <a:rPr lang="en-US" dirty="0" err="1"/>
              <a:t>devretmeye</a:t>
            </a:r>
            <a:r>
              <a:rPr lang="en-US" dirty="0"/>
              <a:t> </a:t>
            </a:r>
            <a:r>
              <a:rPr lang="en-US" dirty="0" err="1"/>
              <a:t>başlaması</a:t>
            </a:r>
            <a:r>
              <a:rPr lang="en-US" dirty="0"/>
              <a:t>.</a:t>
            </a:r>
          </a:p>
          <a:p>
            <a:r>
              <a:rPr lang="en-US" dirty="0"/>
              <a:t>Yani AI </a:t>
            </a:r>
            <a:r>
              <a:rPr lang="en-US" dirty="0" err="1"/>
              <a:t>bir</a:t>
            </a:r>
            <a:r>
              <a:rPr lang="en-US" dirty="0"/>
              <a:t> </a:t>
            </a:r>
            <a:r>
              <a:rPr lang="en-US" b="1" dirty="0" err="1"/>
              <a:t>yardımcı</a:t>
            </a:r>
            <a:r>
              <a:rPr lang="en-US" b="1" dirty="0"/>
              <a:t> </a:t>
            </a:r>
            <a:r>
              <a:rPr lang="en-US" b="1" dirty="0" err="1"/>
              <a:t>araç</a:t>
            </a:r>
            <a:r>
              <a:rPr lang="en-US" dirty="0"/>
              <a:t> </a:t>
            </a:r>
            <a:r>
              <a:rPr lang="en-US" dirty="0" err="1"/>
              <a:t>olmaktan</a:t>
            </a:r>
            <a:r>
              <a:rPr lang="en-US" dirty="0"/>
              <a:t> </a:t>
            </a:r>
            <a:r>
              <a:rPr lang="en-US" dirty="0" err="1"/>
              <a:t>çıkıp</a:t>
            </a:r>
            <a:r>
              <a:rPr lang="en-US" dirty="0"/>
              <a:t>,</a:t>
            </a:r>
          </a:p>
          <a:p>
            <a:pPr marL="171450" indent="-171450">
              <a:buFont typeface="Arial" panose="020B0604020202020204" pitchFamily="34" charset="0"/>
              <a:buChar char="•"/>
            </a:pPr>
            <a:r>
              <a:rPr lang="en-US" dirty="0" err="1"/>
              <a:t>karar</a:t>
            </a:r>
            <a:r>
              <a:rPr lang="en-US" dirty="0"/>
              <a:t> </a:t>
            </a:r>
            <a:r>
              <a:rPr lang="en-US" dirty="0" err="1"/>
              <a:t>veren</a:t>
            </a:r>
            <a:r>
              <a:rPr lang="en-US" dirty="0"/>
              <a:t>, </a:t>
            </a:r>
          </a:p>
          <a:p>
            <a:pPr marL="171450" indent="-171450">
              <a:buFont typeface="Arial" panose="020B0604020202020204" pitchFamily="34" charset="0"/>
              <a:buChar char="•"/>
            </a:pPr>
            <a:r>
              <a:rPr lang="en-US" dirty="0" err="1"/>
              <a:t>analiz</a:t>
            </a:r>
            <a:r>
              <a:rPr lang="en-US" dirty="0"/>
              <a:t> </a:t>
            </a:r>
            <a:r>
              <a:rPr lang="en-US" dirty="0" err="1"/>
              <a:t>eden</a:t>
            </a:r>
            <a:r>
              <a:rPr lang="en-US" dirty="0"/>
              <a:t>, </a:t>
            </a:r>
          </a:p>
          <a:p>
            <a:pPr marL="171450" indent="-171450">
              <a:buFont typeface="Arial" panose="020B0604020202020204" pitchFamily="34" charset="0"/>
              <a:buChar char="•"/>
            </a:pPr>
            <a:r>
              <a:rPr lang="en-US" dirty="0" err="1"/>
              <a:t>tasarlayan</a:t>
            </a:r>
            <a:r>
              <a:rPr lang="en-US" dirty="0"/>
              <a:t>, </a:t>
            </a:r>
          </a:p>
          <a:p>
            <a:pPr marL="171450" indent="-171450">
              <a:buFont typeface="Arial" panose="020B0604020202020204" pitchFamily="34" charset="0"/>
              <a:buChar char="•"/>
            </a:pPr>
            <a:r>
              <a:rPr lang="en-US" dirty="0" err="1"/>
              <a:t>hatta</a:t>
            </a:r>
            <a:r>
              <a:rPr lang="en-US" dirty="0"/>
              <a:t> </a:t>
            </a:r>
            <a:r>
              <a:rPr lang="en-US" dirty="0" err="1"/>
              <a:t>öğrenen</a:t>
            </a:r>
            <a:r>
              <a:rPr lang="en-US" dirty="0"/>
              <a:t> </a:t>
            </a:r>
            <a:r>
              <a:rPr lang="en-US" dirty="0" err="1"/>
              <a:t>taraf</a:t>
            </a:r>
            <a:r>
              <a:rPr lang="en-US" dirty="0"/>
              <a:t> </a:t>
            </a:r>
            <a:r>
              <a:rPr lang="en-US" dirty="0" err="1"/>
              <a:t>olmaya</a:t>
            </a:r>
            <a:r>
              <a:rPr lang="en-US" dirty="0"/>
              <a:t> </a:t>
            </a:r>
            <a:r>
              <a:rPr lang="en-US" dirty="0" err="1"/>
              <a:t>başlıyor</a:t>
            </a:r>
            <a:r>
              <a:rPr lang="en-US" dirty="0"/>
              <a:t>. </a:t>
            </a:r>
          </a:p>
          <a:p>
            <a:r>
              <a:rPr lang="en-US" dirty="0"/>
              <a:t>Bu da </a:t>
            </a:r>
            <a:r>
              <a:rPr lang="en-US" dirty="0" err="1"/>
              <a:t>insanları</a:t>
            </a:r>
            <a:r>
              <a:rPr lang="en-US" dirty="0"/>
              <a:t> </a:t>
            </a:r>
            <a:r>
              <a:rPr lang="en-US" dirty="0" err="1"/>
              <a:t>pasifleştirebilir</a:t>
            </a:r>
            <a:r>
              <a:rPr lang="en-US" dirty="0"/>
              <a:t>.</a:t>
            </a:r>
          </a:p>
          <a:p>
            <a:endParaRPr lang="en-US" dirty="0"/>
          </a:p>
          <a:p>
            <a:r>
              <a:rPr lang="en-US" b="1" dirty="0"/>
              <a:t>"AI Trap" </a:t>
            </a:r>
            <a:r>
              <a:rPr lang="en-US" b="1" dirty="0" err="1"/>
              <a:t>nedir</a:t>
            </a:r>
            <a:r>
              <a:rPr lang="en-US" b="1" dirty="0"/>
              <a:t>?</a:t>
            </a:r>
          </a:p>
          <a:p>
            <a:r>
              <a:rPr lang="en-US" dirty="0"/>
              <a:t>Her </a:t>
            </a:r>
            <a:r>
              <a:rPr lang="en-US" dirty="0" err="1"/>
              <a:t>soruyu</a:t>
            </a:r>
            <a:r>
              <a:rPr lang="en-US" dirty="0"/>
              <a:t> </a:t>
            </a:r>
            <a:r>
              <a:rPr lang="en-US" dirty="0" err="1"/>
              <a:t>ChatGPT'ye</a:t>
            </a:r>
            <a:r>
              <a:rPr lang="en-US" dirty="0"/>
              <a:t> </a:t>
            </a:r>
            <a:r>
              <a:rPr lang="en-US" dirty="0" err="1"/>
              <a:t>sormak</a:t>
            </a:r>
            <a:r>
              <a:rPr lang="en-US" dirty="0"/>
              <a:t>. </a:t>
            </a:r>
          </a:p>
          <a:p>
            <a:r>
              <a:rPr lang="en-US" dirty="0"/>
              <a:t>Kodu </a:t>
            </a:r>
            <a:r>
              <a:rPr lang="en-US" dirty="0" err="1"/>
              <a:t>anlamadan</a:t>
            </a:r>
            <a:r>
              <a:rPr lang="en-US" dirty="0"/>
              <a:t> </a:t>
            </a:r>
            <a:r>
              <a:rPr lang="en-US" dirty="0" err="1"/>
              <a:t>AI'nın</a:t>
            </a:r>
            <a:r>
              <a:rPr lang="en-US" dirty="0"/>
              <a:t> </a:t>
            </a:r>
            <a:r>
              <a:rPr lang="en-US" dirty="0" err="1"/>
              <a:t>yazdığı</a:t>
            </a:r>
            <a:r>
              <a:rPr lang="en-US" dirty="0"/>
              <a:t> </a:t>
            </a:r>
            <a:r>
              <a:rPr lang="en-US" dirty="0" err="1"/>
              <a:t>kodu</a:t>
            </a:r>
            <a:r>
              <a:rPr lang="en-US" dirty="0"/>
              <a:t> </a:t>
            </a:r>
            <a:r>
              <a:rPr lang="en-US" dirty="0" err="1"/>
              <a:t>kopyalamak</a:t>
            </a:r>
            <a:r>
              <a:rPr lang="en-US" dirty="0"/>
              <a:t>. </a:t>
            </a:r>
          </a:p>
          <a:p>
            <a:r>
              <a:rPr lang="en-US" dirty="0" err="1"/>
              <a:t>Doküman</a:t>
            </a:r>
            <a:r>
              <a:rPr lang="en-US" dirty="0"/>
              <a:t> </a:t>
            </a:r>
            <a:r>
              <a:rPr lang="en-US" dirty="0" err="1"/>
              <a:t>okumayı</a:t>
            </a:r>
            <a:r>
              <a:rPr lang="en-US" dirty="0"/>
              <a:t> </a:t>
            </a:r>
            <a:r>
              <a:rPr lang="en-US" dirty="0" err="1"/>
              <a:t>bırakmak</a:t>
            </a:r>
            <a:r>
              <a:rPr lang="en-US" dirty="0"/>
              <a:t>. </a:t>
            </a:r>
          </a:p>
          <a:p>
            <a:r>
              <a:rPr lang="en-US" dirty="0"/>
              <a:t>Problem </a:t>
            </a:r>
            <a:r>
              <a:rPr lang="en-US" dirty="0" err="1"/>
              <a:t>çözmeyi</a:t>
            </a:r>
            <a:r>
              <a:rPr lang="en-US" dirty="0"/>
              <a:t> </a:t>
            </a:r>
            <a:r>
              <a:rPr lang="en-US" dirty="0" err="1"/>
              <a:t>AI'ya</a:t>
            </a:r>
            <a:r>
              <a:rPr lang="en-US" dirty="0"/>
              <a:t> </a:t>
            </a:r>
            <a:r>
              <a:rPr lang="en-US" dirty="0" err="1"/>
              <a:t>bırakmak</a:t>
            </a:r>
            <a:r>
              <a:rPr lang="en-US" dirty="0"/>
              <a:t>. </a:t>
            </a:r>
          </a:p>
          <a:p>
            <a:r>
              <a:rPr lang="en-US" dirty="0" err="1"/>
              <a:t>Eleştirel</a:t>
            </a:r>
            <a:r>
              <a:rPr lang="en-US" dirty="0"/>
              <a:t> </a:t>
            </a:r>
            <a:r>
              <a:rPr lang="en-US" dirty="0" err="1"/>
              <a:t>düşünmeyi</a:t>
            </a:r>
            <a:r>
              <a:rPr lang="en-US" dirty="0"/>
              <a:t> </a:t>
            </a:r>
            <a:r>
              <a:rPr lang="en-US" dirty="0" err="1"/>
              <a:t>azaltmak</a:t>
            </a:r>
            <a:r>
              <a:rPr lang="en-US" dirty="0"/>
              <a:t>.</a:t>
            </a:r>
          </a:p>
          <a:p>
            <a:endParaRPr lang="en-US" dirty="0"/>
          </a:p>
          <a:p>
            <a:endParaRPr lang="en-US" dirty="0"/>
          </a:p>
          <a:p>
            <a:r>
              <a:rPr lang="en-US" b="1" dirty="0" err="1"/>
              <a:t>Geliştirici</a:t>
            </a:r>
            <a:r>
              <a:rPr lang="en-US" b="1" dirty="0"/>
              <a:t> A</a:t>
            </a:r>
            <a:endParaRPr lang="en-US" dirty="0"/>
          </a:p>
          <a:p>
            <a:r>
              <a:rPr lang="en-US" dirty="0"/>
              <a:t>AI </a:t>
            </a:r>
            <a:r>
              <a:rPr lang="en-US" dirty="0" err="1"/>
              <a:t>kod</a:t>
            </a:r>
            <a:r>
              <a:rPr lang="en-US" dirty="0"/>
              <a:t> </a:t>
            </a:r>
            <a:r>
              <a:rPr lang="en-US" dirty="0" err="1"/>
              <a:t>yazıyor</a:t>
            </a:r>
            <a:r>
              <a:rPr lang="en-US" dirty="0"/>
              <a:t>. </a:t>
            </a:r>
          </a:p>
          <a:p>
            <a:r>
              <a:rPr lang="en-US" dirty="0"/>
              <a:t>Ama </a:t>
            </a:r>
            <a:r>
              <a:rPr lang="en-US" dirty="0" err="1"/>
              <a:t>neden</a:t>
            </a:r>
            <a:r>
              <a:rPr lang="en-US" dirty="0"/>
              <a:t> o </a:t>
            </a:r>
            <a:r>
              <a:rPr lang="en-US" dirty="0" err="1"/>
              <a:t>çözümü</a:t>
            </a:r>
            <a:r>
              <a:rPr lang="en-US" dirty="0"/>
              <a:t> </a:t>
            </a:r>
            <a:r>
              <a:rPr lang="en-US" dirty="0" err="1"/>
              <a:t>önerdiğini</a:t>
            </a:r>
            <a:r>
              <a:rPr lang="en-US" dirty="0"/>
              <a:t> </a:t>
            </a:r>
            <a:r>
              <a:rPr lang="en-US" dirty="0" err="1"/>
              <a:t>inceliyor</a:t>
            </a:r>
            <a:r>
              <a:rPr lang="en-US" dirty="0"/>
              <a:t>. </a:t>
            </a:r>
          </a:p>
          <a:p>
            <a:r>
              <a:rPr lang="en-US" dirty="0" err="1"/>
              <a:t>Düzeltiyor</a:t>
            </a:r>
            <a:r>
              <a:rPr lang="en-US" dirty="0"/>
              <a:t>. </a:t>
            </a:r>
          </a:p>
          <a:p>
            <a:r>
              <a:rPr lang="en-US" dirty="0"/>
              <a:t>Test </a:t>
            </a:r>
            <a:r>
              <a:rPr lang="en-US" dirty="0" err="1"/>
              <a:t>ediyor</a:t>
            </a:r>
            <a:r>
              <a:rPr lang="en-US" dirty="0"/>
              <a:t>. </a:t>
            </a:r>
          </a:p>
          <a:p>
            <a:r>
              <a:rPr lang="en-US" dirty="0" err="1"/>
              <a:t>Öğreniyor</a:t>
            </a:r>
            <a:r>
              <a:rPr lang="en-US" dirty="0"/>
              <a:t>. </a:t>
            </a:r>
          </a:p>
          <a:p>
            <a:r>
              <a:rPr lang="en-US" dirty="0"/>
              <a:t>AI onu </a:t>
            </a:r>
            <a:r>
              <a:rPr lang="en-US" dirty="0" err="1"/>
              <a:t>güçlendiriyor</a:t>
            </a:r>
            <a:r>
              <a:rPr lang="en-US" dirty="0"/>
              <a:t>.</a:t>
            </a:r>
          </a:p>
          <a:p>
            <a:r>
              <a:rPr lang="en-US" b="1" dirty="0" err="1"/>
              <a:t>Geliştirici</a:t>
            </a:r>
            <a:r>
              <a:rPr lang="en-US" b="1" dirty="0"/>
              <a:t> B</a:t>
            </a:r>
            <a:endParaRPr lang="en-US" dirty="0"/>
          </a:p>
          <a:p>
            <a:r>
              <a:rPr lang="en-US" dirty="0"/>
              <a:t>Prompt </a:t>
            </a:r>
            <a:r>
              <a:rPr lang="en-US" dirty="0" err="1"/>
              <a:t>yazıyor</a:t>
            </a:r>
            <a:r>
              <a:rPr lang="en-US" dirty="0"/>
              <a:t>. </a:t>
            </a:r>
          </a:p>
          <a:p>
            <a:r>
              <a:rPr lang="en-US" dirty="0"/>
              <a:t>Copy-Paste </a:t>
            </a:r>
            <a:r>
              <a:rPr lang="en-US" dirty="0" err="1"/>
              <a:t>yapıyor</a:t>
            </a:r>
            <a:r>
              <a:rPr lang="en-US" dirty="0"/>
              <a:t>. </a:t>
            </a:r>
          </a:p>
          <a:p>
            <a:r>
              <a:rPr lang="en-US" dirty="0" err="1"/>
              <a:t>Çalışıyorsa</a:t>
            </a:r>
            <a:r>
              <a:rPr lang="en-US" dirty="0"/>
              <a:t> </a:t>
            </a:r>
            <a:r>
              <a:rPr lang="en-US" dirty="0" err="1"/>
              <a:t>gönderiyor</a:t>
            </a:r>
            <a:r>
              <a:rPr lang="en-US" dirty="0"/>
              <a:t>. </a:t>
            </a:r>
          </a:p>
          <a:p>
            <a:r>
              <a:rPr lang="en-US" dirty="0"/>
              <a:t>Bir </a:t>
            </a:r>
            <a:r>
              <a:rPr lang="en-US" dirty="0" err="1"/>
              <a:t>süre</a:t>
            </a:r>
            <a:r>
              <a:rPr lang="en-US" dirty="0"/>
              <a:t> </a:t>
            </a:r>
            <a:r>
              <a:rPr lang="en-US" dirty="0" err="1"/>
              <a:t>sonra</a:t>
            </a:r>
            <a:r>
              <a:rPr lang="en-US" dirty="0"/>
              <a:t> </a:t>
            </a:r>
            <a:r>
              <a:rPr lang="en-US" dirty="0" err="1"/>
              <a:t>kendi</a:t>
            </a:r>
            <a:r>
              <a:rPr lang="en-US" dirty="0"/>
              <a:t> </a:t>
            </a:r>
            <a:r>
              <a:rPr lang="en-US" dirty="0" err="1"/>
              <a:t>başına</a:t>
            </a:r>
            <a:r>
              <a:rPr lang="en-US" dirty="0"/>
              <a:t> problem </a:t>
            </a:r>
            <a:r>
              <a:rPr lang="en-US" dirty="0" err="1"/>
              <a:t>çözme</a:t>
            </a:r>
            <a:r>
              <a:rPr lang="en-US" dirty="0"/>
              <a:t> </a:t>
            </a:r>
            <a:r>
              <a:rPr lang="en-US" dirty="0" err="1"/>
              <a:t>yeteneği</a:t>
            </a:r>
            <a:r>
              <a:rPr lang="en-US" dirty="0"/>
              <a:t> </a:t>
            </a:r>
            <a:r>
              <a:rPr lang="en-US" dirty="0" err="1"/>
              <a:t>zayıflıyor</a:t>
            </a:r>
            <a:r>
              <a:rPr lang="en-US" dirty="0"/>
              <a:t>.</a:t>
            </a:r>
          </a:p>
          <a:p>
            <a:endParaRPr lang="en-US" dirty="0"/>
          </a:p>
          <a:p>
            <a:endParaRPr lang="tr-TR" dirty="0"/>
          </a:p>
        </p:txBody>
      </p:sp>
    </p:spTree>
    <p:extLst>
      <p:ext uri="{BB962C8B-B14F-4D97-AF65-F5344CB8AC3E}">
        <p14:creationId xmlns:p14="http://schemas.microsoft.com/office/powerpoint/2010/main" val="3915936352"/>
      </p:ext>
    </p:extLst>
  </p:cSld>
  <p:clrMapOvr>
    <a:overrideClrMapping bg1="lt1" tx1="dk1" bg2="lt2" tx2="dk2" accent1="accent1" accent2="accent2" accent3="accent3" accent4="accent4" accent5="accent5" accent6="accent6" hlink="hlink" folHlink="folHlink"/>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tr-TR" dirty="0"/>
              <a:t>Aynı temada dengeleyici bir bakış da vardı: hype'ın ötesinde, değer gerçekte nereye birikiyor?</a:t>
            </a:r>
          </a:p>
          <a:p>
            <a:r>
              <a:rPr lang="tr-TR" dirty="0"/>
              <a:t>Altimeter'ın bu şemasına göre değer giderek yukarı katmanlara — yani 'context + runtime', ajanlar ve güvenlik katmanına — kayıyor. </a:t>
            </a:r>
            <a:endParaRPr lang="en-US" dirty="0"/>
          </a:p>
          <a:p>
            <a:r>
              <a:rPr lang="tr-TR" dirty="0"/>
              <a:t>Donanım ve modeller zamanla metalaşıyor; </a:t>
            </a:r>
            <a:r>
              <a:rPr lang="tr-TR" b="1" dirty="0"/>
              <a:t>asıl kazanç, modeli işe bağlayan uygulama ve bağlam katmanında oluşuyor.</a:t>
            </a:r>
          </a:p>
          <a:p>
            <a:endParaRPr lang="en-US" dirty="0"/>
          </a:p>
          <a:p>
            <a:r>
              <a:rPr lang="tr-TR" dirty="0"/>
              <a:t>Antirez</a:t>
            </a:r>
            <a:r>
              <a:rPr lang="en-US" dirty="0"/>
              <a:t> =&gt; </a:t>
            </a:r>
            <a:r>
              <a:rPr lang="en-US" dirty="0" err="1"/>
              <a:t>Redis'in</a:t>
            </a:r>
            <a:r>
              <a:rPr lang="en-US" dirty="0"/>
              <a:t> </a:t>
            </a:r>
            <a:r>
              <a:rPr lang="en-US" dirty="0" err="1"/>
              <a:t>yaratıcısı</a:t>
            </a:r>
            <a:r>
              <a:rPr lang="en-US" dirty="0"/>
              <a:t> </a:t>
            </a:r>
            <a:r>
              <a:rPr lang="en-US" dirty="0" err="1"/>
              <a:t>olan</a:t>
            </a:r>
            <a:r>
              <a:rPr lang="en-US" dirty="0"/>
              <a:t> Salvatore Sanfilippo</a:t>
            </a:r>
            <a:br>
              <a:rPr lang="en-US" dirty="0"/>
            </a:br>
            <a:r>
              <a:rPr lang="tr-TR" dirty="0"/>
              <a:t>açık kaynak 'ds4' projesi, güçlü bir modeli yerelde çalıştıran bir çıkarım motoru ve daha şimdiden 13 bin yıldız almış.</a:t>
            </a:r>
          </a:p>
          <a:p>
            <a:r>
              <a:rPr lang="tr-TR" dirty="0"/>
              <a:t>Kısacası güçlü AI yerelleşiyor ve metalaşıyor; rekabet avantajı modelin kendisinde değil, onu nasıl kullandığınızda.</a:t>
            </a:r>
          </a:p>
        </p:txBody>
      </p:sp>
    </p:spTree>
  </p:cSld>
  <p:clrMapOvr>
    <a:overrideClrMapping bg1="lt1" tx1="dk1" bg2="lt2" tx2="dk2" accent1="accent1" accent2="accent2" accent3="accent3" accent4="accent4" accent5="accent5" accent6="accent6" hlink="hlink" folHlink="folHlink"/>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8BE33-15AC-8C89-EDAF-15F0D1D12EC9}"/>
            </a:ext>
          </a:extLst>
        </p:cNvPr>
        <p:cNvGrpSpPr/>
        <p:nvPr/>
      </p:nvGrpSpPr>
      <p:grpSpPr>
        <a:xfrm>
          <a:off x="0" y="0"/>
          <a:ext cx="0" cy="0"/>
          <a:chOff x="0" y="0"/>
          <a:chExt cx="0" cy="0"/>
        </a:xfrm>
      </p:grpSpPr>
      <p:sp>
        <p:nvSpPr>
          <p:cNvPr id="2" name="Notes Placeholder 1">
            <a:extLst>
              <a:ext uri="{FF2B5EF4-FFF2-40B4-BE49-F238E27FC236}">
                <a16:creationId xmlns:a16="http://schemas.microsoft.com/office/drawing/2014/main" id="{115D63D4-B0E1-2B8C-A29B-BE4AE5931A79}"/>
              </a:ext>
            </a:extLst>
          </p:cNvPr>
          <p:cNvSpPr>
            <a:spLocks noGrp="1"/>
          </p:cNvSpPr>
          <p:nvPr>
            <p:ph type="body" idx="1"/>
          </p:nvPr>
        </p:nvSpPr>
        <p:spPr/>
        <p:txBody>
          <a:bodyPr/>
          <a:lstStyle/>
          <a:p>
            <a:r>
              <a:rPr lang="tr-TR" dirty="0"/>
              <a:t>Bir süre boyunca AI tartışmaları neredeyse tamamen 'AI ne üretebilir?' sorusuna odaklandı: kod, test, metin, SQL, dokümantasyon, tasarım.</a:t>
            </a:r>
          </a:p>
          <a:p>
            <a:r>
              <a:rPr lang="tr-TR" dirty="0"/>
              <a:t>AI bir şey ürettikten sonra ne olur? Kim doğrular? Kararın sahibi kim? Bir konuda 'bilmiyorum' diyebilir miyiz? Bir veri sızıntısı olursa kim sorumlu? Üretilen şey mimariye nasıl oturuyor?</a:t>
            </a:r>
          </a:p>
          <a:p>
            <a:r>
              <a:rPr lang="tr-TR" dirty="0"/>
              <a:t>En önemlisi: bunu beş dakika etkileyici görünen bir gösteri değil, işe gerçekten değer katan bir şeye nasıl dönüştürürüz?</a:t>
            </a:r>
          </a:p>
        </p:txBody>
      </p:sp>
    </p:spTree>
    <p:extLst>
      <p:ext uri="{BB962C8B-B14F-4D97-AF65-F5344CB8AC3E}">
        <p14:creationId xmlns:p14="http://schemas.microsoft.com/office/powerpoint/2010/main" val="1731987609"/>
      </p:ext>
    </p:extLst>
  </p:cSld>
  <p:clrMapOvr>
    <a:overrideClrMapping bg1="lt1" tx1="dk1" bg2="lt2" tx2="dk2" accent1="accent1" accent2="accent2" accent3="accent3" accent4="accent4" accent5="accent5" accent6="accent6" hlink="hlink" folHlink="folHlink"/>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endParaRPr lang="tr-TR" dirty="0"/>
          </a:p>
        </p:txBody>
      </p:sp>
    </p:spTree>
  </p:cSld>
  <p:clrMapOvr>
    <a:overrideClrMapping bg1="lt1" tx1="dk1" bg2="lt2" tx2="dk2" accent1="accent1" accent2="accent2" accent3="accent3" accent4="accent4" accent5="accent5" accent6="accent6" hlink="hlink" folHlink="folHlink"/>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2BB17-4A3B-A61E-5B53-7F8DA84EFD41}"/>
            </a:ext>
          </a:extLst>
        </p:cNvPr>
        <p:cNvGrpSpPr/>
        <p:nvPr/>
      </p:nvGrpSpPr>
      <p:grpSpPr>
        <a:xfrm>
          <a:off x="0" y="0"/>
          <a:ext cx="0" cy="0"/>
          <a:chOff x="0" y="0"/>
          <a:chExt cx="0" cy="0"/>
        </a:xfrm>
      </p:grpSpPr>
      <p:sp>
        <p:nvSpPr>
          <p:cNvPr id="2" name="Notes Placeholder 1">
            <a:extLst>
              <a:ext uri="{FF2B5EF4-FFF2-40B4-BE49-F238E27FC236}">
                <a16:creationId xmlns:a16="http://schemas.microsoft.com/office/drawing/2014/main" id="{41BA5CD9-7B06-12F9-FE92-C3056656CB9B}"/>
              </a:ext>
            </a:extLst>
          </p:cNvPr>
          <p:cNvSpPr>
            <a:spLocks noGrp="1"/>
          </p:cNvSpPr>
          <p:nvPr>
            <p:ph type="body" idx="1"/>
          </p:nvPr>
        </p:nvSpPr>
        <p:spPr/>
        <p:txBody>
          <a:bodyPr/>
          <a:lstStyle/>
          <a:p>
            <a:r>
              <a:rPr lang="tr-TR" dirty="0"/>
              <a:t>Konferansın en düşündürücü slaytlarından biri AI ajanlarının bugünkü sınırlarını ele alıyordu. 'AI insanların yerini alacak mı?' yerine daha ilginç bir soru soruyordu: AI ajanları bugün gerçekten ne yapabilir, ne yapamaz ve hangi sınırlar zamanla kalkabilir?</a:t>
            </a:r>
          </a:p>
          <a:p>
            <a:r>
              <a:rPr lang="tr-TR" dirty="0"/>
              <a:t>İlk sütun AI'ın iyi yaptığı şeyleri listeliyordu: yorulmadan görev yürütmek, uzun süren işlerde bağlamı korumak, ilerleme raporlamak, sorunları tespit etmek, süreçleri takip etmek, alternatifler üretmek, kendi çıktısını belgelemek ve binlerce örneği aynı anda çalıştırarak ölçeklenmek. Kısaca AI yürütmede mükemmel.</a:t>
            </a:r>
          </a:p>
          <a:p>
            <a:r>
              <a:rPr lang="tr-TR" dirty="0"/>
              <a:t>İkinci sütun bugün temelde insani olan yetenekleri içeriyordu: hesap verebilir olmak, yıllarca paylaşılan deneyimle güven kazanmak, bir sonucu gerçekten önemsemek, başarısızlığın ağırlığını hissetmek ve bir ekibe ait olmak. AI bir yöneticinin ya da mentorun rolünü oynayabilir ama gerçekten 'o' olamaz.</a:t>
            </a:r>
          </a:p>
          <a:p>
            <a:r>
              <a:rPr lang="tr-TR" dirty="0"/>
              <a:t>Üçüncü sütun 'imkânsız' değil, 'şimdilik yapamaz ama belki bir gün' diyordu: çok-ajanlı sistemler, daha iyi bellek ve süreklilik, multimodal modeller ve RLHF gibi gelişmeler bunun ilk işaretleri.</a:t>
            </a:r>
          </a:p>
          <a:p>
            <a:r>
              <a:rPr lang="tr-TR" dirty="0"/>
              <a:t>Genel mesaj çok dengeliydi: AI ne bir insan çalışan gibi görülmeli ne de küçümsenmeli. Asıl soru, AI'ın nerede yardımcı olabileceği ve kararın hâlâ nerede insana ait olması gerektiği.</a:t>
            </a:r>
          </a:p>
        </p:txBody>
      </p:sp>
    </p:spTree>
    <p:extLst>
      <p:ext uri="{BB962C8B-B14F-4D97-AF65-F5344CB8AC3E}">
        <p14:creationId xmlns:p14="http://schemas.microsoft.com/office/powerpoint/2010/main" val="21406800"/>
      </p:ext>
    </p:extLst>
  </p:cSld>
  <p:clrMapOvr>
    <a:overrideClrMapping bg1="lt1" tx1="dk1" bg2="lt2" tx2="dk2" accent1="accent1" accent2="accent2" accent3="accent3" accent4="accent4" accent5="accent5" accent6="accent6" hlink="hlink" folHlink="folHlink"/>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B4174-7924-2C6A-2008-1613BCD0F683}"/>
            </a:ext>
          </a:extLst>
        </p:cNvPr>
        <p:cNvGrpSpPr/>
        <p:nvPr/>
      </p:nvGrpSpPr>
      <p:grpSpPr>
        <a:xfrm>
          <a:off x="0" y="0"/>
          <a:ext cx="0" cy="0"/>
          <a:chOff x="0" y="0"/>
          <a:chExt cx="0" cy="0"/>
        </a:xfrm>
      </p:grpSpPr>
      <p:sp>
        <p:nvSpPr>
          <p:cNvPr id="2" name="Notes Placeholder 1">
            <a:extLst>
              <a:ext uri="{FF2B5EF4-FFF2-40B4-BE49-F238E27FC236}">
                <a16:creationId xmlns:a16="http://schemas.microsoft.com/office/drawing/2014/main" id="{B47CE5F1-A9DB-BD97-FD78-212545C22038}"/>
              </a:ext>
            </a:extLst>
          </p:cNvPr>
          <p:cNvSpPr>
            <a:spLocks noGrp="1"/>
          </p:cNvSpPr>
          <p:nvPr>
            <p:ph type="body" idx="1"/>
          </p:nvPr>
        </p:nvSpPr>
        <p:spPr/>
        <p:txBody>
          <a:bodyPr/>
          <a:lstStyle/>
          <a:p>
            <a:endParaRPr lang="tr-TR" dirty="0"/>
          </a:p>
        </p:txBody>
      </p:sp>
    </p:spTree>
    <p:extLst>
      <p:ext uri="{BB962C8B-B14F-4D97-AF65-F5344CB8AC3E}">
        <p14:creationId xmlns:p14="http://schemas.microsoft.com/office/powerpoint/2010/main" val="1838736853"/>
      </p:ext>
    </p:extLst>
  </p:cSld>
  <p:clrMapOvr>
    <a:overrideClrMapping bg1="lt1" tx1="dk1" bg2="lt2" tx2="dk2" accent1="accent1" accent2="accent2" accent3="accent3" accent4="accent4" accent5="accent5" accent6="accent6" hlink="hlink" folHlink="folHlink"/>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err="1"/>
              <a:t>rensipler</a:t>
            </a:r>
            <a:r>
              <a:rPr lang="en-US" dirty="0"/>
              <a:t> </a:t>
            </a:r>
            <a:r>
              <a:rPr lang="en-US" dirty="0" err="1"/>
              <a:t>tek</a:t>
            </a:r>
            <a:r>
              <a:rPr lang="en-US" dirty="0"/>
              <a:t> </a:t>
            </a:r>
            <a:r>
              <a:rPr lang="en-US" dirty="0" err="1"/>
              <a:t>tek</a:t>
            </a:r>
            <a:r>
              <a:rPr lang="en-US" dirty="0"/>
              <a:t> </a:t>
            </a:r>
            <a:r>
              <a:rPr lang="en-US" dirty="0" err="1"/>
              <a:t>teknik</a:t>
            </a:r>
            <a:r>
              <a:rPr lang="en-US" dirty="0"/>
              <a:t> </a:t>
            </a:r>
            <a:r>
              <a:rPr lang="en-US" dirty="0" err="1"/>
              <a:t>kararlar</a:t>
            </a:r>
            <a:r>
              <a:rPr lang="en-US" dirty="0"/>
              <a:t> </a:t>
            </a:r>
            <a:r>
              <a:rPr lang="en-US" dirty="0" err="1"/>
              <a:t>değildir</a:t>
            </a:r>
            <a:r>
              <a:rPr lang="en-US" dirty="0"/>
              <a:t>.</a:t>
            </a:r>
          </a:p>
          <a:p>
            <a:r>
              <a:rPr lang="en-US" dirty="0" err="1"/>
              <a:t>Örneğin</a:t>
            </a:r>
            <a:r>
              <a:rPr lang="en-US" dirty="0"/>
              <a:t>:</a:t>
            </a:r>
          </a:p>
          <a:p>
            <a:r>
              <a:rPr lang="en-US" dirty="0"/>
              <a:t>API First </a:t>
            </a:r>
          </a:p>
          <a:p>
            <a:r>
              <a:rPr lang="en-US" dirty="0"/>
              <a:t>Security by Default </a:t>
            </a:r>
          </a:p>
          <a:p>
            <a:r>
              <a:rPr lang="en-US" dirty="0"/>
              <a:t>Cloud Native </a:t>
            </a:r>
          </a:p>
          <a:p>
            <a:r>
              <a:rPr lang="en-US" dirty="0"/>
              <a:t>Simplicity over Cleverness </a:t>
            </a:r>
          </a:p>
          <a:p>
            <a:r>
              <a:rPr lang="en-US" dirty="0"/>
              <a:t>Backward Compatibility </a:t>
            </a:r>
          </a:p>
          <a:p>
            <a:r>
              <a:rPr lang="en-US" dirty="0"/>
              <a:t>Domain Driven Design </a:t>
            </a:r>
          </a:p>
          <a:p>
            <a:r>
              <a:rPr lang="en-US" dirty="0" err="1"/>
              <a:t>Bunlar</a:t>
            </a:r>
            <a:r>
              <a:rPr lang="en-US" dirty="0"/>
              <a:t> "hangi </a:t>
            </a:r>
            <a:r>
              <a:rPr lang="en-US" dirty="0" err="1"/>
              <a:t>teknolojiyi</a:t>
            </a:r>
            <a:r>
              <a:rPr lang="en-US" dirty="0"/>
              <a:t> </a:t>
            </a:r>
            <a:r>
              <a:rPr lang="en-US" dirty="0" err="1"/>
              <a:t>seçelim</a:t>
            </a:r>
            <a:r>
              <a:rPr lang="en-US" dirty="0"/>
              <a:t>?" </a:t>
            </a:r>
            <a:r>
              <a:rPr lang="en-US" dirty="0" err="1"/>
              <a:t>sorusunun</a:t>
            </a:r>
            <a:r>
              <a:rPr lang="en-US" dirty="0"/>
              <a:t> </a:t>
            </a:r>
            <a:r>
              <a:rPr lang="en-US" dirty="0" err="1"/>
              <a:t>cevabı</a:t>
            </a:r>
            <a:r>
              <a:rPr lang="en-US" dirty="0"/>
              <a:t> </a:t>
            </a:r>
            <a:r>
              <a:rPr lang="en-US" dirty="0" err="1"/>
              <a:t>değildir</a:t>
            </a:r>
            <a:r>
              <a:rPr lang="en-US" dirty="0"/>
              <a:t>.</a:t>
            </a:r>
          </a:p>
          <a:p>
            <a:r>
              <a:rPr lang="en-US" dirty="0" err="1"/>
              <a:t>Bunlar</a:t>
            </a:r>
            <a:r>
              <a:rPr lang="en-US" dirty="0"/>
              <a:t> </a:t>
            </a:r>
            <a:r>
              <a:rPr lang="en-US" b="1" dirty="0" err="1"/>
              <a:t>karar</a:t>
            </a:r>
            <a:r>
              <a:rPr lang="en-US" b="1" dirty="0"/>
              <a:t> alma </a:t>
            </a:r>
            <a:r>
              <a:rPr lang="en-US" b="1" dirty="0" err="1"/>
              <a:t>kurallarıdır</a:t>
            </a:r>
            <a:r>
              <a:rPr lang="en-US" b="1" dirty="0"/>
              <a:t>.</a:t>
            </a:r>
          </a:p>
          <a:p>
            <a:endParaRPr lang="en-US" b="1" dirty="0"/>
          </a:p>
          <a:p>
            <a:r>
              <a:rPr lang="en-US" b="1" dirty="0"/>
              <a:t>2. Decisions (</a:t>
            </a:r>
            <a:r>
              <a:rPr lang="en-US" b="1" dirty="0" err="1"/>
              <a:t>Kararlar</a:t>
            </a:r>
            <a:r>
              <a:rPr lang="en-US" b="1" dirty="0"/>
              <a:t>)</a:t>
            </a:r>
          </a:p>
          <a:p>
            <a:r>
              <a:rPr lang="en-US" b="1" dirty="0"/>
              <a:t>How and why our system works</a:t>
            </a:r>
            <a:r>
              <a:rPr lang="en-US" dirty="0"/>
              <a:t> </a:t>
            </a:r>
          </a:p>
          <a:p>
            <a:pPr lvl="1"/>
            <a:r>
              <a:rPr lang="en-US" dirty="0" err="1"/>
              <a:t>Sistem</a:t>
            </a:r>
            <a:r>
              <a:rPr lang="en-US" dirty="0"/>
              <a:t> </a:t>
            </a:r>
            <a:r>
              <a:rPr lang="en-US" dirty="0" err="1"/>
              <a:t>neden</a:t>
            </a:r>
            <a:r>
              <a:rPr lang="en-US" dirty="0"/>
              <a:t> ve nasıl </a:t>
            </a:r>
            <a:r>
              <a:rPr lang="en-US" dirty="0" err="1"/>
              <a:t>bu</a:t>
            </a:r>
            <a:r>
              <a:rPr lang="en-US" dirty="0"/>
              <a:t> şekilde </a:t>
            </a:r>
            <a:r>
              <a:rPr lang="en-US" dirty="0" err="1"/>
              <a:t>çalışıyor</a:t>
            </a:r>
            <a:r>
              <a:rPr lang="en-US" dirty="0"/>
              <a:t>? </a:t>
            </a:r>
          </a:p>
          <a:p>
            <a:r>
              <a:rPr lang="en-US" b="1" dirty="0"/>
              <a:t>Our architectural journey (tradeoffs)</a:t>
            </a:r>
            <a:r>
              <a:rPr lang="en-US" dirty="0"/>
              <a:t> </a:t>
            </a:r>
          </a:p>
          <a:p>
            <a:pPr lvl="1"/>
            <a:r>
              <a:rPr lang="en-US" dirty="0"/>
              <a:t>Bu </a:t>
            </a:r>
            <a:r>
              <a:rPr lang="en-US" dirty="0" err="1"/>
              <a:t>kararları</a:t>
            </a:r>
            <a:r>
              <a:rPr lang="en-US" dirty="0"/>
              <a:t> </a:t>
            </a:r>
            <a:r>
              <a:rPr lang="en-US" dirty="0" err="1"/>
              <a:t>neden</a:t>
            </a:r>
            <a:r>
              <a:rPr lang="en-US" dirty="0"/>
              <a:t> </a:t>
            </a:r>
            <a:r>
              <a:rPr lang="en-US" dirty="0" err="1"/>
              <a:t>aldık</a:t>
            </a:r>
            <a:r>
              <a:rPr lang="en-US" dirty="0"/>
              <a:t>? Hangi </a:t>
            </a:r>
            <a:r>
              <a:rPr lang="en-US" dirty="0" err="1"/>
              <a:t>alternatiflerden</a:t>
            </a:r>
            <a:r>
              <a:rPr lang="en-US" dirty="0"/>
              <a:t> </a:t>
            </a:r>
            <a:r>
              <a:rPr lang="en-US" dirty="0" err="1"/>
              <a:t>vazgeçtik</a:t>
            </a:r>
            <a:r>
              <a:rPr lang="en-US" dirty="0"/>
              <a:t>? </a:t>
            </a:r>
          </a:p>
          <a:p>
            <a:r>
              <a:rPr lang="en-US" b="1" dirty="0"/>
              <a:t>Guidance on looking after the system</a:t>
            </a:r>
            <a:r>
              <a:rPr lang="en-US" dirty="0"/>
              <a:t> </a:t>
            </a:r>
          </a:p>
          <a:p>
            <a:pPr lvl="1"/>
            <a:r>
              <a:rPr lang="en-US" dirty="0" err="1"/>
              <a:t>Sistemi</a:t>
            </a:r>
            <a:r>
              <a:rPr lang="en-US" dirty="0"/>
              <a:t> </a:t>
            </a:r>
            <a:r>
              <a:rPr lang="en-US" dirty="0" err="1"/>
              <a:t>ileride</a:t>
            </a:r>
            <a:r>
              <a:rPr lang="en-US" dirty="0"/>
              <a:t> </a:t>
            </a:r>
            <a:r>
              <a:rPr lang="en-US" dirty="0" err="1"/>
              <a:t>geliştirecek</a:t>
            </a:r>
            <a:r>
              <a:rPr lang="en-US" dirty="0"/>
              <a:t> </a:t>
            </a:r>
            <a:r>
              <a:rPr lang="en-US" dirty="0" err="1"/>
              <a:t>kişilere</a:t>
            </a:r>
            <a:r>
              <a:rPr lang="en-US" dirty="0"/>
              <a:t> </a:t>
            </a:r>
            <a:r>
              <a:rPr lang="en-US" dirty="0" err="1"/>
              <a:t>rehberlik</a:t>
            </a:r>
            <a:r>
              <a:rPr lang="en-US" dirty="0"/>
              <a:t>. </a:t>
            </a:r>
          </a:p>
          <a:p>
            <a:pPr lvl="1"/>
            <a:endParaRPr lang="en-US" dirty="0"/>
          </a:p>
          <a:p>
            <a:r>
              <a:rPr lang="en-US" dirty="0"/>
              <a:t>Yani artık </a:t>
            </a:r>
            <a:r>
              <a:rPr lang="en-US" dirty="0" err="1"/>
              <a:t>somut</a:t>
            </a:r>
            <a:r>
              <a:rPr lang="en-US" dirty="0"/>
              <a:t> </a:t>
            </a:r>
            <a:r>
              <a:rPr lang="en-US" dirty="0" err="1"/>
              <a:t>kararlar</a:t>
            </a:r>
            <a:r>
              <a:rPr lang="en-US" dirty="0"/>
              <a:t>:</a:t>
            </a:r>
          </a:p>
          <a:p>
            <a:r>
              <a:rPr lang="en-US" dirty="0"/>
              <a:t>PostgreSQL </a:t>
            </a:r>
            <a:r>
              <a:rPr lang="en-US" dirty="0" err="1"/>
              <a:t>seçtik</a:t>
            </a:r>
            <a:r>
              <a:rPr lang="en-US" dirty="0"/>
              <a:t>. </a:t>
            </a:r>
          </a:p>
          <a:p>
            <a:r>
              <a:rPr lang="en-US" dirty="0"/>
              <a:t>RabbitMQ </a:t>
            </a:r>
            <a:r>
              <a:rPr lang="en-US" dirty="0" err="1"/>
              <a:t>kullanıyoruz</a:t>
            </a:r>
            <a:r>
              <a:rPr lang="en-US" dirty="0"/>
              <a:t>. </a:t>
            </a:r>
          </a:p>
          <a:p>
            <a:r>
              <a:rPr lang="en-US" dirty="0"/>
              <a:t>Kubernetes </a:t>
            </a:r>
            <a:r>
              <a:rPr lang="en-US" dirty="0" err="1"/>
              <a:t>üzerinde</a:t>
            </a:r>
            <a:r>
              <a:rPr lang="en-US" dirty="0"/>
              <a:t> </a:t>
            </a:r>
            <a:r>
              <a:rPr lang="en-US" dirty="0" err="1"/>
              <a:t>çalışıyoruz</a:t>
            </a:r>
            <a:r>
              <a:rPr lang="en-US" dirty="0"/>
              <a:t>. </a:t>
            </a:r>
          </a:p>
          <a:p>
            <a:r>
              <a:rPr lang="en-US" dirty="0"/>
              <a:t>Microservice </a:t>
            </a:r>
            <a:r>
              <a:rPr lang="en-US" dirty="0" err="1"/>
              <a:t>yerine</a:t>
            </a:r>
            <a:r>
              <a:rPr lang="en-US" dirty="0"/>
              <a:t> Modular Monolith </a:t>
            </a:r>
            <a:r>
              <a:rPr lang="en-US" dirty="0" err="1"/>
              <a:t>seçtik</a:t>
            </a:r>
            <a:r>
              <a:rPr lang="en-US" dirty="0"/>
              <a:t>. </a:t>
            </a:r>
          </a:p>
          <a:p>
            <a:r>
              <a:rPr lang="en-US" dirty="0"/>
              <a:t>Angular </a:t>
            </a:r>
            <a:r>
              <a:rPr lang="en-US" dirty="0" err="1"/>
              <a:t>tercih</a:t>
            </a:r>
            <a:r>
              <a:rPr lang="en-US" dirty="0"/>
              <a:t> </a:t>
            </a:r>
            <a:r>
              <a:rPr lang="en-US" dirty="0" err="1"/>
              <a:t>ettik</a:t>
            </a:r>
            <a:r>
              <a:rPr lang="en-US" dirty="0"/>
              <a:t>. </a:t>
            </a:r>
          </a:p>
          <a:p>
            <a:r>
              <a:rPr lang="en-US" dirty="0" err="1"/>
              <a:t>Bunlar</a:t>
            </a:r>
            <a:r>
              <a:rPr lang="en-US" dirty="0"/>
              <a:t> </a:t>
            </a:r>
            <a:r>
              <a:rPr lang="en-US" dirty="0" err="1"/>
              <a:t>prensip</a:t>
            </a:r>
            <a:r>
              <a:rPr lang="en-US" dirty="0"/>
              <a:t> değil, </a:t>
            </a:r>
            <a:r>
              <a:rPr lang="en-US" dirty="0" err="1"/>
              <a:t>karardır</a:t>
            </a:r>
            <a:r>
              <a:rPr lang="en-US" dirty="0"/>
              <a:t>.</a:t>
            </a:r>
          </a:p>
          <a:p>
            <a:endParaRPr lang="en-US" dirty="0"/>
          </a:p>
          <a:p>
            <a:r>
              <a:rPr lang="en-US" b="1" dirty="0" err="1"/>
              <a:t>Konuşmacının</a:t>
            </a:r>
            <a:r>
              <a:rPr lang="en-US" b="1" dirty="0"/>
              <a:t> </a:t>
            </a:r>
            <a:r>
              <a:rPr lang="en-US" b="1" dirty="0" err="1"/>
              <a:t>vermek</a:t>
            </a:r>
            <a:r>
              <a:rPr lang="en-US" b="1" dirty="0"/>
              <a:t> </a:t>
            </a:r>
            <a:r>
              <a:rPr lang="en-US" b="1" dirty="0" err="1"/>
              <a:t>istediği</a:t>
            </a:r>
            <a:r>
              <a:rPr lang="en-US" b="1" dirty="0"/>
              <a:t> </a:t>
            </a:r>
            <a:r>
              <a:rPr lang="en-US" b="1" dirty="0" err="1"/>
              <a:t>mesaj</a:t>
            </a:r>
            <a:endParaRPr lang="en-US" b="1" dirty="0"/>
          </a:p>
          <a:p>
            <a:r>
              <a:rPr lang="en-US" dirty="0" err="1"/>
              <a:t>Çoğu</a:t>
            </a:r>
            <a:r>
              <a:rPr lang="en-US" dirty="0"/>
              <a:t> </a:t>
            </a:r>
            <a:r>
              <a:rPr lang="en-US" dirty="0" err="1"/>
              <a:t>ekip</a:t>
            </a:r>
            <a:r>
              <a:rPr lang="en-US" dirty="0"/>
              <a:t> sadece </a:t>
            </a:r>
            <a:r>
              <a:rPr lang="en-US" b="1" dirty="0" err="1"/>
              <a:t>kararları</a:t>
            </a:r>
            <a:r>
              <a:rPr lang="en-US" dirty="0"/>
              <a:t> </a:t>
            </a:r>
            <a:r>
              <a:rPr lang="en-US" dirty="0" err="1"/>
              <a:t>dokümante</a:t>
            </a:r>
            <a:r>
              <a:rPr lang="en-US" dirty="0"/>
              <a:t> </a:t>
            </a:r>
            <a:r>
              <a:rPr lang="en-US" dirty="0" err="1"/>
              <a:t>ediyor</a:t>
            </a:r>
            <a:r>
              <a:rPr lang="en-US" dirty="0"/>
              <a:t>:</a:t>
            </a:r>
          </a:p>
          <a:p>
            <a:r>
              <a:rPr lang="en-US" dirty="0" err="1"/>
              <a:t>Neden</a:t>
            </a:r>
            <a:r>
              <a:rPr lang="en-US" dirty="0"/>
              <a:t> Kafka? </a:t>
            </a:r>
          </a:p>
          <a:p>
            <a:r>
              <a:rPr lang="en-US" dirty="0" err="1"/>
              <a:t>Neden</a:t>
            </a:r>
            <a:r>
              <a:rPr lang="en-US" dirty="0"/>
              <a:t> Redis? </a:t>
            </a:r>
          </a:p>
          <a:p>
            <a:r>
              <a:rPr lang="en-US" dirty="0" err="1"/>
              <a:t>Neden</a:t>
            </a:r>
            <a:r>
              <a:rPr lang="en-US" dirty="0"/>
              <a:t> React? </a:t>
            </a:r>
          </a:p>
          <a:p>
            <a:r>
              <a:rPr lang="en-US" dirty="0"/>
              <a:t>Ama şu </a:t>
            </a:r>
            <a:r>
              <a:rPr lang="en-US" dirty="0" err="1"/>
              <a:t>soruyu</a:t>
            </a:r>
            <a:r>
              <a:rPr lang="en-US" dirty="0"/>
              <a:t> </a:t>
            </a:r>
            <a:r>
              <a:rPr lang="en-US" dirty="0" err="1"/>
              <a:t>cevaplamıyor</a:t>
            </a:r>
            <a:r>
              <a:rPr lang="en-US" dirty="0"/>
              <a:t>:</a:t>
            </a:r>
          </a:p>
          <a:p>
            <a:r>
              <a:rPr lang="en-US" b="1" dirty="0"/>
              <a:t>Bu </a:t>
            </a:r>
            <a:r>
              <a:rPr lang="en-US" b="1" dirty="0" err="1"/>
              <a:t>kararları</a:t>
            </a:r>
            <a:r>
              <a:rPr lang="en-US" b="1" dirty="0"/>
              <a:t> hangi </a:t>
            </a:r>
            <a:r>
              <a:rPr lang="en-US" b="1" dirty="0" err="1"/>
              <a:t>prensiplere</a:t>
            </a:r>
            <a:r>
              <a:rPr lang="en-US" b="1" dirty="0"/>
              <a:t> göre </a:t>
            </a:r>
            <a:r>
              <a:rPr lang="en-US" b="1" dirty="0" err="1"/>
              <a:t>aldık</a:t>
            </a:r>
            <a:r>
              <a:rPr lang="en-US" b="1" dirty="0"/>
              <a:t>?</a:t>
            </a:r>
            <a:endParaRPr lang="en-US" dirty="0"/>
          </a:p>
          <a:p>
            <a:endParaRPr lang="en-US" dirty="0"/>
          </a:p>
          <a:p>
            <a:endParaRPr lang="en-US" dirty="0"/>
          </a:p>
        </p:txBody>
      </p:sp>
    </p:spTree>
  </p:cSld>
  <p:clrMapOvr>
    <a:overrideClrMapping bg1="lt1" tx1="dk1" bg2="lt2" tx2="dk2" accent1="accent1" accent2="accent2" accent3="accent3" accent4="accent4" accent5="accent5" accent6="accent6" hlink="hlink" folHlink="folHlink"/>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tr-TR" dirty="0"/>
              <a:t>ADR, yani Architecture Decision Record, önemli bir teknik kararı, neden alındığını ve sonuçlarının ne olduğunu açıklayan kısa bir dokümandır.</a:t>
            </a:r>
          </a:p>
          <a:p>
            <a:r>
              <a:rPr lang="tr-TR" dirty="0"/>
              <a:t>Şöyle özetlenebilir: kod size sistemin ne yaptığını söyler; ADR ise neden öyle tasarlandığını anlatır.</a:t>
            </a:r>
          </a:p>
          <a:p>
            <a:r>
              <a:rPr lang="tr-TR" dirty="0"/>
              <a:t>.NET ekipleri için bu çok pratik: AI; backend servisleri, kimlik, veri erişimi ve bulut entegrasyonu gibi sağlam temellerin üzerine oturabilir ama bu temelleri asla atlamamalı. </a:t>
            </a:r>
          </a:p>
        </p:txBody>
      </p:sp>
    </p:spTree>
  </p:cSld>
  <p:clrMapOvr>
    <a:overrideClrMapping bg1="lt1" tx1="dk1" bg2="lt2" tx2="dk2" accent1="accent1" accent2="accent2" accent3="accent3" accent4="accent4" accent5="accent5" accent6="accent6" hlink="hlink" folHlink="folHlink"/>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2EC1E-0139-F19B-854C-61503A180280}"/>
            </a:ext>
          </a:extLst>
        </p:cNvPr>
        <p:cNvGrpSpPr/>
        <p:nvPr/>
      </p:nvGrpSpPr>
      <p:grpSpPr>
        <a:xfrm>
          <a:off x="0" y="0"/>
          <a:ext cx="0" cy="0"/>
          <a:chOff x="0" y="0"/>
          <a:chExt cx="0" cy="0"/>
        </a:xfrm>
      </p:grpSpPr>
      <p:sp>
        <p:nvSpPr>
          <p:cNvPr id="2" name="Notes Placeholder 1">
            <a:extLst>
              <a:ext uri="{FF2B5EF4-FFF2-40B4-BE49-F238E27FC236}">
                <a16:creationId xmlns:a16="http://schemas.microsoft.com/office/drawing/2014/main" id="{3A445217-ABD0-43A7-9332-9A1332A2BA77}"/>
              </a:ext>
            </a:extLst>
          </p:cNvPr>
          <p:cNvSpPr>
            <a:spLocks noGrp="1"/>
          </p:cNvSpPr>
          <p:nvPr>
            <p:ph type="body" idx="1"/>
          </p:nvPr>
        </p:nvSpPr>
        <p:spPr/>
        <p:txBody>
          <a:bodyPr/>
          <a:lstStyle/>
          <a:p>
            <a:r>
              <a:rPr lang="en-US" dirty="0"/>
              <a:t>Mimari </a:t>
            </a:r>
            <a:r>
              <a:rPr lang="en-US" dirty="0" err="1"/>
              <a:t>prensipler</a:t>
            </a:r>
            <a:r>
              <a:rPr lang="en-US" dirty="0"/>
              <a:t> </a:t>
            </a:r>
            <a:r>
              <a:rPr lang="en-US" dirty="0" err="1"/>
              <a:t>rastgele</a:t>
            </a:r>
            <a:r>
              <a:rPr lang="en-US" dirty="0"/>
              <a:t> </a:t>
            </a:r>
            <a:r>
              <a:rPr lang="en-US" dirty="0" err="1"/>
              <a:t>ortaya</a:t>
            </a:r>
            <a:r>
              <a:rPr lang="en-US" dirty="0"/>
              <a:t> </a:t>
            </a:r>
            <a:r>
              <a:rPr lang="en-US" dirty="0" err="1"/>
              <a:t>çıkmaz</a:t>
            </a:r>
            <a:r>
              <a:rPr lang="en-US" dirty="0"/>
              <a:t>. Bir </a:t>
            </a:r>
            <a:r>
              <a:rPr lang="en-US" dirty="0" err="1"/>
              <a:t>projenin</a:t>
            </a:r>
            <a:r>
              <a:rPr lang="en-US" dirty="0"/>
              <a:t> </a:t>
            </a:r>
            <a:r>
              <a:rPr lang="en-US" dirty="0" err="1"/>
              <a:t>hedeflerinden</a:t>
            </a:r>
            <a:r>
              <a:rPr lang="en-US" dirty="0"/>
              <a:t>, </a:t>
            </a:r>
            <a:r>
              <a:rPr lang="en-US" dirty="0" err="1"/>
              <a:t>sektörün</a:t>
            </a:r>
            <a:r>
              <a:rPr lang="en-US" dirty="0"/>
              <a:t> </a:t>
            </a:r>
            <a:r>
              <a:rPr lang="en-US" dirty="0" err="1"/>
              <a:t>gereksinimlerinden</a:t>
            </a:r>
            <a:r>
              <a:rPr lang="en-US" dirty="0"/>
              <a:t>, </a:t>
            </a:r>
            <a:r>
              <a:rPr lang="en-US" dirty="0" err="1"/>
              <a:t>ekipteki</a:t>
            </a:r>
            <a:r>
              <a:rPr lang="en-US" dirty="0"/>
              <a:t> </a:t>
            </a:r>
            <a:r>
              <a:rPr lang="en-US" dirty="0" err="1"/>
              <a:t>deneyimli</a:t>
            </a:r>
            <a:r>
              <a:rPr lang="en-US" dirty="0"/>
              <a:t> </a:t>
            </a:r>
            <a:r>
              <a:rPr lang="en-US" dirty="0" err="1"/>
              <a:t>kişilerin</a:t>
            </a:r>
            <a:r>
              <a:rPr lang="en-US" dirty="0"/>
              <a:t> </a:t>
            </a:r>
            <a:r>
              <a:rPr lang="en-US" dirty="0" err="1"/>
              <a:t>bilgisinden</a:t>
            </a:r>
            <a:r>
              <a:rPr lang="en-US" dirty="0"/>
              <a:t> ve </a:t>
            </a:r>
            <a:r>
              <a:rPr lang="en-US" dirty="0" err="1"/>
              <a:t>geçmişte</a:t>
            </a:r>
            <a:r>
              <a:rPr lang="en-US" dirty="0"/>
              <a:t> </a:t>
            </a:r>
            <a:r>
              <a:rPr lang="en-US" dirty="0" err="1"/>
              <a:t>yaşanan</a:t>
            </a:r>
            <a:r>
              <a:rPr lang="en-US" dirty="0"/>
              <a:t> </a:t>
            </a:r>
            <a:r>
              <a:rPr lang="en-US" dirty="0" err="1"/>
              <a:t>hatalardan</a:t>
            </a:r>
            <a:r>
              <a:rPr lang="en-US" dirty="0"/>
              <a:t> </a:t>
            </a:r>
            <a:r>
              <a:rPr lang="en-US" dirty="0" err="1"/>
              <a:t>doğar</a:t>
            </a:r>
            <a:r>
              <a:rPr lang="en-US" dirty="0"/>
              <a:t>.</a:t>
            </a:r>
          </a:p>
          <a:p>
            <a:endParaRPr lang="en-US" dirty="0"/>
          </a:p>
          <a:p>
            <a:r>
              <a:rPr lang="en-US" b="1" dirty="0"/>
              <a:t>İyi </a:t>
            </a:r>
            <a:r>
              <a:rPr lang="en-US" b="1" dirty="0" err="1"/>
              <a:t>mimari</a:t>
            </a:r>
            <a:r>
              <a:rPr lang="en-US" b="1" dirty="0"/>
              <a:t> </a:t>
            </a:r>
            <a:r>
              <a:rPr lang="en-US" b="1" dirty="0" err="1"/>
              <a:t>prensipler</a:t>
            </a:r>
            <a:r>
              <a:rPr lang="en-US" b="1" dirty="0"/>
              <a:t> </a:t>
            </a:r>
            <a:r>
              <a:rPr lang="en-US" b="1" dirty="0" err="1"/>
              <a:t>kişisel</a:t>
            </a:r>
            <a:r>
              <a:rPr lang="en-US" b="1" dirty="0"/>
              <a:t> </a:t>
            </a:r>
            <a:r>
              <a:rPr lang="en-US" b="1" dirty="0" err="1"/>
              <a:t>tercihler</a:t>
            </a:r>
            <a:r>
              <a:rPr lang="en-US" b="1" dirty="0"/>
              <a:t> </a:t>
            </a:r>
            <a:r>
              <a:rPr lang="en-US" b="1" dirty="0" err="1"/>
              <a:t>değildir</a:t>
            </a:r>
            <a:r>
              <a:rPr lang="en-US" b="1" dirty="0"/>
              <a:t>. </a:t>
            </a:r>
            <a:r>
              <a:rPr lang="en-US" b="1" dirty="0" err="1"/>
              <a:t>Şunların</a:t>
            </a:r>
            <a:r>
              <a:rPr lang="en-US" b="1" dirty="0"/>
              <a:t> </a:t>
            </a:r>
            <a:r>
              <a:rPr lang="en-US" b="1" dirty="0" err="1"/>
              <a:t>birleşiminden</a:t>
            </a:r>
            <a:r>
              <a:rPr lang="en-US" b="1" dirty="0"/>
              <a:t> </a:t>
            </a:r>
            <a:r>
              <a:rPr lang="en-US" b="1" dirty="0" err="1"/>
              <a:t>oluşur</a:t>
            </a:r>
            <a:r>
              <a:rPr lang="en-US" b="1" dirty="0"/>
              <a:t>:</a:t>
            </a:r>
          </a:p>
          <a:p>
            <a:r>
              <a:rPr lang="en-US" dirty="0"/>
              <a:t>İş </a:t>
            </a:r>
            <a:r>
              <a:rPr lang="en-US" dirty="0" err="1"/>
              <a:t>hedefleri</a:t>
            </a:r>
            <a:r>
              <a:rPr lang="en-US" dirty="0"/>
              <a:t> ve </a:t>
            </a:r>
            <a:r>
              <a:rPr lang="en-US" dirty="0" err="1"/>
              <a:t>gereksinimler</a:t>
            </a:r>
            <a:endParaRPr lang="en-US" dirty="0"/>
          </a:p>
          <a:p>
            <a:r>
              <a:rPr lang="en-US" dirty="0" err="1"/>
              <a:t>Sektör</a:t>
            </a:r>
            <a:r>
              <a:rPr lang="en-US" dirty="0"/>
              <a:t> </a:t>
            </a:r>
            <a:r>
              <a:rPr lang="en-US" dirty="0" err="1"/>
              <a:t>standartları</a:t>
            </a:r>
            <a:r>
              <a:rPr lang="en-US" dirty="0"/>
              <a:t> ve </a:t>
            </a:r>
            <a:r>
              <a:rPr lang="en-US" dirty="0" err="1"/>
              <a:t>regülasyonlar</a:t>
            </a:r>
            <a:endParaRPr lang="en-US" dirty="0"/>
          </a:p>
          <a:p>
            <a:r>
              <a:rPr lang="en-US" dirty="0" err="1"/>
              <a:t>Deneyimli</a:t>
            </a:r>
            <a:r>
              <a:rPr lang="en-US" dirty="0"/>
              <a:t> </a:t>
            </a:r>
            <a:r>
              <a:rPr lang="en-US" dirty="0" err="1"/>
              <a:t>teknik</a:t>
            </a:r>
            <a:r>
              <a:rPr lang="en-US" dirty="0"/>
              <a:t> </a:t>
            </a:r>
            <a:r>
              <a:rPr lang="en-US" dirty="0" err="1"/>
              <a:t>liderlerin</a:t>
            </a:r>
            <a:r>
              <a:rPr lang="en-US" dirty="0"/>
              <a:t> </a:t>
            </a:r>
            <a:r>
              <a:rPr lang="en-US" dirty="0" err="1"/>
              <a:t>bilgi</a:t>
            </a:r>
            <a:r>
              <a:rPr lang="en-US" dirty="0"/>
              <a:t> </a:t>
            </a:r>
            <a:r>
              <a:rPr lang="en-US" dirty="0" err="1"/>
              <a:t>birikimi</a:t>
            </a:r>
            <a:endParaRPr lang="en-US" dirty="0"/>
          </a:p>
          <a:p>
            <a:r>
              <a:rPr lang="en-US" dirty="0" err="1"/>
              <a:t>Geçmişte</a:t>
            </a:r>
            <a:r>
              <a:rPr lang="en-US" dirty="0"/>
              <a:t> </a:t>
            </a:r>
            <a:r>
              <a:rPr lang="en-US" dirty="0" err="1"/>
              <a:t>yaşanan</a:t>
            </a:r>
            <a:r>
              <a:rPr lang="en-US" dirty="0"/>
              <a:t> </a:t>
            </a:r>
            <a:r>
              <a:rPr lang="en-US" dirty="0" err="1"/>
              <a:t>hatalardan</a:t>
            </a:r>
            <a:r>
              <a:rPr lang="en-US" dirty="0"/>
              <a:t> </a:t>
            </a:r>
            <a:r>
              <a:rPr lang="en-US" dirty="0" err="1"/>
              <a:t>çıkarılan</a:t>
            </a:r>
            <a:r>
              <a:rPr lang="en-US" dirty="0"/>
              <a:t> </a:t>
            </a:r>
            <a:r>
              <a:rPr lang="en-US" dirty="0" err="1"/>
              <a:t>dersler</a:t>
            </a:r>
            <a:endParaRPr lang="en-US" dirty="0"/>
          </a:p>
          <a:p>
            <a:endParaRPr lang="tr-TR" b="1" dirty="0"/>
          </a:p>
        </p:txBody>
      </p:sp>
    </p:spTree>
    <p:extLst>
      <p:ext uri="{BB962C8B-B14F-4D97-AF65-F5344CB8AC3E}">
        <p14:creationId xmlns:p14="http://schemas.microsoft.com/office/powerpoint/2010/main" val="2064542027"/>
      </p:ext>
    </p:extLst>
  </p:cSld>
  <p:clrMapOvr>
    <a:overrideClrMapping bg1="lt1" tx1="dk1" bg2="lt2" tx2="dk2" accent1="accent1" accent2="accent2" accent3="accent3" accent4="accent4" accent5="accent5" accent6="accent6" hlink="hlink" folHlink="folHlink"/>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endParaRPr lang="tr-TR" dirty="0"/>
          </a:p>
        </p:txBody>
      </p:sp>
    </p:spTree>
  </p:cSld>
  <p:clrMapOvr>
    <a:overrideClrMapping bg1="lt1" tx1="dk1" bg2="lt2" tx2="dk2" accent1="accent1" accent2="accent2" accent3="accent3" accent4="accent4" accent5="accent5" accent6="accent6" hlink="hlink" folHlink="folHlink"/>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1. </a:t>
            </a:r>
            <a:r>
              <a:rPr lang="tr-TR" dirty="0"/>
              <a:t>arayüz ne kadar doğallaşırsa izinler, bağlam ve izin verilen eylemler o kadar önemli olur.</a:t>
            </a:r>
            <a:endParaRPr lang="en-US" dirty="0"/>
          </a:p>
          <a:p>
            <a:r>
              <a:rPr lang="en-US" dirty="0"/>
              <a:t>2. </a:t>
            </a:r>
            <a:r>
              <a:rPr lang="tr-TR" dirty="0"/>
              <a:t>kullanıcılar menülerde kaybolmak değil, doğrudan yanıt istiyor.</a:t>
            </a:r>
            <a:r>
              <a:rPr lang="en-US" dirty="0"/>
              <a:t> </a:t>
            </a:r>
            <a:r>
              <a:rPr lang="en-US" dirty="0" err="1"/>
              <a:t>Fakat</a:t>
            </a:r>
            <a:r>
              <a:rPr lang="en-US" dirty="0"/>
              <a:t> burada </a:t>
            </a:r>
            <a:r>
              <a:rPr lang="en-US" dirty="0" err="1"/>
              <a:t>kritik</a:t>
            </a:r>
            <a:r>
              <a:rPr lang="en-US" dirty="0"/>
              <a:t> </a:t>
            </a:r>
            <a:r>
              <a:rPr lang="en-US" dirty="0" err="1"/>
              <a:t>nokta</a:t>
            </a:r>
            <a:r>
              <a:rPr lang="en-US" dirty="0"/>
              <a:t> </a:t>
            </a:r>
            <a:r>
              <a:rPr lang="en-US" dirty="0" err="1"/>
              <a:t>ürünün</a:t>
            </a:r>
            <a:r>
              <a:rPr lang="en-US" dirty="0"/>
              <a:t> UI ne </a:t>
            </a:r>
            <a:r>
              <a:rPr lang="en-US" dirty="0" err="1"/>
              <a:t>kadar</a:t>
            </a:r>
            <a:r>
              <a:rPr lang="en-US" dirty="0"/>
              <a:t> </a:t>
            </a:r>
            <a:r>
              <a:rPr lang="en-US" dirty="0" err="1"/>
              <a:t>karmaşık</a:t>
            </a:r>
            <a:r>
              <a:rPr lang="en-US" dirty="0"/>
              <a:t> ve ne </a:t>
            </a:r>
            <a:r>
              <a:rPr lang="en-US" dirty="0" err="1"/>
              <a:t>kadar</a:t>
            </a:r>
            <a:r>
              <a:rPr lang="en-US" dirty="0"/>
              <a:t> </a:t>
            </a:r>
            <a:r>
              <a:rPr lang="en-US" dirty="0" err="1"/>
              <a:t>sık</a:t>
            </a:r>
            <a:r>
              <a:rPr lang="en-US" dirty="0"/>
              <a:t> </a:t>
            </a:r>
            <a:r>
              <a:rPr lang="en-US" dirty="0" err="1"/>
              <a:t>kullanıldığı</a:t>
            </a:r>
            <a:r>
              <a:rPr lang="en-US" dirty="0"/>
              <a:t>.</a:t>
            </a:r>
            <a:endParaRPr lang="tr-TR" dirty="0"/>
          </a:p>
          <a:p>
            <a:r>
              <a:rPr lang="en-US" dirty="0"/>
              <a:t>3.</a:t>
            </a:r>
            <a:r>
              <a:rPr lang="tr-TR" dirty="0"/>
              <a:t> AI teslimatı hızlandırabilir ama ürün kısıtlarını, güvenlik gereksinimlerini ve organizasyonel karmaşıklığı kaldırmaz. Hesap makinesi icat edildiğinde de problem çözmenin bittiği düşünülmedi; insanlar hesaplamaya değil, problemi çözmeye daha çok zaman ayırmaya başladı.</a:t>
            </a:r>
          </a:p>
          <a:p>
            <a:r>
              <a:rPr lang="en-US" dirty="0"/>
              <a:t>4.</a:t>
            </a:r>
            <a:r>
              <a:rPr lang="tr-TR" dirty="0"/>
              <a:t> ilkeler, ADR'ler ve ödünleşimler ekibin gerekçesini korur.</a:t>
            </a:r>
          </a:p>
          <a:p>
            <a:r>
              <a:rPr lang="en-US" dirty="0"/>
              <a:t>5. </a:t>
            </a:r>
            <a:r>
              <a:rPr lang="tr-TR" dirty="0"/>
              <a:t>konferanslar hâlâ önemli; bir oturum sonrası koridor sohbeti bazen koca bir makaleden daha çok şey öğretir ve aynı zamanda bir motivasyon ve sosyalleşme yoludur.</a:t>
            </a:r>
          </a:p>
        </p:txBody>
      </p:sp>
    </p:spTree>
  </p:cSld>
  <p:clrMapOvr>
    <a:overrideClrMapping bg1="lt1" tx1="dk1" bg2="lt2" tx2="dk2" accent1="accent1" accent2="accent2" accent3="accent3" accent4="accent4" accent5="accent5" accent6="accent6" hlink="hlink" folHlink="folHlink"/>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tr-TR" dirty="0"/>
              <a:t>Konferans dışında Toledo ve Madrid'in en önemli turistik yerlerini ve müzelerini gezdim; İspanyol kültürünü ve yaşam tarzını çok daha iyi tanıdım.</a:t>
            </a:r>
          </a:p>
          <a:p>
            <a:r>
              <a:rPr lang="tr-TR" dirty="0"/>
              <a:t>Ama benim için en etkileyici an şuydu. Bildiğiniz gibi ben Türk'üm; atalarım Anadolu'ya gelen Osmanlılar. 1571'de Osmanlı; İspanya, Ceneviz, Malta ve İtalya ile savaştı. Bu, Yunanistan yakınlarındaki denizde gerçekleşen İnebahtı (Lepanto) Deniz Savaşı'ydı.</a:t>
            </a:r>
          </a:p>
          <a:p>
            <a:r>
              <a:rPr lang="tr-TR" dirty="0"/>
              <a:t>Osmanlı donanmasının başında, Kaptan-ı Derya dediğimiz en üst düzey deniz komutanı Ali Paşa vardı ve bu savaşta şehit oldu. Karşı tarafta dönemin en güçlü Avrupa güçleri vardı: İspanya, Venedik, Papalık, Ceneviz, Malta Şövalyeleri ve İtalya. Bu, kürekli savaş gemileriyle yapılan son büyük deniz savaşı olarak tarihe geçti.</a:t>
            </a:r>
          </a:p>
          <a:p>
            <a:r>
              <a:rPr lang="tr-TR" dirty="0"/>
              <a:t>Osmanlı bu savaşı kaybetti. Sokollu Mehmed Paşa'nın ünlü sözü buradan gelir: 'Siz bizim sakalımızı kestiniz ama biz sizin kolunuzu kestik; sakal yeniden uzar.' Ali Paşa'nın eşyaları bugün Madrid Kraliyet Sarayı'nın Cephanelik bölümünde sergileniyor; ilk gördüğümde 15-20 dakika önünde durup sadece baktım.</a:t>
            </a:r>
          </a:p>
        </p:txBody>
      </p:sp>
    </p:spTree>
  </p:cSld>
  <p:clrMapOvr>
    <a:overrideClrMapping bg1="lt1" tx1="dk1" bg2="lt2" tx2="dk2" accent1="accent1" accent2="accent2" accent3="accent3" accent4="accent4" accent5="accent5" accent6="accent6" hlink="hlink" folHlink="folHlink"/>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tr-TR" dirty="0"/>
              <a:t>Bu, Kaptan-ı Derya Ali Paşa'nın miğferi. Üzerinde Kuran'dan ayetler işli; bu ayetlerin onu düşmandan koruduğuna inanılarak işlenmiş.</a:t>
            </a:r>
          </a:p>
          <a:p>
            <a:r>
              <a:rPr lang="tr-TR" dirty="0"/>
              <a:t>Miğferin üzerinde savaşın izleri görülüyor: bir kılıç darbesi ve balta benzeri sert bir cisimle kafaya inen bir darbe izi var.</a:t>
            </a:r>
          </a:p>
          <a:p>
            <a:r>
              <a:rPr lang="tr-TR" dirty="0"/>
              <a:t>Ali Paşa bu savaşta hayatını kaybetti. İlk gördüğümde uzun süre önünde durup bu detayları inceledim.</a:t>
            </a:r>
          </a:p>
        </p:txBody>
      </p:sp>
    </p:spTree>
  </p:cSld>
  <p:clrMapOvr>
    <a:overrideClrMapping bg1="lt1" tx1="dk1" bg2="lt2" tx2="dk2" accent1="accent1" accent2="accent2" accent3="accent3" accent4="accent4" accent5="accent5" accent6="accent6" hlink="hlink" folHlink="folHlink"/>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tr-TR" dirty="0"/>
              <a:t>Bunlar da Ali Paşa'dan alınan savaş ganimetleri. Soldan sağa: Ali Paşa'nın işlemeli kılıcı; etrafı hasır, ortası demir, tam 450 yaşında bir Osmanlı kalkanı; ve ayet işlemeli bir kol zırhı.</a:t>
            </a:r>
          </a:p>
          <a:p>
            <a:r>
              <a:rPr lang="tr-TR" dirty="0"/>
              <a:t>Tüm bu savaş ekipmanının üzerinde Kuran'dan ayetler yazıyor — bu ayetler, sahibini düşmandan koruduğu inancıyla işlenmiş. Kalkanın üzerinde ateşli silah ya da topuz, bir de savaş çekiciyle vurulmuş olabilecek izler var.</a:t>
            </a:r>
          </a:p>
          <a:p>
            <a:r>
              <a:rPr lang="tr-TR" dirty="0"/>
              <a:t>İspanya'da bu savaşa 'Hristiyanlığın Savunması' deniyor ve bu ganimetler yıllarca sembol olarak kullanılmış.</a:t>
            </a:r>
          </a:p>
        </p:txBody>
      </p:sp>
    </p:spTree>
  </p:cSld>
  <p:clrMapOvr>
    <a:overrideClrMapping bg1="lt1" tx1="dk1" bg2="lt2" tx2="dk2" accent1="accent1" accent2="accent2" accent3="accent3" accent4="accent4" accent5="accent5" accent6="accent6" hlink="hlink" folHlink="folHlink"/>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tr-TR" dirty="0"/>
              <a:t>İnebahtı Savaşı'nın az bilinen güzel bir detayı daha var. Ünlü Don Kişot romanının yazarı Miguel de Cervantes de bu savaşa katılmış.</a:t>
            </a:r>
          </a:p>
          <a:p>
            <a:r>
              <a:rPr lang="tr-TR" dirty="0"/>
              <a:t>Çatışma sırasında İspanyol gemisi Marquesa'da görev yapıyormuş ve ateşi olmasına rağmen savaşa katılmakta ısrar etmiş.</a:t>
            </a:r>
          </a:p>
          <a:p>
            <a:r>
              <a:rPr lang="tr-TR" dirty="0"/>
              <a:t>Osmanlı kuvvetleri Cervantes'i göğsünden ve sol kolundan yaralamış; bunun sonucunda sol elini büyük ölçüde kullanamaz hale gelmiş.</a:t>
            </a:r>
          </a:p>
          <a:p>
            <a:r>
              <a:rPr lang="tr-TR" dirty="0"/>
              <a:t>Bu yüzden de 'El manco de Lepanto', yani 'Lepanto'nun tek elli kahramanı' olarak anılmış.</a:t>
            </a:r>
          </a:p>
        </p:txBody>
      </p:sp>
    </p:spTree>
  </p:cSld>
  <p:clrMapOvr>
    <a:overrideClrMapping bg1="lt1" tx1="dk1" bg2="lt2" tx2="dk2" accent1="accent1" accent2="accent2" accent3="accent3" accent4="accent4" accent5="accent5" accent6="accent6" hlink="hlink" folHlink="folHlink"/>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tr-TR" dirty="0"/>
              <a:t>Toledo'da gerçek bir matadorla tanıştım ve onunla konuştuktan sonra bu konudaki bakış açım kökten değişti.</a:t>
            </a:r>
          </a:p>
          <a:p>
            <a:r>
              <a:rPr lang="tr-TR" dirty="0"/>
              <a:t>Dışarıdan sadece 'vahşi bir gösteri' gibi görünüyor; ama arkasında şaşırtıcı derecede derin bir felsefe var. </a:t>
            </a:r>
            <a:endParaRPr lang="en-US" dirty="0"/>
          </a:p>
          <a:p>
            <a:r>
              <a:rPr lang="tr-TR" dirty="0"/>
              <a:t>Boğalar aslında kırmızıya tepki vermiyor, çünkü renk körüler; onları tetikleyen pelerinin rengi değil, hareketi.</a:t>
            </a:r>
          </a:p>
          <a:p>
            <a:r>
              <a:rPr lang="tr-TR" dirty="0"/>
              <a:t>Seçilen boğa özel ve vahşi bir cins; arenaya girene kadar neredeyse hiç insan görmemiş oluyor. </a:t>
            </a:r>
            <a:endParaRPr lang="en-US" dirty="0"/>
          </a:p>
          <a:p>
            <a:r>
              <a:rPr lang="tr-TR" dirty="0"/>
              <a:t>En büyük onur hayatta kalmak: boğa olağanüstü asalet gösterirse seyirci beyaz mendil sallayıp affedilmesini istiyor ve o boğa ömrünü çiftlikte kral gibi geçiriyor.</a:t>
            </a:r>
          </a:p>
          <a:p>
            <a:r>
              <a:rPr lang="tr-TR" dirty="0"/>
              <a:t>Matadorlar bunu bir spor değil, ölümle yüzleşme biçimi olarak görüyor; en kritik darbede kendi canını da riske atmak, boğayı arkadan değil yüz yüze karşılamak zorunda. </a:t>
            </a:r>
            <a:endParaRPr lang="en-US" dirty="0"/>
          </a:p>
          <a:p>
            <a:r>
              <a:rPr lang="tr-TR" dirty="0"/>
              <a:t>Tartışmalı bir konu; ama ilk ağızdan dinlemek bakış açımı epeyce değiştirdi.</a:t>
            </a:r>
          </a:p>
        </p:txBody>
      </p:sp>
    </p:spTree>
  </p:cSld>
  <p:clrMapOvr>
    <a:overrideClrMapping bg1="lt1" tx1="dk1" bg2="lt2" tx2="dk2" accent1="accent1" accent2="accent2" accent3="accent3" accent4="accent4" accent5="accent5" accent6="accent6" hlink="hlink" folHlink="folHlink"/>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tr-TR" dirty="0"/>
              <a:t>Convex 2026'dan ve İspanya'dan yeni fikirler, faydalı geri bildirimler ve şu güçlü inançla ayrıldım: kurumsal AI'ın bir sonraki aşaması, etkileyici demolardan çok güvenilir sistemlerle ilgili olacak.</a:t>
            </a:r>
          </a:p>
          <a:p>
            <a:r>
              <a:rPr lang="tr-TR" dirty="0"/>
              <a:t>Benim için en ilginç AI özellikleri sihirli görünenler değil; gerçek bir sorunu sessizc</a:t>
            </a:r>
            <a:r>
              <a:rPr lang="en-US" dirty="0"/>
              <a:t>b</a:t>
            </a:r>
            <a:r>
              <a:rPr lang="tr-TR" dirty="0"/>
              <a:t>e çözen, etrafındaki mimariye saygı duyan ve kullanıcıların daha iyi kararlar vermesine yardımcı olan özellikler.</a:t>
            </a:r>
          </a:p>
          <a:p>
            <a:r>
              <a:rPr lang="tr-TR" dirty="0"/>
              <a:t>Convex organizatörlerine, konuşmacılara ve oturumuma katılan ya da sonrasında sohbeti sürdüren herkese teşekkür ederim. Madrid; AI, .NET, mimari ve kurumsal yazılımın geleceği üzerine konuşmak için harika bir yerdi.</a:t>
            </a:r>
          </a:p>
          <a:p>
            <a:r>
              <a:rPr lang="tr-TR" dirty="0"/>
              <a:t>Beni dinlediğiniz için teşekkürler — sorularınız varsa memnuniyetle alırım.</a:t>
            </a:r>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7E4E7-DB77-C735-A907-4CB513F16F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D37377D-7A06-D744-5EDA-ADFE9DF316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2A4CD21-D44C-8374-7E50-73BC31457EBD}"/>
              </a:ext>
            </a:extLst>
          </p:cNvPr>
          <p:cNvSpPr>
            <a:spLocks noGrp="1"/>
          </p:cNvSpPr>
          <p:nvPr>
            <p:ph type="dt" sz="half" idx="10"/>
          </p:nvPr>
        </p:nvSpPr>
        <p:spPr/>
        <p:txBody>
          <a:bodyPr/>
          <a:lstStyle/>
          <a:p>
            <a:fld id="{DD892E2A-4999-462C-A81E-6D26EFEB5B67}" type="datetimeFigureOut">
              <a:rPr lang="en-US" smtClean="0"/>
              <a:t>6/29/2026</a:t>
            </a:fld>
            <a:endParaRPr lang="en-US"/>
          </a:p>
        </p:txBody>
      </p:sp>
      <p:sp>
        <p:nvSpPr>
          <p:cNvPr id="5" name="Footer Placeholder 4">
            <a:extLst>
              <a:ext uri="{FF2B5EF4-FFF2-40B4-BE49-F238E27FC236}">
                <a16:creationId xmlns:a16="http://schemas.microsoft.com/office/drawing/2014/main" id="{BBA71FD1-A0E2-849F-22A2-5DC191421C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6EBBFE-533A-E157-828B-BE0679094E5C}"/>
              </a:ext>
            </a:extLst>
          </p:cNvPr>
          <p:cNvSpPr>
            <a:spLocks noGrp="1"/>
          </p:cNvSpPr>
          <p:nvPr>
            <p:ph type="sldNum" sz="quarter" idx="12"/>
          </p:nvPr>
        </p:nvSpPr>
        <p:spPr/>
        <p:txBody>
          <a:bodyPr/>
          <a:lstStyle/>
          <a:p>
            <a:fld id="{28C75BDE-5C61-4C6E-8D43-B00E9C80FEDD}" type="slidenum">
              <a:rPr lang="en-US" smtClean="0"/>
              <a:t>‹#›</a:t>
            </a:fld>
            <a:endParaRPr lang="en-US"/>
          </a:p>
        </p:txBody>
      </p:sp>
    </p:spTree>
    <p:extLst>
      <p:ext uri="{BB962C8B-B14F-4D97-AF65-F5344CB8AC3E}">
        <p14:creationId xmlns:p14="http://schemas.microsoft.com/office/powerpoint/2010/main" val="2730592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51273-72F4-05F3-BADA-B4D45E1D44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E7EC9B-C674-7BEA-8239-FC3A99CB08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15A2F9-7B7E-CB9D-A201-800F4D220EB4}"/>
              </a:ext>
            </a:extLst>
          </p:cNvPr>
          <p:cNvSpPr>
            <a:spLocks noGrp="1"/>
          </p:cNvSpPr>
          <p:nvPr>
            <p:ph type="dt" sz="half" idx="10"/>
          </p:nvPr>
        </p:nvSpPr>
        <p:spPr/>
        <p:txBody>
          <a:bodyPr/>
          <a:lstStyle/>
          <a:p>
            <a:fld id="{DD892E2A-4999-462C-A81E-6D26EFEB5B67}" type="datetimeFigureOut">
              <a:rPr lang="en-US" smtClean="0"/>
              <a:t>6/29/2026</a:t>
            </a:fld>
            <a:endParaRPr lang="en-US"/>
          </a:p>
        </p:txBody>
      </p:sp>
      <p:sp>
        <p:nvSpPr>
          <p:cNvPr id="5" name="Footer Placeholder 4">
            <a:extLst>
              <a:ext uri="{FF2B5EF4-FFF2-40B4-BE49-F238E27FC236}">
                <a16:creationId xmlns:a16="http://schemas.microsoft.com/office/drawing/2014/main" id="{E2A18A57-8C63-9E28-3E93-210877AC47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08EED8-0752-0F20-19F7-355988B45927}"/>
              </a:ext>
            </a:extLst>
          </p:cNvPr>
          <p:cNvSpPr>
            <a:spLocks noGrp="1"/>
          </p:cNvSpPr>
          <p:nvPr>
            <p:ph type="sldNum" sz="quarter" idx="12"/>
          </p:nvPr>
        </p:nvSpPr>
        <p:spPr/>
        <p:txBody>
          <a:bodyPr/>
          <a:lstStyle/>
          <a:p>
            <a:fld id="{28C75BDE-5C61-4C6E-8D43-B00E9C80FEDD}" type="slidenum">
              <a:rPr lang="en-US" smtClean="0"/>
              <a:t>‹#›</a:t>
            </a:fld>
            <a:endParaRPr lang="en-US"/>
          </a:p>
        </p:txBody>
      </p:sp>
    </p:spTree>
    <p:extLst>
      <p:ext uri="{BB962C8B-B14F-4D97-AF65-F5344CB8AC3E}">
        <p14:creationId xmlns:p14="http://schemas.microsoft.com/office/powerpoint/2010/main" val="13737296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6F71D-F013-1E68-58F8-D96D8E3B35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2A8C37A-FC6B-DA33-4E0D-07086B51C84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FD7C79-D96D-7DA2-8C9A-68F63F00684C}"/>
              </a:ext>
            </a:extLst>
          </p:cNvPr>
          <p:cNvSpPr>
            <a:spLocks noGrp="1"/>
          </p:cNvSpPr>
          <p:nvPr>
            <p:ph type="dt" sz="half" idx="10"/>
          </p:nvPr>
        </p:nvSpPr>
        <p:spPr/>
        <p:txBody>
          <a:bodyPr/>
          <a:lstStyle/>
          <a:p>
            <a:fld id="{DD892E2A-4999-462C-A81E-6D26EFEB5B67}" type="datetimeFigureOut">
              <a:rPr lang="en-US" smtClean="0"/>
              <a:t>6/29/2026</a:t>
            </a:fld>
            <a:endParaRPr lang="en-US"/>
          </a:p>
        </p:txBody>
      </p:sp>
      <p:sp>
        <p:nvSpPr>
          <p:cNvPr id="5" name="Footer Placeholder 4">
            <a:extLst>
              <a:ext uri="{FF2B5EF4-FFF2-40B4-BE49-F238E27FC236}">
                <a16:creationId xmlns:a16="http://schemas.microsoft.com/office/drawing/2014/main" id="{C941CD0D-7A86-DA41-EF63-55C0FE8AA7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4649C1-56D5-EB09-B689-74D95309F2AF}"/>
              </a:ext>
            </a:extLst>
          </p:cNvPr>
          <p:cNvSpPr>
            <a:spLocks noGrp="1"/>
          </p:cNvSpPr>
          <p:nvPr>
            <p:ph type="sldNum" sz="quarter" idx="12"/>
          </p:nvPr>
        </p:nvSpPr>
        <p:spPr/>
        <p:txBody>
          <a:bodyPr/>
          <a:lstStyle/>
          <a:p>
            <a:fld id="{28C75BDE-5C61-4C6E-8D43-B00E9C80FEDD}" type="slidenum">
              <a:rPr lang="en-US" smtClean="0"/>
              <a:t>‹#›</a:t>
            </a:fld>
            <a:endParaRPr lang="en-US"/>
          </a:p>
        </p:txBody>
      </p:sp>
    </p:spTree>
    <p:extLst>
      <p:ext uri="{BB962C8B-B14F-4D97-AF65-F5344CB8AC3E}">
        <p14:creationId xmlns:p14="http://schemas.microsoft.com/office/powerpoint/2010/main" val="670719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C52C6-CB19-1714-3758-66CFFC2377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000E5D-1582-8FF3-B92A-26AC1BEDBD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86313B6-08D7-FF8A-2081-A7AB58185B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9F215D-9C47-B492-B774-B4DC9E9C004E}"/>
              </a:ext>
            </a:extLst>
          </p:cNvPr>
          <p:cNvSpPr>
            <a:spLocks noGrp="1"/>
          </p:cNvSpPr>
          <p:nvPr>
            <p:ph type="dt" sz="half" idx="10"/>
          </p:nvPr>
        </p:nvSpPr>
        <p:spPr/>
        <p:txBody>
          <a:bodyPr/>
          <a:lstStyle/>
          <a:p>
            <a:fld id="{DD892E2A-4999-462C-A81E-6D26EFEB5B67}" type="datetimeFigureOut">
              <a:rPr lang="en-US" smtClean="0"/>
              <a:t>6/29/2026</a:t>
            </a:fld>
            <a:endParaRPr lang="en-US"/>
          </a:p>
        </p:txBody>
      </p:sp>
      <p:sp>
        <p:nvSpPr>
          <p:cNvPr id="6" name="Footer Placeholder 5">
            <a:extLst>
              <a:ext uri="{FF2B5EF4-FFF2-40B4-BE49-F238E27FC236}">
                <a16:creationId xmlns:a16="http://schemas.microsoft.com/office/drawing/2014/main" id="{50E03393-F1A1-96CA-5A04-704AE128E0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4F9B14-49EC-FF8B-FAB9-B15D10CECC4C}"/>
              </a:ext>
            </a:extLst>
          </p:cNvPr>
          <p:cNvSpPr>
            <a:spLocks noGrp="1"/>
          </p:cNvSpPr>
          <p:nvPr>
            <p:ph type="sldNum" sz="quarter" idx="12"/>
          </p:nvPr>
        </p:nvSpPr>
        <p:spPr/>
        <p:txBody>
          <a:bodyPr/>
          <a:lstStyle/>
          <a:p>
            <a:fld id="{28C75BDE-5C61-4C6E-8D43-B00E9C80FEDD}" type="slidenum">
              <a:rPr lang="en-US" smtClean="0"/>
              <a:t>‹#›</a:t>
            </a:fld>
            <a:endParaRPr lang="en-US"/>
          </a:p>
        </p:txBody>
      </p:sp>
    </p:spTree>
    <p:extLst>
      <p:ext uri="{BB962C8B-B14F-4D97-AF65-F5344CB8AC3E}">
        <p14:creationId xmlns:p14="http://schemas.microsoft.com/office/powerpoint/2010/main" val="3982609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09D10-6E86-E369-D937-74EA5846572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57E2D1-CC3C-C68F-5B57-CBB62F2568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44B175-5077-FC63-48BF-D2208B33B4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8DBE34F-4F13-82F8-7D00-CC21A1D09F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A573DCE-952E-F673-808B-6A3A4A70FA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F1EBECF-9B9B-42D5-7676-7702F6DC0034}"/>
              </a:ext>
            </a:extLst>
          </p:cNvPr>
          <p:cNvSpPr>
            <a:spLocks noGrp="1"/>
          </p:cNvSpPr>
          <p:nvPr>
            <p:ph type="dt" sz="half" idx="10"/>
          </p:nvPr>
        </p:nvSpPr>
        <p:spPr/>
        <p:txBody>
          <a:bodyPr/>
          <a:lstStyle/>
          <a:p>
            <a:fld id="{DD892E2A-4999-462C-A81E-6D26EFEB5B67}" type="datetimeFigureOut">
              <a:rPr lang="en-US" smtClean="0"/>
              <a:t>6/29/2026</a:t>
            </a:fld>
            <a:endParaRPr lang="en-US"/>
          </a:p>
        </p:txBody>
      </p:sp>
      <p:sp>
        <p:nvSpPr>
          <p:cNvPr id="8" name="Footer Placeholder 7">
            <a:extLst>
              <a:ext uri="{FF2B5EF4-FFF2-40B4-BE49-F238E27FC236}">
                <a16:creationId xmlns:a16="http://schemas.microsoft.com/office/drawing/2014/main" id="{D882366A-181C-248F-28EA-F0531CB94F5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9691096-EBE2-5E87-B246-951255D3BE5D}"/>
              </a:ext>
            </a:extLst>
          </p:cNvPr>
          <p:cNvSpPr>
            <a:spLocks noGrp="1"/>
          </p:cNvSpPr>
          <p:nvPr>
            <p:ph type="sldNum" sz="quarter" idx="12"/>
          </p:nvPr>
        </p:nvSpPr>
        <p:spPr/>
        <p:txBody>
          <a:bodyPr/>
          <a:lstStyle/>
          <a:p>
            <a:fld id="{28C75BDE-5C61-4C6E-8D43-B00E9C80FEDD}" type="slidenum">
              <a:rPr lang="en-US" smtClean="0"/>
              <a:t>‹#›</a:t>
            </a:fld>
            <a:endParaRPr lang="en-US"/>
          </a:p>
        </p:txBody>
      </p:sp>
    </p:spTree>
    <p:extLst>
      <p:ext uri="{BB962C8B-B14F-4D97-AF65-F5344CB8AC3E}">
        <p14:creationId xmlns:p14="http://schemas.microsoft.com/office/powerpoint/2010/main" val="3306209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F86E8-C7E6-CED9-59F5-7E135AAB004E}"/>
              </a:ext>
            </a:extLst>
          </p:cNvPr>
          <p:cNvSpPr>
            <a:spLocks noGrp="1"/>
          </p:cNvSpPr>
          <p:nvPr>
            <p:ph type="title"/>
          </p:nvPr>
        </p:nvSpPr>
        <p:spPr/>
        <p:txBody>
          <a:bodyPr/>
          <a:lstStyle/>
          <a:p>
            <a:r>
              <a:rPr lang="en-US"/>
              <a:t>Click to edit Master title style</a:t>
            </a:r>
          </a:p>
        </p:txBody>
      </p:sp>
      <p:sp>
        <p:nvSpPr>
          <p:cNvPr id="6" name="Rectangle 5">
            <a:extLst>
              <a:ext uri="{FF2B5EF4-FFF2-40B4-BE49-F238E27FC236}">
                <a16:creationId xmlns:a16="http://schemas.microsoft.com/office/drawing/2014/main" id="{D1BDABD4-326C-066B-B5E8-91D8F6E459F8}"/>
              </a:ext>
            </a:extLst>
          </p:cNvPr>
          <p:cNvSpPr/>
          <p:nvPr userDrawn="1"/>
        </p:nvSpPr>
        <p:spPr>
          <a:xfrm>
            <a:off x="11115675" y="6305550"/>
            <a:ext cx="952500" cy="3143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308492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8C37A-A679-FE46-6BC9-FA518FBC2A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A6DFDA9-2331-43EA-2206-9748A1F396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BA35636-5F74-B1D8-54D4-759467D75D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DD33F6-D96B-C3D1-B002-E26D80223801}"/>
              </a:ext>
            </a:extLst>
          </p:cNvPr>
          <p:cNvSpPr>
            <a:spLocks noGrp="1"/>
          </p:cNvSpPr>
          <p:nvPr>
            <p:ph type="dt" sz="half" idx="10"/>
          </p:nvPr>
        </p:nvSpPr>
        <p:spPr/>
        <p:txBody>
          <a:bodyPr/>
          <a:lstStyle/>
          <a:p>
            <a:fld id="{DD892E2A-4999-462C-A81E-6D26EFEB5B67}" type="datetimeFigureOut">
              <a:rPr lang="en-US" smtClean="0"/>
              <a:t>6/29/2026</a:t>
            </a:fld>
            <a:endParaRPr lang="en-US"/>
          </a:p>
        </p:txBody>
      </p:sp>
      <p:sp>
        <p:nvSpPr>
          <p:cNvPr id="6" name="Footer Placeholder 5">
            <a:extLst>
              <a:ext uri="{FF2B5EF4-FFF2-40B4-BE49-F238E27FC236}">
                <a16:creationId xmlns:a16="http://schemas.microsoft.com/office/drawing/2014/main" id="{A6F8F038-EAF6-B7F1-DB53-C9C8818A06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791FFC-8B12-3C58-5BB5-0912A6FCA080}"/>
              </a:ext>
            </a:extLst>
          </p:cNvPr>
          <p:cNvSpPr>
            <a:spLocks noGrp="1"/>
          </p:cNvSpPr>
          <p:nvPr>
            <p:ph type="sldNum" sz="quarter" idx="12"/>
          </p:nvPr>
        </p:nvSpPr>
        <p:spPr/>
        <p:txBody>
          <a:bodyPr/>
          <a:lstStyle/>
          <a:p>
            <a:fld id="{28C75BDE-5C61-4C6E-8D43-B00E9C80FEDD}" type="slidenum">
              <a:rPr lang="en-US" smtClean="0"/>
              <a:t>‹#›</a:t>
            </a:fld>
            <a:endParaRPr lang="en-US"/>
          </a:p>
        </p:txBody>
      </p:sp>
    </p:spTree>
    <p:extLst>
      <p:ext uri="{BB962C8B-B14F-4D97-AF65-F5344CB8AC3E}">
        <p14:creationId xmlns:p14="http://schemas.microsoft.com/office/powerpoint/2010/main" val="2525563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E7B7A-B0DF-BC4E-8B4E-4CBD9B876F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F99FEBF-5DDA-03DA-599B-D96471CBAC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B8F8EF5-22EA-D3FE-49C2-67EE56F852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2866D4-45D3-B326-7D6F-BAF60C640B30}"/>
              </a:ext>
            </a:extLst>
          </p:cNvPr>
          <p:cNvSpPr>
            <a:spLocks noGrp="1"/>
          </p:cNvSpPr>
          <p:nvPr>
            <p:ph type="dt" sz="half" idx="10"/>
          </p:nvPr>
        </p:nvSpPr>
        <p:spPr/>
        <p:txBody>
          <a:bodyPr/>
          <a:lstStyle/>
          <a:p>
            <a:fld id="{DD892E2A-4999-462C-A81E-6D26EFEB5B67}" type="datetimeFigureOut">
              <a:rPr lang="en-US" smtClean="0"/>
              <a:t>6/29/2026</a:t>
            </a:fld>
            <a:endParaRPr lang="en-US"/>
          </a:p>
        </p:txBody>
      </p:sp>
      <p:sp>
        <p:nvSpPr>
          <p:cNvPr id="6" name="Footer Placeholder 5">
            <a:extLst>
              <a:ext uri="{FF2B5EF4-FFF2-40B4-BE49-F238E27FC236}">
                <a16:creationId xmlns:a16="http://schemas.microsoft.com/office/drawing/2014/main" id="{51CCBA6E-CF24-DD94-8FF3-9A02198363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A76E80-C76B-866B-B5BE-3D72CCFA1528}"/>
              </a:ext>
            </a:extLst>
          </p:cNvPr>
          <p:cNvSpPr>
            <a:spLocks noGrp="1"/>
          </p:cNvSpPr>
          <p:nvPr>
            <p:ph type="sldNum" sz="quarter" idx="12"/>
          </p:nvPr>
        </p:nvSpPr>
        <p:spPr/>
        <p:txBody>
          <a:bodyPr/>
          <a:lstStyle/>
          <a:p>
            <a:fld id="{28C75BDE-5C61-4C6E-8D43-B00E9C80FEDD}" type="slidenum">
              <a:rPr lang="en-US" smtClean="0"/>
              <a:t>‹#›</a:t>
            </a:fld>
            <a:endParaRPr lang="en-US"/>
          </a:p>
        </p:txBody>
      </p:sp>
    </p:spTree>
    <p:extLst>
      <p:ext uri="{BB962C8B-B14F-4D97-AF65-F5344CB8AC3E}">
        <p14:creationId xmlns:p14="http://schemas.microsoft.com/office/powerpoint/2010/main" val="604240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70F46-B22E-DC12-A1EA-3AB142F481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1D3416A-7373-1786-9DF0-FAE896683F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62631C-3E83-CE58-3614-D14E89115F1F}"/>
              </a:ext>
            </a:extLst>
          </p:cNvPr>
          <p:cNvSpPr>
            <a:spLocks noGrp="1"/>
          </p:cNvSpPr>
          <p:nvPr>
            <p:ph type="dt" sz="half" idx="10"/>
          </p:nvPr>
        </p:nvSpPr>
        <p:spPr/>
        <p:txBody>
          <a:bodyPr/>
          <a:lstStyle/>
          <a:p>
            <a:fld id="{DD892E2A-4999-462C-A81E-6D26EFEB5B67}" type="datetimeFigureOut">
              <a:rPr lang="en-US" smtClean="0"/>
              <a:t>6/29/2026</a:t>
            </a:fld>
            <a:endParaRPr lang="en-US"/>
          </a:p>
        </p:txBody>
      </p:sp>
      <p:sp>
        <p:nvSpPr>
          <p:cNvPr id="5" name="Footer Placeholder 4">
            <a:extLst>
              <a:ext uri="{FF2B5EF4-FFF2-40B4-BE49-F238E27FC236}">
                <a16:creationId xmlns:a16="http://schemas.microsoft.com/office/drawing/2014/main" id="{D3F5FAD9-4927-2881-C309-E2596CFB33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4DF058-2772-242B-6CC0-AD8745175A23}"/>
              </a:ext>
            </a:extLst>
          </p:cNvPr>
          <p:cNvSpPr>
            <a:spLocks noGrp="1"/>
          </p:cNvSpPr>
          <p:nvPr>
            <p:ph type="sldNum" sz="quarter" idx="12"/>
          </p:nvPr>
        </p:nvSpPr>
        <p:spPr/>
        <p:txBody>
          <a:bodyPr/>
          <a:lstStyle/>
          <a:p>
            <a:fld id="{28C75BDE-5C61-4C6E-8D43-B00E9C80FEDD}" type="slidenum">
              <a:rPr lang="en-US" smtClean="0"/>
              <a:t>‹#›</a:t>
            </a:fld>
            <a:endParaRPr lang="en-US"/>
          </a:p>
        </p:txBody>
      </p:sp>
    </p:spTree>
    <p:extLst>
      <p:ext uri="{BB962C8B-B14F-4D97-AF65-F5344CB8AC3E}">
        <p14:creationId xmlns:p14="http://schemas.microsoft.com/office/powerpoint/2010/main" val="245718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EFA5E3-6C2B-6D35-56FD-396CE23408C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D6D6325-6CD8-9365-7EC0-94570C44AB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46058C-576D-1899-89D4-D522E33CF813}"/>
              </a:ext>
            </a:extLst>
          </p:cNvPr>
          <p:cNvSpPr>
            <a:spLocks noGrp="1"/>
          </p:cNvSpPr>
          <p:nvPr>
            <p:ph type="dt" sz="half" idx="10"/>
          </p:nvPr>
        </p:nvSpPr>
        <p:spPr/>
        <p:txBody>
          <a:bodyPr/>
          <a:lstStyle/>
          <a:p>
            <a:fld id="{DD892E2A-4999-462C-A81E-6D26EFEB5B67}" type="datetimeFigureOut">
              <a:rPr lang="en-US" smtClean="0"/>
              <a:t>6/29/2026</a:t>
            </a:fld>
            <a:endParaRPr lang="en-US"/>
          </a:p>
        </p:txBody>
      </p:sp>
      <p:sp>
        <p:nvSpPr>
          <p:cNvPr id="5" name="Footer Placeholder 4">
            <a:extLst>
              <a:ext uri="{FF2B5EF4-FFF2-40B4-BE49-F238E27FC236}">
                <a16:creationId xmlns:a16="http://schemas.microsoft.com/office/drawing/2014/main" id="{0EBD431A-66F6-343F-C101-684A5D485B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433B99-583C-5408-DCB7-3EEA097C26DF}"/>
              </a:ext>
            </a:extLst>
          </p:cNvPr>
          <p:cNvSpPr>
            <a:spLocks noGrp="1"/>
          </p:cNvSpPr>
          <p:nvPr>
            <p:ph type="sldNum" sz="quarter" idx="12"/>
          </p:nvPr>
        </p:nvSpPr>
        <p:spPr/>
        <p:txBody>
          <a:bodyPr/>
          <a:lstStyle/>
          <a:p>
            <a:fld id="{28C75BDE-5C61-4C6E-8D43-B00E9C80FEDD}" type="slidenum">
              <a:rPr lang="en-US" smtClean="0"/>
              <a:t>‹#›</a:t>
            </a:fld>
            <a:endParaRPr lang="en-US"/>
          </a:p>
        </p:txBody>
      </p:sp>
    </p:spTree>
    <p:extLst>
      <p:ext uri="{BB962C8B-B14F-4D97-AF65-F5344CB8AC3E}">
        <p14:creationId xmlns:p14="http://schemas.microsoft.com/office/powerpoint/2010/main" val="15389618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87127F-BA5F-1C81-5799-00D88A2D5F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7F57377-5345-51CF-43E9-B17DCB6E1C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355C4D-2949-0987-3C92-E9E79D6FB5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D892E2A-4999-462C-A81E-6D26EFEB5B67}" type="datetimeFigureOut">
              <a:rPr lang="en-US" smtClean="0"/>
              <a:t>6/29/2026</a:t>
            </a:fld>
            <a:endParaRPr lang="en-US"/>
          </a:p>
        </p:txBody>
      </p:sp>
      <p:sp>
        <p:nvSpPr>
          <p:cNvPr id="5" name="Footer Placeholder 4">
            <a:extLst>
              <a:ext uri="{FF2B5EF4-FFF2-40B4-BE49-F238E27FC236}">
                <a16:creationId xmlns:a16="http://schemas.microsoft.com/office/drawing/2014/main" id="{9EC28FC7-684B-52C1-807A-05F1DB793E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DF523A4-C57A-70DA-80A7-F8B96A3E8E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8C75BDE-5C61-4C6E-8D43-B00E9C80FEDD}" type="slidenum">
              <a:rPr lang="en-US" smtClean="0"/>
              <a:t>‹#›</a:t>
            </a:fld>
            <a:endParaRPr lang="en-US"/>
          </a:p>
        </p:txBody>
      </p:sp>
      <p:sp>
        <p:nvSpPr>
          <p:cNvPr id="900" name="AccentBar"/>
          <p:cNvSpPr/>
          <p:nvPr/>
        </p:nvSpPr>
        <p:spPr>
          <a:xfrm>
            <a:off x="0" y="6655200"/>
            <a:ext cx="12192000" cy="45720"/>
          </a:xfrm>
          <a:prstGeom prst="rect">
            <a:avLst/>
          </a:prstGeom>
          <a:solidFill>
            <a:srgbClr val="1C7FB8"/>
          </a:solidFill>
          <a:ln>
            <a:noFill/>
          </a:ln>
        </p:spPr>
        <p:txBody>
          <a:bodyPr/>
          <a:lstStyle/>
          <a:p>
            <a:endParaRPr/>
          </a:p>
        </p:txBody>
      </p:sp>
      <p:sp>
        <p:nvSpPr>
          <p:cNvPr id="901" name="HashFooter"/>
          <p:cNvSpPr/>
          <p:nvPr/>
        </p:nvSpPr>
        <p:spPr>
          <a:xfrm>
            <a:off x="10515600" y="6360160"/>
            <a:ext cx="1500000" cy="260000"/>
          </a:xfrm>
          <a:prstGeom prst="rect">
            <a:avLst/>
          </a:prstGeom>
          <a:noFill/>
        </p:spPr>
        <p:txBody>
          <a:bodyPr lIns="0" tIns="0" rIns="0" bIns="0" anchor="ctr"/>
          <a:lstStyle/>
          <a:p>
            <a:pPr algn="r"/>
            <a:r>
              <a:rPr lang="tr-TR" sz="1100" b="1">
                <a:solidFill>
                  <a:srgbClr val="9FB0BF"/>
                </a:solidFill>
              </a:rPr>
              <a:t>#CONVEX26</a:t>
            </a:r>
          </a:p>
        </p:txBody>
      </p:sp>
    </p:spTree>
    <p:extLst>
      <p:ext uri="{BB962C8B-B14F-4D97-AF65-F5344CB8AC3E}">
        <p14:creationId xmlns:p14="http://schemas.microsoft.com/office/powerpoint/2010/main" val="7205533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8" r:id="rId7"/>
    <p:sldLayoutId id="2147483669" r:id="rId8"/>
    <p:sldLayoutId id="2147483670" r:id="rId9"/>
    <p:sldLayoutId id="2147483671" r:id="rId10"/>
  </p:sldLayoutIdLst>
  <p:txStyles>
    <p:titleStyle>
      <a:lvl1pPr algn="l" defTabSz="914400" rtl="0" eaLnBrk="1" latinLnBrk="0" hangingPunct="1">
        <a:lnSpc>
          <a:spcPct val="90000"/>
        </a:lnSpc>
        <a:spcBef>
          <a:spcPct val="0"/>
        </a:spcBef>
        <a:buNone/>
        <a:defRPr sz="4400" kern="1200">
          <a:solidFill>
            <a:srgbClr val="16263A"/>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24364A"/>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16.jpe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6.xml"/><Relationship Id="rId4" Type="http://schemas.openxmlformats.org/officeDocument/2006/relationships/image" Target="../media/image33.jpeg"/></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3.xml"/><Relationship Id="rId1" Type="http://schemas.openxmlformats.org/officeDocument/2006/relationships/slideLayout" Target="../slideLayouts/slideLayout6.xml"/><Relationship Id="rId4" Type="http://schemas.openxmlformats.org/officeDocument/2006/relationships/image" Target="../media/image37.jpeg"/></Relationships>
</file>

<file path=ppt/slides/_rels/slide3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4.xml"/><Relationship Id="rId1" Type="http://schemas.openxmlformats.org/officeDocument/2006/relationships/slideLayout" Target="../slideLayouts/slideLayout6.xml"/><Relationship Id="rId6" Type="http://schemas.openxmlformats.org/officeDocument/2006/relationships/image" Target="../media/image41.jpeg"/><Relationship Id="rId5" Type="http://schemas.openxmlformats.org/officeDocument/2006/relationships/image" Target="../media/image40.jpeg"/><Relationship Id="rId4" Type="http://schemas.openxmlformats.org/officeDocument/2006/relationships/image" Target="../media/image39.jpe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A15D839-2BD3-4D46-6C9E-EB95F480CEB0}"/>
              </a:ext>
            </a:extLst>
          </p:cNvPr>
          <p:cNvPicPr>
            <a:picLocks noChangeAspect="1"/>
          </p:cNvPicPr>
          <p:nvPr/>
        </p:nvPicPr>
        <p:blipFill>
          <a:blip r:embed="rId3"/>
          <a:stretch>
            <a:fillRect/>
          </a:stretch>
        </p:blipFill>
        <p:spPr>
          <a:xfrm>
            <a:off x="6953884" y="0"/>
            <a:ext cx="5238116" cy="6664291"/>
          </a:xfrm>
          <a:prstGeom prst="rect">
            <a:avLst/>
          </a:prstGeom>
        </p:spPr>
      </p:pic>
      <p:pic>
        <p:nvPicPr>
          <p:cNvPr id="4" name="Picture 3">
            <a:extLst>
              <a:ext uri="{FF2B5EF4-FFF2-40B4-BE49-F238E27FC236}">
                <a16:creationId xmlns:a16="http://schemas.microsoft.com/office/drawing/2014/main" id="{DBCE0635-71B7-99A4-3A58-1A5688716CB0}"/>
              </a:ext>
            </a:extLst>
          </p:cNvPr>
          <p:cNvPicPr>
            <a:picLocks noChangeAspect="1"/>
          </p:cNvPicPr>
          <p:nvPr/>
        </p:nvPicPr>
        <p:blipFill>
          <a:blip r:embed="rId4"/>
          <a:stretch>
            <a:fillRect/>
          </a:stretch>
        </p:blipFill>
        <p:spPr>
          <a:xfrm>
            <a:off x="345393" y="1640541"/>
            <a:ext cx="6230220" cy="33080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4796719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B4181-AE95-8765-196D-E040A757FC25}"/>
              </a:ext>
            </a:extLst>
          </p:cNvPr>
          <p:cNvSpPr>
            <a:spLocks noGrp="1"/>
          </p:cNvSpPr>
          <p:nvPr>
            <p:ph type="title"/>
          </p:nvPr>
        </p:nvSpPr>
        <p:spPr>
          <a:xfrm>
            <a:off x="635000" y="1234830"/>
            <a:ext cx="10922000" cy="762000"/>
          </a:xfrm>
        </p:spPr>
        <p:txBody>
          <a:bodyPr>
            <a:normAutofit/>
          </a:bodyPr>
          <a:lstStyle/>
          <a:p>
            <a:r>
              <a:rPr lang="en-US" sz="3000" b="1" dirty="0" err="1">
                <a:latin typeface="Montserrat"/>
              </a:rPr>
              <a:t>Konferans</a:t>
            </a:r>
            <a:r>
              <a:rPr lang="en-US" sz="3000" b="1" dirty="0">
                <a:latin typeface="Montserrat"/>
              </a:rPr>
              <a:t> </a:t>
            </a:r>
            <a:r>
              <a:rPr lang="en-US" sz="3000" b="1" dirty="0" err="1">
                <a:latin typeface="Montserrat"/>
              </a:rPr>
              <a:t>Hakkında</a:t>
            </a:r>
            <a:endParaRPr lang="en-US" sz="3000" b="1" dirty="0">
              <a:latin typeface="Montserrat"/>
            </a:endParaRPr>
          </a:p>
        </p:txBody>
      </p:sp>
      <p:sp>
        <p:nvSpPr>
          <p:cNvPr id="4" name="Rectangle: Rounded Corners 3">
            <a:extLst>
              <a:ext uri="{FF2B5EF4-FFF2-40B4-BE49-F238E27FC236}">
                <a16:creationId xmlns:a16="http://schemas.microsoft.com/office/drawing/2014/main" id="{A3E94FCF-88B4-4678-986A-F3B9169F4EB9}"/>
              </a:ext>
            </a:extLst>
          </p:cNvPr>
          <p:cNvSpPr/>
          <p:nvPr/>
        </p:nvSpPr>
        <p:spPr>
          <a:xfrm>
            <a:off x="635000" y="2795668"/>
            <a:ext cx="3462215" cy="1266664"/>
          </a:xfrm>
          <a:prstGeom prst="roundRect">
            <a:avLst/>
          </a:prstGeom>
          <a:solidFill>
            <a:srgbClr val="EEF3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87892174-1E12-4416-8131-757667C9BE7A}"/>
              </a:ext>
            </a:extLst>
          </p:cNvPr>
          <p:cNvSpPr txBox="1"/>
          <p:nvPr/>
        </p:nvSpPr>
        <p:spPr>
          <a:xfrm>
            <a:off x="843572" y="3286083"/>
            <a:ext cx="4572000" cy="609600"/>
          </a:xfrm>
          <a:prstGeom prst="rect">
            <a:avLst/>
          </a:prstGeom>
          <a:noFill/>
        </p:spPr>
        <p:txBody>
          <a:bodyPr vertOverflow="overflow" vert="horz" wrap="square" rtlCol="0" anchor="t">
            <a:spAutoFit/>
          </a:bodyPr>
          <a:lstStyle/>
          <a:p>
            <a:pPr algn="l"/>
            <a:r>
              <a:rPr lang="en-US" b="1" dirty="0">
                <a:solidFill>
                  <a:srgbClr val="16263A"/>
                </a:solidFill>
                <a:latin typeface="Montserrat"/>
              </a:rPr>
              <a:t>17–18 Haziran 2026</a:t>
            </a:r>
          </a:p>
        </p:txBody>
      </p:sp>
      <p:sp>
        <p:nvSpPr>
          <p:cNvPr id="8" name="Rectangle: Rounded Corners 7">
            <a:extLst>
              <a:ext uri="{FF2B5EF4-FFF2-40B4-BE49-F238E27FC236}">
                <a16:creationId xmlns:a16="http://schemas.microsoft.com/office/drawing/2014/main" id="{489F2CB4-AC4D-48E0-A168-028983C379DD}"/>
              </a:ext>
            </a:extLst>
          </p:cNvPr>
          <p:cNvSpPr/>
          <p:nvPr/>
        </p:nvSpPr>
        <p:spPr>
          <a:xfrm>
            <a:off x="635000" y="4604515"/>
            <a:ext cx="3703516" cy="1208132"/>
          </a:xfrm>
          <a:prstGeom prst="roundRect">
            <a:avLst/>
          </a:prstGeom>
          <a:solidFill>
            <a:srgbClr val="EEF3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8DBBA6CE-D5CA-480B-8B6B-1CDBADAC3BFD}"/>
              </a:ext>
            </a:extLst>
          </p:cNvPr>
          <p:cNvSpPr txBox="1"/>
          <p:nvPr/>
        </p:nvSpPr>
        <p:spPr>
          <a:xfrm>
            <a:off x="734159" y="4978704"/>
            <a:ext cx="4572000" cy="369332"/>
          </a:xfrm>
          <a:prstGeom prst="rect">
            <a:avLst/>
          </a:prstGeom>
          <a:noFill/>
        </p:spPr>
        <p:txBody>
          <a:bodyPr vertOverflow="overflow" vert="horz" wrap="square" rtlCol="0" anchor="t">
            <a:spAutoFit/>
          </a:bodyPr>
          <a:lstStyle/>
          <a:p>
            <a:pPr algn="l"/>
            <a:r>
              <a:rPr lang="es-ES" b="1" dirty="0">
                <a:solidFill>
                  <a:srgbClr val="16263A"/>
                </a:solidFill>
                <a:latin typeface="Montserrat"/>
              </a:rPr>
              <a:t>Dev bir </a:t>
            </a:r>
            <a:r>
              <a:rPr lang="es-ES" b="1" dirty="0" err="1">
                <a:solidFill>
                  <a:srgbClr val="16263A"/>
                </a:solidFill>
                <a:latin typeface="Montserrat"/>
              </a:rPr>
              <a:t>sinema</a:t>
            </a:r>
            <a:r>
              <a:rPr lang="es-ES" b="1" dirty="0">
                <a:solidFill>
                  <a:srgbClr val="16263A"/>
                </a:solidFill>
                <a:latin typeface="Montserrat"/>
              </a:rPr>
              <a:t> </a:t>
            </a:r>
            <a:r>
              <a:rPr lang="es-ES" b="1" dirty="0" err="1">
                <a:solidFill>
                  <a:srgbClr val="16263A"/>
                </a:solidFill>
                <a:latin typeface="Montserrat"/>
              </a:rPr>
              <a:t>salonu</a:t>
            </a:r>
            <a:endParaRPr lang="en-US" b="1" dirty="0">
              <a:solidFill>
                <a:srgbClr val="16263A"/>
              </a:solidFill>
              <a:latin typeface="Montserrat"/>
            </a:endParaRPr>
          </a:p>
        </p:txBody>
      </p:sp>
      <p:sp>
        <p:nvSpPr>
          <p:cNvPr id="12" name="Rectangle: Rounded Corners 11">
            <a:extLst>
              <a:ext uri="{FF2B5EF4-FFF2-40B4-BE49-F238E27FC236}">
                <a16:creationId xmlns:a16="http://schemas.microsoft.com/office/drawing/2014/main" id="{074AAA4E-F5E8-424F-A4CB-FE07899206AF}"/>
              </a:ext>
            </a:extLst>
          </p:cNvPr>
          <p:cNvSpPr/>
          <p:nvPr/>
        </p:nvSpPr>
        <p:spPr>
          <a:xfrm>
            <a:off x="6158770" y="2795668"/>
            <a:ext cx="3872033" cy="1208132"/>
          </a:xfrm>
          <a:prstGeom prst="roundRect">
            <a:avLst/>
          </a:prstGeom>
          <a:solidFill>
            <a:srgbClr val="EEF3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C6EBD707-CA76-4675-88E1-AD2D079004F0}"/>
              </a:ext>
            </a:extLst>
          </p:cNvPr>
          <p:cNvSpPr txBox="1"/>
          <p:nvPr/>
        </p:nvSpPr>
        <p:spPr>
          <a:xfrm>
            <a:off x="6254508" y="3049723"/>
            <a:ext cx="4572000" cy="609600"/>
          </a:xfrm>
          <a:prstGeom prst="rect">
            <a:avLst/>
          </a:prstGeom>
          <a:noFill/>
        </p:spPr>
        <p:txBody>
          <a:bodyPr vertOverflow="overflow" vert="horz" wrap="square" rtlCol="0" anchor="t">
            <a:spAutoFit/>
          </a:bodyPr>
          <a:lstStyle/>
          <a:p>
            <a:pPr algn="l"/>
            <a:r>
              <a:rPr lang="en-US" b="1" dirty="0">
                <a:solidFill>
                  <a:srgbClr val="16263A"/>
                </a:solidFill>
                <a:latin typeface="Montserrat"/>
              </a:rPr>
              <a:t>3 </a:t>
            </a:r>
            <a:r>
              <a:rPr lang="en-US" b="1" dirty="0" err="1">
                <a:solidFill>
                  <a:srgbClr val="16263A"/>
                </a:solidFill>
                <a:latin typeface="Montserrat"/>
              </a:rPr>
              <a:t>paralel</a:t>
            </a:r>
            <a:r>
              <a:rPr lang="en-US" b="1" dirty="0">
                <a:solidFill>
                  <a:srgbClr val="16263A"/>
                </a:solidFill>
                <a:latin typeface="Montserrat"/>
              </a:rPr>
              <a:t> </a:t>
            </a:r>
            <a:r>
              <a:rPr lang="en-US" b="1" dirty="0" err="1">
                <a:solidFill>
                  <a:srgbClr val="16263A"/>
                </a:solidFill>
                <a:latin typeface="Montserrat"/>
              </a:rPr>
              <a:t>oturum</a:t>
            </a:r>
            <a:endParaRPr lang="en-US" b="1" dirty="0">
              <a:solidFill>
                <a:srgbClr val="16263A"/>
              </a:solidFill>
              <a:latin typeface="Montserrat"/>
            </a:endParaRPr>
          </a:p>
        </p:txBody>
      </p:sp>
      <p:sp>
        <p:nvSpPr>
          <p:cNvPr id="15" name="TextBox 14">
            <a:extLst>
              <a:ext uri="{FF2B5EF4-FFF2-40B4-BE49-F238E27FC236}">
                <a16:creationId xmlns:a16="http://schemas.microsoft.com/office/drawing/2014/main" id="{2D8D0FA8-4602-43E4-ABF7-AE4C46D9EE33}"/>
              </a:ext>
            </a:extLst>
          </p:cNvPr>
          <p:cNvSpPr txBox="1"/>
          <p:nvPr/>
        </p:nvSpPr>
        <p:spPr>
          <a:xfrm>
            <a:off x="6254508" y="3398512"/>
            <a:ext cx="4572000" cy="635000"/>
          </a:xfrm>
          <a:prstGeom prst="rect">
            <a:avLst/>
          </a:prstGeom>
          <a:noFill/>
        </p:spPr>
        <p:txBody>
          <a:bodyPr vertOverflow="overflow" vert="horz" wrap="square" rtlCol="0" anchor="t">
            <a:spAutoFit/>
          </a:bodyPr>
          <a:lstStyle/>
          <a:p>
            <a:pPr algn="l"/>
            <a:r>
              <a:rPr lang="en-US" sz="1500" dirty="0">
                <a:solidFill>
                  <a:srgbClr val="5B6B7B"/>
                </a:solidFill>
                <a:latin typeface="Open Sans"/>
                <a:ea typeface="Open Sans"/>
                <a:cs typeface="Open Sans"/>
              </a:rPr>
              <a:t>2 </a:t>
            </a:r>
            <a:r>
              <a:rPr lang="en-US" sz="1500" dirty="0" err="1">
                <a:solidFill>
                  <a:srgbClr val="5B6B7B"/>
                </a:solidFill>
                <a:latin typeface="Open Sans"/>
                <a:ea typeface="Open Sans"/>
                <a:cs typeface="Open Sans"/>
              </a:rPr>
              <a:t>oturum</a:t>
            </a:r>
            <a:r>
              <a:rPr lang="en-US" sz="1500" dirty="0">
                <a:solidFill>
                  <a:srgbClr val="5B6B7B"/>
                </a:solidFill>
                <a:latin typeface="Open Sans"/>
                <a:ea typeface="Open Sans"/>
                <a:cs typeface="Open Sans"/>
              </a:rPr>
              <a:t> </a:t>
            </a:r>
            <a:r>
              <a:rPr lang="en-US" sz="1500" dirty="0" err="1">
                <a:solidFill>
                  <a:srgbClr val="5B6B7B"/>
                </a:solidFill>
                <a:latin typeface="Open Sans"/>
                <a:ea typeface="Open Sans"/>
                <a:cs typeface="Open Sans"/>
              </a:rPr>
              <a:t>İspanyolca</a:t>
            </a:r>
            <a:r>
              <a:rPr lang="en-US" sz="1500" dirty="0">
                <a:solidFill>
                  <a:srgbClr val="5B6B7B"/>
                </a:solidFill>
                <a:latin typeface="Open Sans"/>
                <a:ea typeface="Open Sans"/>
                <a:cs typeface="Open Sans"/>
              </a:rPr>
              <a:t> · 1 </a:t>
            </a:r>
            <a:r>
              <a:rPr lang="en-US" sz="1500" dirty="0" err="1">
                <a:solidFill>
                  <a:srgbClr val="5B6B7B"/>
                </a:solidFill>
                <a:latin typeface="Open Sans"/>
                <a:ea typeface="Open Sans"/>
                <a:cs typeface="Open Sans"/>
              </a:rPr>
              <a:t>oturum</a:t>
            </a:r>
            <a:r>
              <a:rPr lang="en-US" sz="1500" dirty="0">
                <a:solidFill>
                  <a:srgbClr val="5B6B7B"/>
                </a:solidFill>
                <a:latin typeface="Open Sans"/>
                <a:ea typeface="Open Sans"/>
                <a:cs typeface="Open Sans"/>
              </a:rPr>
              <a:t> </a:t>
            </a:r>
            <a:r>
              <a:rPr lang="en-US" sz="1500" dirty="0" err="1">
                <a:solidFill>
                  <a:srgbClr val="5B6B7B"/>
                </a:solidFill>
                <a:latin typeface="Open Sans"/>
                <a:ea typeface="Open Sans"/>
                <a:cs typeface="Open Sans"/>
              </a:rPr>
              <a:t>İngilizce</a:t>
            </a:r>
            <a:endParaRPr lang="en-US" sz="1500" dirty="0">
              <a:solidFill>
                <a:srgbClr val="5B6B7B"/>
              </a:solidFill>
              <a:latin typeface="Open Sans"/>
              <a:ea typeface="Open Sans"/>
              <a:cs typeface="Open Sans"/>
            </a:endParaRPr>
          </a:p>
        </p:txBody>
      </p:sp>
      <p:sp>
        <p:nvSpPr>
          <p:cNvPr id="5" name="Rectangle: Rounded Corners 4">
            <a:extLst>
              <a:ext uri="{FF2B5EF4-FFF2-40B4-BE49-F238E27FC236}">
                <a16:creationId xmlns:a16="http://schemas.microsoft.com/office/drawing/2014/main" id="{178824CF-7E83-6960-45B4-0E8382680F51}"/>
              </a:ext>
            </a:extLst>
          </p:cNvPr>
          <p:cNvSpPr/>
          <p:nvPr/>
        </p:nvSpPr>
        <p:spPr>
          <a:xfrm>
            <a:off x="6158770" y="4637040"/>
            <a:ext cx="3872033" cy="1208132"/>
          </a:xfrm>
          <a:prstGeom prst="roundRect">
            <a:avLst/>
          </a:prstGeom>
          <a:solidFill>
            <a:srgbClr val="EEF3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08657999-20FC-C58D-1ACC-B2F8BAC4D192}"/>
              </a:ext>
            </a:extLst>
          </p:cNvPr>
          <p:cNvSpPr txBox="1"/>
          <p:nvPr/>
        </p:nvSpPr>
        <p:spPr>
          <a:xfrm>
            <a:off x="6254508" y="5023915"/>
            <a:ext cx="4572000" cy="369332"/>
          </a:xfrm>
          <a:prstGeom prst="rect">
            <a:avLst/>
          </a:prstGeom>
          <a:noFill/>
        </p:spPr>
        <p:txBody>
          <a:bodyPr vertOverflow="overflow" vert="horz" wrap="square" rtlCol="0" anchor="t">
            <a:spAutoFit/>
          </a:bodyPr>
          <a:lstStyle/>
          <a:p>
            <a:pPr algn="l"/>
            <a:r>
              <a:rPr lang="en-US" b="1" dirty="0">
                <a:solidFill>
                  <a:srgbClr val="16263A"/>
                </a:solidFill>
                <a:latin typeface="Montserrat"/>
              </a:rPr>
              <a:t>.NET ve AI </a:t>
            </a:r>
            <a:r>
              <a:rPr lang="en-US" b="1" dirty="0" err="1">
                <a:solidFill>
                  <a:srgbClr val="16263A"/>
                </a:solidFill>
                <a:latin typeface="Montserrat"/>
              </a:rPr>
              <a:t>odaklı</a:t>
            </a:r>
            <a:endParaRPr lang="en-US" b="1" dirty="0">
              <a:solidFill>
                <a:srgbClr val="16263A"/>
              </a:solidFill>
              <a:latin typeface="Montserrat"/>
            </a:endParaRPr>
          </a:p>
        </p:txBody>
      </p:sp>
    </p:spTree>
    <p:extLst>
      <p:ext uri="{BB962C8B-B14F-4D97-AF65-F5344CB8AC3E}">
        <p14:creationId xmlns:p14="http://schemas.microsoft.com/office/powerpoint/2010/main" val="2758567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5CF8DF8-04A6-F73E-22B1-61CEBF80E8DA}"/>
              </a:ext>
            </a:extLst>
          </p:cNvPr>
          <p:cNvPicPr>
            <a:picLocks noChangeAspect="1"/>
          </p:cNvPicPr>
          <p:nvPr/>
        </p:nvPicPr>
        <p:blipFill>
          <a:blip r:embed="rId3"/>
          <a:stretch>
            <a:fillRect/>
          </a:stretch>
        </p:blipFill>
        <p:spPr>
          <a:xfrm>
            <a:off x="257907" y="0"/>
            <a:ext cx="11639132" cy="6858000"/>
          </a:xfrm>
          <a:prstGeom prst="rect">
            <a:avLst/>
          </a:prstGeom>
        </p:spPr>
      </p:pic>
    </p:spTree>
    <p:extLst>
      <p:ext uri="{BB962C8B-B14F-4D97-AF65-F5344CB8AC3E}">
        <p14:creationId xmlns:p14="http://schemas.microsoft.com/office/powerpoint/2010/main" val="1882188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3936BE6-6E8F-D00A-BD38-542AC24C8932}"/>
              </a:ext>
            </a:extLst>
          </p:cNvPr>
          <p:cNvPicPr>
            <a:picLocks noChangeAspect="1"/>
          </p:cNvPicPr>
          <p:nvPr/>
        </p:nvPicPr>
        <p:blipFill>
          <a:blip r:embed="rId3"/>
          <a:stretch>
            <a:fillRect/>
          </a:stretch>
        </p:blipFill>
        <p:spPr>
          <a:xfrm>
            <a:off x="1" y="11724"/>
            <a:ext cx="12192000" cy="6697472"/>
          </a:xfrm>
          <a:prstGeom prst="rect">
            <a:avLst/>
          </a:prstGeom>
        </p:spPr>
      </p:pic>
      <p:sp>
        <p:nvSpPr>
          <p:cNvPr id="3" name="TextBox 2">
            <a:extLst>
              <a:ext uri="{FF2B5EF4-FFF2-40B4-BE49-F238E27FC236}">
                <a16:creationId xmlns:a16="http://schemas.microsoft.com/office/drawing/2014/main" id="{7933A57E-07FD-53B0-DD3A-E348D3D4A82B}"/>
              </a:ext>
            </a:extLst>
          </p:cNvPr>
          <p:cNvSpPr txBox="1"/>
          <p:nvPr/>
        </p:nvSpPr>
        <p:spPr>
          <a:xfrm>
            <a:off x="2930769" y="6071775"/>
            <a:ext cx="8581293"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800" b="1" i="1" dirty="0">
                <a:solidFill>
                  <a:srgbClr val="587B8B"/>
                </a:solidFill>
                <a:effectLst/>
                <a:latin typeface="-apple-system"/>
              </a:rPr>
              <a:t>AI can make data more accessible, but architecture must define the boundaries.</a:t>
            </a:r>
            <a:endParaRPr lang="en-US" dirty="0"/>
          </a:p>
        </p:txBody>
      </p:sp>
    </p:spTree>
    <p:extLst>
      <p:ext uri="{BB962C8B-B14F-4D97-AF65-F5344CB8AC3E}">
        <p14:creationId xmlns:p14="http://schemas.microsoft.com/office/powerpoint/2010/main" val="4111016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2966D-5EF8-7A12-EC9F-D309A0AC4DE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AF8244E-0ED5-2171-B67E-37DCC0F47008}"/>
              </a:ext>
            </a:extLst>
          </p:cNvPr>
          <p:cNvSpPr txBox="1"/>
          <p:nvPr/>
        </p:nvSpPr>
        <p:spPr>
          <a:xfrm>
            <a:off x="635000" y="2918265"/>
            <a:ext cx="9880600" cy="1446550"/>
          </a:xfrm>
          <a:prstGeom prst="rect">
            <a:avLst/>
          </a:prstGeom>
          <a:noFill/>
        </p:spPr>
        <p:txBody>
          <a:bodyPr wrap="square">
            <a:spAutoFit/>
          </a:bodyPr>
          <a:lstStyle/>
          <a:p>
            <a:r>
              <a:rPr lang="en-US" sz="4400" b="1" i="1" dirty="0">
                <a:effectLst/>
                <a:latin typeface="-apple-system"/>
              </a:rPr>
              <a:t>AI is becoming part of real systems and real systems have constraints.</a:t>
            </a:r>
            <a:endParaRPr lang="en-US" sz="4400" dirty="0"/>
          </a:p>
        </p:txBody>
      </p:sp>
      <p:sp>
        <p:nvSpPr>
          <p:cNvPr id="6" name="Title 1">
            <a:extLst>
              <a:ext uri="{FF2B5EF4-FFF2-40B4-BE49-F238E27FC236}">
                <a16:creationId xmlns:a16="http://schemas.microsoft.com/office/drawing/2014/main" id="{6C9C9540-5287-3031-C989-EEFF933DD697}"/>
              </a:ext>
            </a:extLst>
          </p:cNvPr>
          <p:cNvSpPr>
            <a:spLocks noGrp="1"/>
          </p:cNvSpPr>
          <p:nvPr>
            <p:ph type="title"/>
          </p:nvPr>
        </p:nvSpPr>
        <p:spPr>
          <a:xfrm>
            <a:off x="635000" y="508000"/>
            <a:ext cx="10922000" cy="762000"/>
          </a:xfrm>
        </p:spPr>
        <p:txBody>
          <a:bodyPr>
            <a:normAutofit/>
          </a:bodyPr>
          <a:lstStyle/>
          <a:p>
            <a:r>
              <a:rPr lang="en-US" sz="3000" b="1" dirty="0" err="1">
                <a:latin typeface="Montserrat"/>
              </a:rPr>
              <a:t>Diğer</a:t>
            </a:r>
            <a:r>
              <a:rPr lang="en-US" sz="3000" b="1" dirty="0">
                <a:latin typeface="Montserrat"/>
              </a:rPr>
              <a:t> </a:t>
            </a:r>
            <a:r>
              <a:rPr lang="en-US" sz="3000" b="1" dirty="0" err="1">
                <a:latin typeface="Montserrat"/>
              </a:rPr>
              <a:t>Oturumlar</a:t>
            </a:r>
            <a:endParaRPr lang="en-US" sz="3000" b="1" dirty="0">
              <a:latin typeface="Montserrat"/>
            </a:endParaRPr>
          </a:p>
        </p:txBody>
      </p:sp>
    </p:spTree>
    <p:extLst>
      <p:ext uri="{BB962C8B-B14F-4D97-AF65-F5344CB8AC3E}">
        <p14:creationId xmlns:p14="http://schemas.microsoft.com/office/powerpoint/2010/main" val="2038388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BA81243-7083-4549-A8AB-ACC8149307D2}"/>
              </a:ext>
            </a:extLst>
          </p:cNvPr>
          <p:cNvSpPr txBox="1"/>
          <p:nvPr/>
        </p:nvSpPr>
        <p:spPr>
          <a:xfrm>
            <a:off x="359994" y="1553507"/>
            <a:ext cx="5080000" cy="2667000"/>
          </a:xfrm>
          <a:prstGeom prst="rect">
            <a:avLst/>
          </a:prstGeom>
          <a:noFill/>
        </p:spPr>
        <p:txBody>
          <a:bodyPr vertOverflow="overflow" vert="horz" wrap="square" rtlCol="0" anchor="t">
            <a:spAutoFit/>
          </a:bodyPr>
          <a:lstStyle/>
          <a:p>
            <a:pPr algn="l"/>
            <a:r>
              <a:rPr lang="en-US" sz="1600" dirty="0">
                <a:solidFill>
                  <a:srgbClr val="24364A"/>
                </a:solidFill>
                <a:latin typeface="Open Sans"/>
                <a:ea typeface="Open Sans"/>
                <a:cs typeface="Open Sans"/>
              </a:rPr>
              <a:t>•  </a:t>
            </a:r>
            <a:r>
              <a:rPr lang="en-US" sz="1600" dirty="0" err="1">
                <a:solidFill>
                  <a:srgbClr val="24364A"/>
                </a:solidFill>
                <a:latin typeface="Open Sans"/>
                <a:ea typeface="Open Sans"/>
                <a:cs typeface="Open Sans"/>
              </a:rPr>
              <a:t>Yazılım</a:t>
            </a:r>
            <a:r>
              <a:rPr lang="en-US" sz="1600" dirty="0">
                <a:solidFill>
                  <a:srgbClr val="24364A"/>
                </a:solidFill>
                <a:latin typeface="Open Sans"/>
                <a:ea typeface="Open Sans"/>
                <a:cs typeface="Open Sans"/>
              </a:rPr>
              <a:t> </a:t>
            </a:r>
            <a:r>
              <a:rPr lang="en-US" sz="1600" dirty="0" err="1">
                <a:solidFill>
                  <a:srgbClr val="24364A"/>
                </a:solidFill>
                <a:latin typeface="Open Sans"/>
                <a:ea typeface="Open Sans"/>
                <a:cs typeface="Open Sans"/>
              </a:rPr>
              <a:t>geliştirme</a:t>
            </a:r>
            <a:r>
              <a:rPr lang="en-US" sz="1600" dirty="0">
                <a:solidFill>
                  <a:srgbClr val="24364A"/>
                </a:solidFill>
                <a:latin typeface="Open Sans"/>
                <a:ea typeface="Open Sans"/>
                <a:cs typeface="Open Sans"/>
              </a:rPr>
              <a:t>, AI </a:t>
            </a:r>
            <a:r>
              <a:rPr lang="en-US" sz="1600" dirty="0" err="1">
                <a:solidFill>
                  <a:srgbClr val="24364A"/>
                </a:solidFill>
                <a:latin typeface="Open Sans"/>
                <a:ea typeface="Open Sans"/>
                <a:cs typeface="Open Sans"/>
              </a:rPr>
              <a:t>ajan</a:t>
            </a:r>
            <a:r>
              <a:rPr lang="en-US" sz="1600" dirty="0">
                <a:solidFill>
                  <a:srgbClr val="24364A"/>
                </a:solidFill>
                <a:latin typeface="Open Sans"/>
                <a:ea typeface="Open Sans"/>
                <a:cs typeface="Open Sans"/>
              </a:rPr>
              <a:t> </a:t>
            </a:r>
            <a:r>
              <a:rPr lang="en-US" sz="1600" dirty="0" err="1">
                <a:solidFill>
                  <a:srgbClr val="24364A"/>
                </a:solidFill>
                <a:latin typeface="Open Sans"/>
                <a:ea typeface="Open Sans"/>
                <a:cs typeface="Open Sans"/>
              </a:rPr>
              <a:t>araçlarıyla</a:t>
            </a:r>
            <a:r>
              <a:rPr lang="en-US" sz="1600" dirty="0">
                <a:solidFill>
                  <a:srgbClr val="24364A"/>
                </a:solidFill>
                <a:latin typeface="Open Sans"/>
                <a:ea typeface="Open Sans"/>
                <a:cs typeface="Open Sans"/>
              </a:rPr>
              <a:t> </a:t>
            </a:r>
            <a:r>
              <a:rPr lang="en-US" sz="1600" dirty="0" err="1">
                <a:solidFill>
                  <a:srgbClr val="24364A"/>
                </a:solidFill>
                <a:latin typeface="Open Sans"/>
                <a:ea typeface="Open Sans"/>
                <a:cs typeface="Open Sans"/>
              </a:rPr>
              <a:t>hızla</a:t>
            </a:r>
            <a:r>
              <a:rPr lang="en-US" sz="1600" dirty="0">
                <a:solidFill>
                  <a:srgbClr val="24364A"/>
                </a:solidFill>
                <a:latin typeface="Open Sans"/>
                <a:ea typeface="Open Sans"/>
                <a:cs typeface="Open Sans"/>
              </a:rPr>
              <a:t> </a:t>
            </a:r>
            <a:r>
              <a:rPr lang="en-US" sz="1600" dirty="0" err="1">
                <a:solidFill>
                  <a:srgbClr val="24364A"/>
                </a:solidFill>
                <a:latin typeface="Open Sans"/>
                <a:ea typeface="Open Sans"/>
                <a:cs typeface="Open Sans"/>
              </a:rPr>
              <a:t>evriliyor</a:t>
            </a:r>
            <a:r>
              <a:rPr lang="en-US" sz="1600" dirty="0">
                <a:solidFill>
                  <a:srgbClr val="24364A"/>
                </a:solidFill>
                <a:latin typeface="Open Sans"/>
                <a:ea typeface="Open Sans"/>
                <a:cs typeface="Open Sans"/>
              </a:rPr>
              <a:t>
•  "</a:t>
            </a:r>
            <a:r>
              <a:rPr lang="en-US" sz="1600" dirty="0" err="1">
                <a:solidFill>
                  <a:srgbClr val="24364A"/>
                </a:solidFill>
                <a:latin typeface="Open Sans"/>
                <a:ea typeface="Open Sans"/>
                <a:cs typeface="Open Sans"/>
              </a:rPr>
              <a:t>Geliştirme</a:t>
            </a:r>
            <a:r>
              <a:rPr lang="en-US" sz="1600" dirty="0">
                <a:solidFill>
                  <a:srgbClr val="24364A"/>
                </a:solidFill>
                <a:latin typeface="Open Sans"/>
                <a:ea typeface="Open Sans"/>
                <a:cs typeface="Open Sans"/>
              </a:rPr>
              <a:t> </a:t>
            </a:r>
            <a:r>
              <a:rPr lang="en-US" sz="1600" dirty="0" err="1">
                <a:solidFill>
                  <a:srgbClr val="24364A"/>
                </a:solidFill>
                <a:latin typeface="Open Sans"/>
                <a:ea typeface="Open Sans"/>
                <a:cs typeface="Open Sans"/>
              </a:rPr>
              <a:t>öldü</a:t>
            </a:r>
            <a:r>
              <a:rPr lang="en-US" sz="1600" dirty="0">
                <a:solidFill>
                  <a:srgbClr val="24364A"/>
                </a:solidFill>
                <a:latin typeface="Open Sans"/>
                <a:ea typeface="Open Sans"/>
                <a:cs typeface="Open Sans"/>
              </a:rPr>
              <a:t>" </a:t>
            </a:r>
            <a:r>
              <a:rPr lang="en-US" sz="1600" dirty="0" err="1">
                <a:solidFill>
                  <a:srgbClr val="24364A"/>
                </a:solidFill>
                <a:latin typeface="Open Sans"/>
                <a:ea typeface="Open Sans"/>
                <a:cs typeface="Open Sans"/>
              </a:rPr>
              <a:t>diyemeyiz</a:t>
            </a:r>
            <a:r>
              <a:rPr lang="en-US" sz="1600" dirty="0">
                <a:solidFill>
                  <a:srgbClr val="24364A"/>
                </a:solidFill>
                <a:latin typeface="Open Sans"/>
                <a:ea typeface="Open Sans"/>
                <a:cs typeface="Open Sans"/>
              </a:rPr>
              <a:t> — ama el </a:t>
            </a:r>
            <a:r>
              <a:rPr lang="en-US" sz="1600" dirty="0" err="1">
                <a:solidFill>
                  <a:srgbClr val="24364A"/>
                </a:solidFill>
                <a:latin typeface="Open Sans"/>
                <a:ea typeface="Open Sans"/>
                <a:cs typeface="Open Sans"/>
              </a:rPr>
              <a:t>ile</a:t>
            </a:r>
            <a:r>
              <a:rPr lang="en-US" sz="1600" dirty="0">
                <a:solidFill>
                  <a:srgbClr val="24364A"/>
                </a:solidFill>
                <a:latin typeface="Open Sans"/>
                <a:ea typeface="Open Sans"/>
                <a:cs typeface="Open Sans"/>
              </a:rPr>
              <a:t> </a:t>
            </a:r>
            <a:r>
              <a:rPr lang="en-US" sz="1600" dirty="0" err="1">
                <a:solidFill>
                  <a:srgbClr val="24364A"/>
                </a:solidFill>
                <a:latin typeface="Open Sans"/>
                <a:ea typeface="Open Sans"/>
                <a:cs typeface="Open Sans"/>
              </a:rPr>
              <a:t>geliştirme</a:t>
            </a:r>
            <a:r>
              <a:rPr lang="en-US" sz="1600" dirty="0">
                <a:solidFill>
                  <a:srgbClr val="24364A"/>
                </a:solidFill>
                <a:latin typeface="Open Sans"/>
                <a:ea typeface="Open Sans"/>
                <a:cs typeface="Open Sans"/>
              </a:rPr>
              <a:t> </a:t>
            </a:r>
            <a:r>
              <a:rPr lang="en-US" sz="1600" dirty="0" err="1">
                <a:solidFill>
                  <a:srgbClr val="24364A"/>
                </a:solidFill>
                <a:latin typeface="Open Sans"/>
                <a:ea typeface="Open Sans"/>
                <a:cs typeface="Open Sans"/>
              </a:rPr>
              <a:t>öldü</a:t>
            </a:r>
            <a:r>
              <a:rPr lang="en-US" sz="1600" dirty="0">
                <a:solidFill>
                  <a:srgbClr val="24364A"/>
                </a:solidFill>
                <a:latin typeface="Open Sans"/>
                <a:ea typeface="Open Sans"/>
                <a:cs typeface="Open Sans"/>
              </a:rPr>
              <a:t>
•  Artık daha </a:t>
            </a:r>
            <a:r>
              <a:rPr lang="en-US" sz="1600" dirty="0" err="1">
                <a:solidFill>
                  <a:srgbClr val="24364A"/>
                </a:solidFill>
                <a:latin typeface="Open Sans"/>
                <a:ea typeface="Open Sans"/>
                <a:cs typeface="Open Sans"/>
              </a:rPr>
              <a:t>az</a:t>
            </a:r>
            <a:r>
              <a:rPr lang="en-US" sz="1600" dirty="0">
                <a:solidFill>
                  <a:srgbClr val="24364A"/>
                </a:solidFill>
                <a:latin typeface="Open Sans"/>
                <a:ea typeface="Open Sans"/>
                <a:cs typeface="Open Sans"/>
              </a:rPr>
              <a:t> </a:t>
            </a:r>
            <a:r>
              <a:rPr lang="en-US" sz="1600" dirty="0" err="1">
                <a:solidFill>
                  <a:srgbClr val="24364A"/>
                </a:solidFill>
                <a:latin typeface="Open Sans"/>
                <a:ea typeface="Open Sans"/>
                <a:cs typeface="Open Sans"/>
              </a:rPr>
              <a:t>yazıp</a:t>
            </a:r>
            <a:r>
              <a:rPr lang="en-US" sz="1600" dirty="0">
                <a:solidFill>
                  <a:srgbClr val="24364A"/>
                </a:solidFill>
                <a:latin typeface="Open Sans"/>
                <a:ea typeface="Open Sans"/>
                <a:cs typeface="Open Sans"/>
              </a:rPr>
              <a:t> daha çok </a:t>
            </a:r>
            <a:r>
              <a:rPr lang="en-US" sz="1600" dirty="0" err="1">
                <a:solidFill>
                  <a:srgbClr val="24364A"/>
                </a:solidFill>
                <a:latin typeface="Open Sans"/>
                <a:ea typeface="Open Sans"/>
                <a:cs typeface="Open Sans"/>
              </a:rPr>
              <a:t>düşüneceğiz</a:t>
            </a:r>
            <a:r>
              <a:rPr lang="en-US" sz="1600" dirty="0">
                <a:solidFill>
                  <a:srgbClr val="24364A"/>
                </a:solidFill>
                <a:latin typeface="Open Sans"/>
                <a:ea typeface="Open Sans"/>
                <a:cs typeface="Open Sans"/>
              </a:rPr>
              <a:t>: </a:t>
            </a:r>
            <a:r>
              <a:rPr lang="en-US" sz="1600" dirty="0" err="1">
                <a:solidFill>
                  <a:srgbClr val="24364A"/>
                </a:solidFill>
                <a:latin typeface="Open Sans"/>
                <a:ea typeface="Open Sans"/>
                <a:cs typeface="Open Sans"/>
              </a:rPr>
              <a:t>özellikler</a:t>
            </a:r>
            <a:r>
              <a:rPr lang="en-US" sz="1600" dirty="0">
                <a:solidFill>
                  <a:srgbClr val="24364A"/>
                </a:solidFill>
                <a:latin typeface="Open Sans"/>
                <a:ea typeface="Open Sans"/>
                <a:cs typeface="Open Sans"/>
              </a:rPr>
              <a:t>, </a:t>
            </a:r>
            <a:r>
              <a:rPr lang="en-US" sz="1600" dirty="0" err="1">
                <a:solidFill>
                  <a:srgbClr val="24364A"/>
                </a:solidFill>
                <a:latin typeface="Open Sans"/>
                <a:ea typeface="Open Sans"/>
                <a:cs typeface="Open Sans"/>
              </a:rPr>
              <a:t>kullanıcı</a:t>
            </a:r>
            <a:r>
              <a:rPr lang="en-US" sz="1600" dirty="0">
                <a:solidFill>
                  <a:srgbClr val="24364A"/>
                </a:solidFill>
                <a:latin typeface="Open Sans"/>
                <a:ea typeface="Open Sans"/>
                <a:cs typeface="Open Sans"/>
              </a:rPr>
              <a:t> </a:t>
            </a:r>
            <a:r>
              <a:rPr lang="en-US" sz="1600" dirty="0" err="1">
                <a:solidFill>
                  <a:srgbClr val="24364A"/>
                </a:solidFill>
                <a:latin typeface="Open Sans"/>
                <a:ea typeface="Open Sans"/>
                <a:cs typeface="Open Sans"/>
              </a:rPr>
              <a:t>deneyimi</a:t>
            </a:r>
            <a:r>
              <a:rPr lang="en-US" sz="1600" dirty="0">
                <a:solidFill>
                  <a:srgbClr val="24364A"/>
                </a:solidFill>
                <a:latin typeface="Open Sans"/>
                <a:ea typeface="Open Sans"/>
                <a:cs typeface="Open Sans"/>
              </a:rPr>
              <a:t>, </a:t>
            </a:r>
            <a:r>
              <a:rPr lang="en-US" sz="1600" dirty="0" err="1">
                <a:solidFill>
                  <a:srgbClr val="24364A"/>
                </a:solidFill>
                <a:latin typeface="Open Sans"/>
                <a:ea typeface="Open Sans"/>
                <a:cs typeface="Open Sans"/>
              </a:rPr>
              <a:t>sağlam</a:t>
            </a:r>
            <a:r>
              <a:rPr lang="en-US" sz="1600" dirty="0">
                <a:solidFill>
                  <a:srgbClr val="24364A"/>
                </a:solidFill>
                <a:latin typeface="Open Sans"/>
                <a:ea typeface="Open Sans"/>
                <a:cs typeface="Open Sans"/>
              </a:rPr>
              <a:t> </a:t>
            </a:r>
            <a:r>
              <a:rPr lang="en-US" sz="1600" dirty="0" err="1">
                <a:solidFill>
                  <a:srgbClr val="24364A"/>
                </a:solidFill>
                <a:latin typeface="Open Sans"/>
                <a:ea typeface="Open Sans"/>
                <a:cs typeface="Open Sans"/>
              </a:rPr>
              <a:t>altyapı</a:t>
            </a:r>
            <a:endParaRPr lang="en-US" sz="1600" dirty="0">
              <a:solidFill>
                <a:srgbClr val="24364A"/>
              </a:solidFill>
              <a:latin typeface="Open Sans"/>
              <a:ea typeface="Open Sans"/>
              <a:cs typeface="Open Sans"/>
            </a:endParaRPr>
          </a:p>
        </p:txBody>
      </p:sp>
      <p:sp>
        <p:nvSpPr>
          <p:cNvPr id="5" name="Rectangle: Rounded Corners 4">
            <a:extLst>
              <a:ext uri="{FF2B5EF4-FFF2-40B4-BE49-F238E27FC236}">
                <a16:creationId xmlns:a16="http://schemas.microsoft.com/office/drawing/2014/main" id="{AACD70A6-B06B-4A92-9EBB-3E3F4B853195}"/>
              </a:ext>
            </a:extLst>
          </p:cNvPr>
          <p:cNvSpPr/>
          <p:nvPr/>
        </p:nvSpPr>
        <p:spPr>
          <a:xfrm>
            <a:off x="316278" y="4340469"/>
            <a:ext cx="5080000" cy="1905000"/>
          </a:xfrm>
          <a:prstGeom prst="roundRect">
            <a:avLst/>
          </a:prstGeom>
          <a:solidFill>
            <a:srgbClr val="FDF1E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B1092DB6-AAF3-4940-B518-85E1F2BE59B2}"/>
              </a:ext>
            </a:extLst>
          </p:cNvPr>
          <p:cNvSpPr txBox="1"/>
          <p:nvPr/>
        </p:nvSpPr>
        <p:spPr>
          <a:xfrm>
            <a:off x="465260" y="4508139"/>
            <a:ext cx="4597400" cy="1569660"/>
          </a:xfrm>
          <a:prstGeom prst="rect">
            <a:avLst/>
          </a:prstGeom>
          <a:noFill/>
        </p:spPr>
        <p:txBody>
          <a:bodyPr vertOverflow="overflow" vert="horz" wrap="square" rtlCol="0" anchor="ctr" anchorCtr="0">
            <a:spAutoFit/>
          </a:bodyPr>
          <a:lstStyle/>
          <a:p>
            <a:pPr algn="l"/>
            <a:r>
              <a:rPr lang="en-US" sz="2400" b="1" i="1" dirty="0">
                <a:solidFill>
                  <a:srgbClr val="B5651A"/>
                </a:solidFill>
                <a:latin typeface="Open Sans"/>
                <a:ea typeface="Open Sans"/>
                <a:cs typeface="Open Sans"/>
              </a:rPr>
              <a:t>"In the age of AI, writing code by hand is the software equivalent of sending a fax to prove commitment."</a:t>
            </a:r>
          </a:p>
        </p:txBody>
      </p:sp>
      <p:pic>
        <p:nvPicPr>
          <p:cNvPr id="9" name="Picture 8">
            <a:extLst>
              <a:ext uri="{FF2B5EF4-FFF2-40B4-BE49-F238E27FC236}">
                <a16:creationId xmlns:a16="http://schemas.microsoft.com/office/drawing/2014/main" id="{D2C41BDF-144B-5613-8DC5-233C8FDC24AB}"/>
              </a:ext>
            </a:extLst>
          </p:cNvPr>
          <p:cNvPicPr>
            <a:picLocks noChangeAspect="1"/>
          </p:cNvPicPr>
          <p:nvPr/>
        </p:nvPicPr>
        <p:blipFill>
          <a:blip r:embed="rId3"/>
          <a:stretch>
            <a:fillRect/>
          </a:stretch>
        </p:blipFill>
        <p:spPr>
          <a:xfrm>
            <a:off x="5637578" y="1312632"/>
            <a:ext cx="6089162" cy="4871329"/>
          </a:xfrm>
          <a:prstGeom prst="rect">
            <a:avLst/>
          </a:prstGeom>
        </p:spPr>
      </p:pic>
      <p:sp>
        <p:nvSpPr>
          <p:cNvPr id="3" name="TextBox 2">
            <a:extLst>
              <a:ext uri="{FF2B5EF4-FFF2-40B4-BE49-F238E27FC236}">
                <a16:creationId xmlns:a16="http://schemas.microsoft.com/office/drawing/2014/main" id="{6CE86B0B-A452-63AE-33FE-847C9976D24F}"/>
              </a:ext>
            </a:extLst>
          </p:cNvPr>
          <p:cNvSpPr txBox="1"/>
          <p:nvPr/>
        </p:nvSpPr>
        <p:spPr>
          <a:xfrm>
            <a:off x="316278" y="188186"/>
            <a:ext cx="11371630" cy="523220"/>
          </a:xfrm>
          <a:prstGeom prst="rect">
            <a:avLst/>
          </a:prstGeom>
          <a:noFill/>
        </p:spPr>
        <p:txBody>
          <a:bodyPr wrap="square">
            <a:spAutoFit/>
          </a:bodyPr>
          <a:lstStyle/>
          <a:p>
            <a:r>
              <a:rPr lang="en-US" sz="2800" b="1" i="1" dirty="0">
                <a:solidFill>
                  <a:srgbClr val="587B8B"/>
                </a:solidFill>
                <a:effectLst/>
                <a:latin typeface="-apple-system"/>
              </a:rPr>
              <a:t>We cannot say development is dead, but hand-made development is dead.</a:t>
            </a:r>
            <a:endParaRPr lang="en-US" sz="2800" dirty="0"/>
          </a:p>
        </p:txBody>
      </p:sp>
      <p:sp>
        <p:nvSpPr>
          <p:cNvPr id="8" name="TextBox 7">
            <a:extLst>
              <a:ext uri="{FF2B5EF4-FFF2-40B4-BE49-F238E27FC236}">
                <a16:creationId xmlns:a16="http://schemas.microsoft.com/office/drawing/2014/main" id="{CBCBBF38-8A95-B0F0-976A-6A4E411361DE}"/>
              </a:ext>
            </a:extLst>
          </p:cNvPr>
          <p:cNvSpPr txBox="1"/>
          <p:nvPr/>
        </p:nvSpPr>
        <p:spPr>
          <a:xfrm>
            <a:off x="359994" y="670549"/>
            <a:ext cx="11515728" cy="307777"/>
          </a:xfrm>
          <a:prstGeom prst="rect">
            <a:avLst/>
          </a:prstGeom>
          <a:noFill/>
        </p:spPr>
        <p:txBody>
          <a:bodyPr wrap="square">
            <a:spAutoFit/>
          </a:bodyPr>
          <a:lstStyle/>
          <a:p>
            <a:r>
              <a:rPr lang="en-US" sz="1400" b="0" i="0" dirty="0">
                <a:solidFill>
                  <a:srgbClr val="69707B"/>
                </a:solidFill>
                <a:effectLst/>
                <a:latin typeface="Poppins" panose="00000500000000000000" pitchFamily="2" charset="-94"/>
              </a:rPr>
              <a:t>From now on we'll use our time less on typing and more on thinking about features, user experiences and robust infrastructure.</a:t>
            </a:r>
            <a:endParaRPr lang="en-US" sz="1400" dirty="0"/>
          </a:p>
        </p:txBody>
      </p:sp>
      <p:sp>
        <p:nvSpPr>
          <p:cNvPr id="11" name="Rectangle 10">
            <a:extLst>
              <a:ext uri="{FF2B5EF4-FFF2-40B4-BE49-F238E27FC236}">
                <a16:creationId xmlns:a16="http://schemas.microsoft.com/office/drawing/2014/main" id="{D625C16B-987D-21BA-B2D6-FE2C81D8CF1D}"/>
              </a:ext>
            </a:extLst>
          </p:cNvPr>
          <p:cNvSpPr/>
          <p:nvPr/>
        </p:nvSpPr>
        <p:spPr>
          <a:xfrm>
            <a:off x="316277" y="1040493"/>
            <a:ext cx="11371629" cy="45719"/>
          </a:xfrm>
          <a:prstGeom prst="rect">
            <a:avLst/>
          </a:prstGeom>
          <a:solidFill>
            <a:srgbClr val="1C7FB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4487670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EC387-BCA4-56BD-09C8-E634F566DE0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F91B2959-EE56-3BD7-AC0E-E6308DDE7A3F}"/>
              </a:ext>
            </a:extLst>
          </p:cNvPr>
          <p:cNvSpPr>
            <a:spLocks noGrp="1"/>
          </p:cNvSpPr>
          <p:nvPr>
            <p:ph type="title"/>
          </p:nvPr>
        </p:nvSpPr>
        <p:spPr>
          <a:xfrm>
            <a:off x="635000" y="109416"/>
            <a:ext cx="10922000" cy="762000"/>
          </a:xfrm>
        </p:spPr>
        <p:txBody>
          <a:bodyPr>
            <a:normAutofit/>
          </a:bodyPr>
          <a:lstStyle/>
          <a:p>
            <a:r>
              <a:rPr lang="en-US" sz="3000" b="1" dirty="0"/>
              <a:t>Prisoners Dilemma: </a:t>
            </a:r>
            <a:r>
              <a:rPr lang="en-US" sz="3000" b="1" dirty="0" err="1"/>
              <a:t>Mahkum</a:t>
            </a:r>
            <a:r>
              <a:rPr lang="en-US" sz="3000" b="1" dirty="0"/>
              <a:t> </a:t>
            </a:r>
            <a:r>
              <a:rPr lang="en-US" sz="3000" b="1" dirty="0" err="1"/>
              <a:t>İkilemi</a:t>
            </a:r>
            <a:endParaRPr lang="en-US" sz="3000" b="1" dirty="0">
              <a:latin typeface="Montserrat"/>
            </a:endParaRPr>
          </a:p>
        </p:txBody>
      </p:sp>
      <p:pic>
        <p:nvPicPr>
          <p:cNvPr id="2" name="Picture 1" descr="A collaboration payoff matrix from an architecture session">
            <a:extLst>
              <a:ext uri="{FF2B5EF4-FFF2-40B4-BE49-F238E27FC236}">
                <a16:creationId xmlns:a16="http://schemas.microsoft.com/office/drawing/2014/main" id="{47CBB41B-6A66-0811-75B0-5496BA0F5FC0}"/>
              </a:ext>
            </a:extLst>
          </p:cNvPr>
          <p:cNvPicPr>
            <a:picLocks noChangeAspect="1"/>
          </p:cNvPicPr>
          <p:nvPr/>
        </p:nvPicPr>
        <p:blipFill>
          <a:blip r:embed="rId3"/>
          <a:srcRect l="11154" t="20855" r="16667" b="15384"/>
          <a:stretch>
            <a:fillRect/>
          </a:stretch>
        </p:blipFill>
        <p:spPr>
          <a:xfrm>
            <a:off x="3507153" y="871416"/>
            <a:ext cx="8416735" cy="5576276"/>
          </a:xfrm>
          <a:prstGeom prst="rect">
            <a:avLst/>
          </a:prstGeom>
        </p:spPr>
      </p:pic>
      <p:pic>
        <p:nvPicPr>
          <p:cNvPr id="10" name="Picture 9">
            <a:extLst>
              <a:ext uri="{FF2B5EF4-FFF2-40B4-BE49-F238E27FC236}">
                <a16:creationId xmlns:a16="http://schemas.microsoft.com/office/drawing/2014/main" id="{DF4AFBBC-29B9-0CDA-602B-01C79189FB2B}"/>
              </a:ext>
            </a:extLst>
          </p:cNvPr>
          <p:cNvPicPr>
            <a:picLocks noChangeAspect="1"/>
          </p:cNvPicPr>
          <p:nvPr/>
        </p:nvPicPr>
        <p:blipFill>
          <a:blip r:embed="rId4"/>
          <a:stretch>
            <a:fillRect/>
          </a:stretch>
        </p:blipFill>
        <p:spPr>
          <a:xfrm>
            <a:off x="439022" y="2504832"/>
            <a:ext cx="2853837" cy="1819152"/>
          </a:xfrm>
          <a:prstGeom prst="rect">
            <a:avLst/>
          </a:prstGeom>
        </p:spPr>
      </p:pic>
      <p:pic>
        <p:nvPicPr>
          <p:cNvPr id="12" name="Picture 11">
            <a:extLst>
              <a:ext uri="{FF2B5EF4-FFF2-40B4-BE49-F238E27FC236}">
                <a16:creationId xmlns:a16="http://schemas.microsoft.com/office/drawing/2014/main" id="{DC96C6F8-F769-108C-BCD7-A431A844A75D}"/>
              </a:ext>
            </a:extLst>
          </p:cNvPr>
          <p:cNvPicPr>
            <a:picLocks noChangeAspect="1"/>
          </p:cNvPicPr>
          <p:nvPr/>
        </p:nvPicPr>
        <p:blipFill>
          <a:blip r:embed="rId5"/>
          <a:stretch>
            <a:fillRect/>
          </a:stretch>
        </p:blipFill>
        <p:spPr>
          <a:xfrm>
            <a:off x="408789" y="871416"/>
            <a:ext cx="2884070" cy="1633416"/>
          </a:xfrm>
          <a:prstGeom prst="rect">
            <a:avLst/>
          </a:prstGeom>
        </p:spPr>
      </p:pic>
    </p:spTree>
    <p:extLst>
      <p:ext uri="{BB962C8B-B14F-4D97-AF65-F5344CB8AC3E}">
        <p14:creationId xmlns:p14="http://schemas.microsoft.com/office/powerpoint/2010/main" val="1688320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1FD85-FEFE-BE82-7E87-11072475197A}"/>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E394549D-D4FE-AC72-517D-5ADC1D3DD1BA}"/>
              </a:ext>
            </a:extLst>
          </p:cNvPr>
          <p:cNvSpPr>
            <a:spLocks noGrp="1"/>
          </p:cNvSpPr>
          <p:nvPr>
            <p:ph type="title"/>
          </p:nvPr>
        </p:nvSpPr>
        <p:spPr>
          <a:xfrm>
            <a:off x="635000" y="109416"/>
            <a:ext cx="10922000" cy="762000"/>
          </a:xfrm>
        </p:spPr>
        <p:txBody>
          <a:bodyPr>
            <a:normAutofit/>
          </a:bodyPr>
          <a:lstStyle/>
          <a:p>
            <a:r>
              <a:rPr lang="en-US" sz="3000" b="1" dirty="0"/>
              <a:t>Learn the business</a:t>
            </a:r>
            <a:endParaRPr lang="en-US" sz="3000" b="1" dirty="0">
              <a:latin typeface="Montserrat"/>
            </a:endParaRPr>
          </a:p>
        </p:txBody>
      </p:sp>
      <p:pic>
        <p:nvPicPr>
          <p:cNvPr id="4" name="Picture 3">
            <a:extLst>
              <a:ext uri="{FF2B5EF4-FFF2-40B4-BE49-F238E27FC236}">
                <a16:creationId xmlns:a16="http://schemas.microsoft.com/office/drawing/2014/main" id="{602AC89B-BED1-9BD5-F446-0A00C3F73557}"/>
              </a:ext>
            </a:extLst>
          </p:cNvPr>
          <p:cNvPicPr>
            <a:picLocks noChangeAspect="1"/>
          </p:cNvPicPr>
          <p:nvPr/>
        </p:nvPicPr>
        <p:blipFill>
          <a:blip r:embed="rId3"/>
          <a:stretch>
            <a:fillRect/>
          </a:stretch>
        </p:blipFill>
        <p:spPr>
          <a:xfrm>
            <a:off x="635000" y="1025131"/>
            <a:ext cx="10265446" cy="5094315"/>
          </a:xfrm>
          <a:prstGeom prst="rect">
            <a:avLst/>
          </a:prstGeom>
        </p:spPr>
      </p:pic>
    </p:spTree>
    <p:extLst>
      <p:ext uri="{BB962C8B-B14F-4D97-AF65-F5344CB8AC3E}">
        <p14:creationId xmlns:p14="http://schemas.microsoft.com/office/powerpoint/2010/main" val="15203968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56CF7-ED1D-7CF9-F348-77D6D6B14AFB}"/>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447D143-DA48-CC15-5E35-6F326F330A83}"/>
              </a:ext>
            </a:extLst>
          </p:cNvPr>
          <p:cNvSpPr>
            <a:spLocks noGrp="1"/>
          </p:cNvSpPr>
          <p:nvPr>
            <p:ph type="title"/>
          </p:nvPr>
        </p:nvSpPr>
        <p:spPr>
          <a:xfrm>
            <a:off x="635000" y="109416"/>
            <a:ext cx="10922000" cy="762000"/>
          </a:xfrm>
        </p:spPr>
        <p:txBody>
          <a:bodyPr>
            <a:normAutofit/>
          </a:bodyPr>
          <a:lstStyle/>
          <a:p>
            <a:r>
              <a:rPr lang="en-US" sz="3000" b="1" dirty="0"/>
              <a:t>Work Incrementally</a:t>
            </a:r>
            <a:endParaRPr lang="en-US" sz="3000" b="1" dirty="0">
              <a:latin typeface="Montserrat"/>
            </a:endParaRPr>
          </a:p>
        </p:txBody>
      </p:sp>
      <p:pic>
        <p:nvPicPr>
          <p:cNvPr id="3" name="Picture 2">
            <a:extLst>
              <a:ext uri="{FF2B5EF4-FFF2-40B4-BE49-F238E27FC236}">
                <a16:creationId xmlns:a16="http://schemas.microsoft.com/office/drawing/2014/main" id="{B14AF9AE-5225-F36E-C3CD-81E90A8943AE}"/>
              </a:ext>
            </a:extLst>
          </p:cNvPr>
          <p:cNvPicPr>
            <a:picLocks noChangeAspect="1"/>
          </p:cNvPicPr>
          <p:nvPr/>
        </p:nvPicPr>
        <p:blipFill>
          <a:blip r:embed="rId3"/>
          <a:stretch>
            <a:fillRect/>
          </a:stretch>
        </p:blipFill>
        <p:spPr>
          <a:xfrm>
            <a:off x="635000" y="871416"/>
            <a:ext cx="8522677" cy="5439508"/>
          </a:xfrm>
          <a:prstGeom prst="rect">
            <a:avLst/>
          </a:prstGeom>
        </p:spPr>
      </p:pic>
    </p:spTree>
    <p:extLst>
      <p:ext uri="{BB962C8B-B14F-4D97-AF65-F5344CB8AC3E}">
        <p14:creationId xmlns:p14="http://schemas.microsoft.com/office/powerpoint/2010/main" val="4206985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5003C-EC2B-60FE-35C4-E3D42F3905D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3CB0892-DB72-EA61-C848-F3A871F07424}"/>
              </a:ext>
            </a:extLst>
          </p:cNvPr>
          <p:cNvPicPr>
            <a:picLocks noChangeAspect="1"/>
          </p:cNvPicPr>
          <p:nvPr/>
        </p:nvPicPr>
        <p:blipFill>
          <a:blip r:embed="rId3"/>
          <a:srcRect t="15936" b="15221"/>
          <a:stretch>
            <a:fillRect/>
          </a:stretch>
        </p:blipFill>
        <p:spPr>
          <a:xfrm>
            <a:off x="568568" y="90251"/>
            <a:ext cx="7539769" cy="1237880"/>
          </a:xfrm>
          <a:prstGeom prst="rect">
            <a:avLst/>
          </a:prstGeom>
        </p:spPr>
      </p:pic>
      <p:pic>
        <p:nvPicPr>
          <p:cNvPr id="3" name="Picture 2">
            <a:extLst>
              <a:ext uri="{FF2B5EF4-FFF2-40B4-BE49-F238E27FC236}">
                <a16:creationId xmlns:a16="http://schemas.microsoft.com/office/drawing/2014/main" id="{F6397461-8957-4C76-0340-27ADC88BE896}"/>
              </a:ext>
            </a:extLst>
          </p:cNvPr>
          <p:cNvPicPr>
            <a:picLocks noChangeAspect="1"/>
          </p:cNvPicPr>
          <p:nvPr/>
        </p:nvPicPr>
        <p:blipFill>
          <a:blip r:embed="rId4"/>
          <a:stretch>
            <a:fillRect/>
          </a:stretch>
        </p:blipFill>
        <p:spPr>
          <a:xfrm>
            <a:off x="568567" y="1348153"/>
            <a:ext cx="7539770" cy="5298832"/>
          </a:xfrm>
          <a:prstGeom prst="rect">
            <a:avLst/>
          </a:prstGeom>
        </p:spPr>
      </p:pic>
      <p:sp>
        <p:nvSpPr>
          <p:cNvPr id="13" name="Title 1">
            <a:extLst>
              <a:ext uri="{FF2B5EF4-FFF2-40B4-BE49-F238E27FC236}">
                <a16:creationId xmlns:a16="http://schemas.microsoft.com/office/drawing/2014/main" id="{95DDE667-E076-533A-355D-C051A2CB4EAF}"/>
              </a:ext>
            </a:extLst>
          </p:cNvPr>
          <p:cNvSpPr>
            <a:spLocks noGrp="1"/>
          </p:cNvSpPr>
          <p:nvPr>
            <p:ph type="title"/>
          </p:nvPr>
        </p:nvSpPr>
        <p:spPr>
          <a:xfrm>
            <a:off x="1242646" y="1488831"/>
            <a:ext cx="6142892" cy="621322"/>
          </a:xfrm>
        </p:spPr>
        <p:style>
          <a:lnRef idx="2">
            <a:schemeClr val="dk1"/>
          </a:lnRef>
          <a:fillRef idx="1">
            <a:schemeClr val="lt1"/>
          </a:fillRef>
          <a:effectRef idx="0">
            <a:schemeClr val="dk1"/>
          </a:effectRef>
          <a:fontRef idx="minor">
            <a:schemeClr val="dk1"/>
          </a:fontRef>
        </p:style>
        <p:txBody>
          <a:bodyPr>
            <a:normAutofit/>
          </a:bodyPr>
          <a:lstStyle/>
          <a:p>
            <a:pPr algn="ctr"/>
            <a:r>
              <a:rPr lang="en-US" sz="3000" b="1" dirty="0"/>
              <a:t>3 Hata </a:t>
            </a:r>
            <a:r>
              <a:rPr lang="en-US" sz="3000" b="1" dirty="0" err="1"/>
              <a:t>Düşmeyin</a:t>
            </a:r>
            <a:endParaRPr lang="en-US" sz="3000" b="1" dirty="0">
              <a:latin typeface="Montserrat"/>
            </a:endParaRPr>
          </a:p>
        </p:txBody>
      </p:sp>
    </p:spTree>
    <p:extLst>
      <p:ext uri="{BB962C8B-B14F-4D97-AF65-F5344CB8AC3E}">
        <p14:creationId xmlns:p14="http://schemas.microsoft.com/office/powerpoint/2010/main" val="31779931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E2E2FF4E-F031-0434-CD9F-14370D1EA9EF}"/>
              </a:ext>
            </a:extLst>
          </p:cNvPr>
          <p:cNvPicPr>
            <a:picLocks noChangeAspect="1"/>
          </p:cNvPicPr>
          <p:nvPr/>
        </p:nvPicPr>
        <p:blipFill>
          <a:blip r:embed="rId3"/>
          <a:stretch>
            <a:fillRect/>
          </a:stretch>
        </p:blipFill>
        <p:spPr>
          <a:xfrm>
            <a:off x="685800" y="1373120"/>
            <a:ext cx="5105400" cy="4826677"/>
          </a:xfrm>
          <a:prstGeom prst="rect">
            <a:avLst/>
          </a:prstGeom>
        </p:spPr>
      </p:pic>
      <p:sp>
        <p:nvSpPr>
          <p:cNvPr id="29" name="Title 28">
            <a:extLst>
              <a:ext uri="{FF2B5EF4-FFF2-40B4-BE49-F238E27FC236}">
                <a16:creationId xmlns:a16="http://schemas.microsoft.com/office/drawing/2014/main" id="{DB2FD5CF-697B-F258-72C9-E2667846573C}"/>
              </a:ext>
            </a:extLst>
          </p:cNvPr>
          <p:cNvSpPr>
            <a:spLocks noGrp="1"/>
          </p:cNvSpPr>
          <p:nvPr>
            <p:ph type="title"/>
          </p:nvPr>
        </p:nvSpPr>
        <p:spPr>
          <a:xfrm>
            <a:off x="568569" y="658203"/>
            <a:ext cx="11054861" cy="912690"/>
          </a:xfrm>
        </p:spPr>
        <p:txBody>
          <a:bodyPr>
            <a:normAutofit fontScale="90000"/>
          </a:bodyPr>
          <a:lstStyle/>
          <a:p>
            <a:r>
              <a:rPr lang="en-US" dirty="0" err="1"/>
              <a:t>Türklerin</a:t>
            </a:r>
            <a:r>
              <a:rPr lang="en-US" dirty="0"/>
              <a:t> de </a:t>
            </a:r>
            <a:r>
              <a:rPr lang="en-US" dirty="0" err="1"/>
              <a:t>ünlü</a:t>
            </a:r>
            <a:r>
              <a:rPr lang="en-US" dirty="0"/>
              <a:t> </a:t>
            </a:r>
            <a:r>
              <a:rPr lang="en-US" dirty="0" err="1"/>
              <a:t>olduğu</a:t>
            </a:r>
            <a:r>
              <a:rPr lang="en-US" dirty="0"/>
              <a:t> </a:t>
            </a:r>
            <a:r>
              <a:rPr lang="en-US" dirty="0" err="1"/>
              <a:t>yerler</a:t>
            </a:r>
            <a:r>
              <a:rPr lang="en-US" dirty="0"/>
              <a:t> var 😆</a:t>
            </a:r>
            <a:br>
              <a:rPr lang="en-US" dirty="0"/>
            </a:br>
            <a:endParaRPr lang="en-US" dirty="0"/>
          </a:p>
        </p:txBody>
      </p:sp>
    </p:spTree>
    <p:extLst>
      <p:ext uri="{BB962C8B-B14F-4D97-AF65-F5344CB8AC3E}">
        <p14:creationId xmlns:p14="http://schemas.microsoft.com/office/powerpoint/2010/main" val="373260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2712D-B8E9-9B13-C6BA-FD0A4C81A8E2}"/>
              </a:ext>
            </a:extLst>
          </p:cNvPr>
          <p:cNvSpPr>
            <a:spLocks noGrp="1"/>
          </p:cNvSpPr>
          <p:nvPr>
            <p:ph type="title"/>
          </p:nvPr>
        </p:nvSpPr>
        <p:spPr>
          <a:xfrm>
            <a:off x="635000" y="307975"/>
            <a:ext cx="10922000" cy="762000"/>
          </a:xfrm>
        </p:spPr>
        <p:txBody>
          <a:bodyPr>
            <a:normAutofit/>
          </a:bodyPr>
          <a:lstStyle/>
          <a:p>
            <a:r>
              <a:rPr lang="en-US" sz="3000" b="1">
                <a:latin typeface="Montserrat"/>
              </a:rPr>
              <a:t>Organizasyonlarda Güç: Power-With</a:t>
            </a:r>
          </a:p>
        </p:txBody>
      </p:sp>
      <p:sp>
        <p:nvSpPr>
          <p:cNvPr id="3" name="Rectangle 2">
            <a:extLst>
              <a:ext uri="{FF2B5EF4-FFF2-40B4-BE49-F238E27FC236}">
                <a16:creationId xmlns:a16="http://schemas.microsoft.com/office/drawing/2014/main" id="{6A4E3D88-A923-4DF9-BDAC-46B227BE08E5}"/>
              </a:ext>
            </a:extLst>
          </p:cNvPr>
          <p:cNvSpPr/>
          <p:nvPr/>
        </p:nvSpPr>
        <p:spPr>
          <a:xfrm>
            <a:off x="660400" y="1346200"/>
            <a:ext cx="889000" cy="63500"/>
          </a:xfrm>
          <a:prstGeom prst="rect">
            <a:avLst/>
          </a:prstGeom>
          <a:solidFill>
            <a:srgbClr val="E08A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Rectangle: Rounded Corners 3">
            <a:extLst>
              <a:ext uri="{FF2B5EF4-FFF2-40B4-BE49-F238E27FC236}">
                <a16:creationId xmlns:a16="http://schemas.microsoft.com/office/drawing/2014/main" id="{16200E09-4287-400B-9C97-B60402835B75}"/>
              </a:ext>
            </a:extLst>
          </p:cNvPr>
          <p:cNvSpPr/>
          <p:nvPr/>
        </p:nvSpPr>
        <p:spPr>
          <a:xfrm>
            <a:off x="635000" y="1651000"/>
            <a:ext cx="5080000" cy="1422400"/>
          </a:xfrm>
          <a:prstGeom prst="roundRect">
            <a:avLst/>
          </a:prstGeom>
          <a:solidFill>
            <a:srgbClr val="FBEDE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3E382907-820B-4029-89F6-A744B4DA92B8}"/>
              </a:ext>
            </a:extLst>
          </p:cNvPr>
          <p:cNvSpPr/>
          <p:nvPr/>
        </p:nvSpPr>
        <p:spPr>
          <a:xfrm>
            <a:off x="635000" y="1828800"/>
            <a:ext cx="88900" cy="1066800"/>
          </a:xfrm>
          <a:prstGeom prst="rect">
            <a:avLst/>
          </a:prstGeom>
          <a:solidFill>
            <a:srgbClr val="C0563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210DEAE6-52CB-4744-A2AD-E724F9AAE1D0}"/>
              </a:ext>
            </a:extLst>
          </p:cNvPr>
          <p:cNvSpPr txBox="1"/>
          <p:nvPr/>
        </p:nvSpPr>
        <p:spPr>
          <a:xfrm>
            <a:off x="939800" y="1803400"/>
            <a:ext cx="4572000" cy="330200"/>
          </a:xfrm>
          <a:prstGeom prst="rect">
            <a:avLst/>
          </a:prstGeom>
          <a:noFill/>
        </p:spPr>
        <p:txBody>
          <a:bodyPr vertOverflow="overflow" vert="horz" wrap="square" rtlCol="0" anchor="t">
            <a:spAutoFit/>
          </a:bodyPr>
          <a:lstStyle/>
          <a:p>
            <a:pPr algn="l"/>
            <a:r>
              <a:rPr lang="en-US" sz="1700" b="1">
                <a:solidFill>
                  <a:srgbClr val="C0563B"/>
                </a:solidFill>
                <a:latin typeface="Montserrat"/>
              </a:rPr>
              <a:t>Power-Over</a:t>
            </a:r>
          </a:p>
        </p:txBody>
      </p:sp>
      <p:sp>
        <p:nvSpPr>
          <p:cNvPr id="7" name="TextBox 6">
            <a:extLst>
              <a:ext uri="{FF2B5EF4-FFF2-40B4-BE49-F238E27FC236}">
                <a16:creationId xmlns:a16="http://schemas.microsoft.com/office/drawing/2014/main" id="{06DF16EC-F981-486F-AAB3-6843C8434F37}"/>
              </a:ext>
            </a:extLst>
          </p:cNvPr>
          <p:cNvSpPr txBox="1"/>
          <p:nvPr/>
        </p:nvSpPr>
        <p:spPr>
          <a:xfrm>
            <a:off x="939800" y="2184400"/>
            <a:ext cx="4521200" cy="507831"/>
          </a:xfrm>
          <a:prstGeom prst="rect">
            <a:avLst/>
          </a:prstGeom>
          <a:noFill/>
        </p:spPr>
        <p:txBody>
          <a:bodyPr vertOverflow="overflow" vert="horz" wrap="square" rtlCol="0" anchor="t">
            <a:spAutoFit/>
          </a:bodyPr>
          <a:lstStyle/>
          <a:p>
            <a:pPr algn="l"/>
            <a:r>
              <a:rPr lang="en-US" sz="1350" dirty="0" err="1">
                <a:solidFill>
                  <a:srgbClr val="24364A"/>
                </a:solidFill>
                <a:latin typeface="Open Sans"/>
                <a:ea typeface="Open Sans"/>
                <a:cs typeface="Open Sans"/>
              </a:rPr>
              <a:t>Başkalarının</a:t>
            </a:r>
            <a:r>
              <a:rPr lang="en-US" sz="1350" dirty="0">
                <a:solidFill>
                  <a:srgbClr val="24364A"/>
                </a:solidFill>
                <a:latin typeface="Open Sans"/>
                <a:ea typeface="Open Sans"/>
                <a:cs typeface="Open Sans"/>
              </a:rPr>
              <a:t> </a:t>
            </a:r>
            <a:r>
              <a:rPr lang="en-US" sz="1350" dirty="0" err="1">
                <a:solidFill>
                  <a:srgbClr val="24364A"/>
                </a:solidFill>
                <a:latin typeface="Open Sans"/>
                <a:ea typeface="Open Sans"/>
                <a:cs typeface="Open Sans"/>
              </a:rPr>
              <a:t>zihnini</a:t>
            </a:r>
            <a:r>
              <a:rPr lang="en-US" sz="1350" dirty="0">
                <a:solidFill>
                  <a:srgbClr val="24364A"/>
                </a:solidFill>
                <a:latin typeface="Open Sans"/>
                <a:ea typeface="Open Sans"/>
                <a:cs typeface="Open Sans"/>
              </a:rPr>
              <a:t> </a:t>
            </a:r>
            <a:r>
              <a:rPr lang="en-US" sz="1350" dirty="0" err="1">
                <a:solidFill>
                  <a:srgbClr val="24364A"/>
                </a:solidFill>
                <a:latin typeface="Open Sans"/>
                <a:ea typeface="Open Sans"/>
                <a:cs typeface="Open Sans"/>
              </a:rPr>
              <a:t>ele</a:t>
            </a:r>
            <a:r>
              <a:rPr lang="en-US" sz="1350" dirty="0">
                <a:solidFill>
                  <a:srgbClr val="24364A"/>
                </a:solidFill>
                <a:latin typeface="Open Sans"/>
                <a:ea typeface="Open Sans"/>
                <a:cs typeface="Open Sans"/>
              </a:rPr>
              <a:t> </a:t>
            </a:r>
            <a:r>
              <a:rPr lang="en-US" sz="1350" dirty="0" err="1">
                <a:solidFill>
                  <a:srgbClr val="24364A"/>
                </a:solidFill>
                <a:latin typeface="Open Sans"/>
                <a:ea typeface="Open Sans"/>
                <a:cs typeface="Open Sans"/>
              </a:rPr>
              <a:t>geçir</a:t>
            </a:r>
            <a:r>
              <a:rPr lang="en-US" sz="1350" dirty="0">
                <a:solidFill>
                  <a:srgbClr val="24364A"/>
                </a:solidFill>
                <a:latin typeface="Open Sans"/>
                <a:ea typeface="Open Sans"/>
                <a:cs typeface="Open Sans"/>
              </a:rPr>
              <a:t>; </a:t>
            </a:r>
            <a:r>
              <a:rPr lang="en-US" sz="1350" dirty="0" err="1">
                <a:solidFill>
                  <a:srgbClr val="24364A"/>
                </a:solidFill>
                <a:latin typeface="Open Sans"/>
                <a:ea typeface="Open Sans"/>
                <a:cs typeface="Open Sans"/>
              </a:rPr>
              <a:t>kontrol</a:t>
            </a:r>
            <a:r>
              <a:rPr lang="en-US" sz="1350" dirty="0">
                <a:solidFill>
                  <a:srgbClr val="24364A"/>
                </a:solidFill>
                <a:latin typeface="Open Sans"/>
                <a:ea typeface="Open Sans"/>
                <a:cs typeface="Open Sans"/>
              </a:rPr>
              <a:t>, </a:t>
            </a:r>
            <a:r>
              <a:rPr lang="en-US" sz="1350" dirty="0" err="1">
                <a:solidFill>
                  <a:srgbClr val="24364A"/>
                </a:solidFill>
                <a:latin typeface="Open Sans"/>
                <a:ea typeface="Open Sans"/>
                <a:cs typeface="Open Sans"/>
              </a:rPr>
              <a:t>zorlama</a:t>
            </a:r>
            <a:r>
              <a:rPr lang="en-US" sz="1350" dirty="0">
                <a:solidFill>
                  <a:srgbClr val="24364A"/>
                </a:solidFill>
                <a:latin typeface="Open Sans"/>
                <a:ea typeface="Open Sans"/>
                <a:cs typeface="Open Sans"/>
              </a:rPr>
              <a:t> ve </a:t>
            </a:r>
            <a:r>
              <a:rPr lang="en-US" sz="1350" dirty="0" err="1">
                <a:solidFill>
                  <a:srgbClr val="24364A"/>
                </a:solidFill>
                <a:latin typeface="Open Sans"/>
                <a:ea typeface="Open Sans"/>
                <a:cs typeface="Open Sans"/>
              </a:rPr>
              <a:t>emirle</a:t>
            </a:r>
            <a:r>
              <a:rPr lang="en-US" sz="1350" dirty="0">
                <a:solidFill>
                  <a:srgbClr val="24364A"/>
                </a:solidFill>
                <a:latin typeface="Open Sans"/>
                <a:ea typeface="Open Sans"/>
                <a:cs typeface="Open Sans"/>
              </a:rPr>
              <a:t> iş </a:t>
            </a:r>
            <a:r>
              <a:rPr lang="en-US" sz="1350" dirty="0" err="1">
                <a:solidFill>
                  <a:srgbClr val="24364A"/>
                </a:solidFill>
                <a:latin typeface="Open Sans"/>
                <a:ea typeface="Open Sans"/>
                <a:cs typeface="Open Sans"/>
              </a:rPr>
              <a:t>yaptırma</a:t>
            </a:r>
            <a:endParaRPr lang="en-US" sz="1350" dirty="0">
              <a:solidFill>
                <a:srgbClr val="24364A"/>
              </a:solidFill>
              <a:latin typeface="Open Sans"/>
              <a:ea typeface="Open Sans"/>
              <a:cs typeface="Open Sans"/>
            </a:endParaRPr>
          </a:p>
        </p:txBody>
      </p:sp>
      <p:sp>
        <p:nvSpPr>
          <p:cNvPr id="8" name="Rectangle: Rounded Corners 7">
            <a:extLst>
              <a:ext uri="{FF2B5EF4-FFF2-40B4-BE49-F238E27FC236}">
                <a16:creationId xmlns:a16="http://schemas.microsoft.com/office/drawing/2014/main" id="{EF1FBD6E-38EA-4530-96F9-E7DB2FB5CA77}"/>
              </a:ext>
            </a:extLst>
          </p:cNvPr>
          <p:cNvSpPr/>
          <p:nvPr/>
        </p:nvSpPr>
        <p:spPr>
          <a:xfrm>
            <a:off x="635000" y="3251200"/>
            <a:ext cx="5080000" cy="1422400"/>
          </a:xfrm>
          <a:prstGeom prst="roundRect">
            <a:avLst/>
          </a:prstGeom>
          <a:solidFill>
            <a:srgbClr val="E6F4F2"/>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Rectangle 8">
            <a:extLst>
              <a:ext uri="{FF2B5EF4-FFF2-40B4-BE49-F238E27FC236}">
                <a16:creationId xmlns:a16="http://schemas.microsoft.com/office/drawing/2014/main" id="{D9996B43-4189-4707-A0C4-A5C76FB1C148}"/>
              </a:ext>
            </a:extLst>
          </p:cNvPr>
          <p:cNvSpPr/>
          <p:nvPr/>
        </p:nvSpPr>
        <p:spPr>
          <a:xfrm>
            <a:off x="635000" y="3429000"/>
            <a:ext cx="88900" cy="1066800"/>
          </a:xfrm>
          <a:prstGeom prst="rect">
            <a:avLst/>
          </a:prstGeom>
          <a:solidFill>
            <a:srgbClr val="2BA39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67B4D14F-8FCC-4E66-927A-FF9C02F45214}"/>
              </a:ext>
            </a:extLst>
          </p:cNvPr>
          <p:cNvSpPr txBox="1"/>
          <p:nvPr/>
        </p:nvSpPr>
        <p:spPr>
          <a:xfrm>
            <a:off x="939800" y="3403600"/>
            <a:ext cx="4572000" cy="330200"/>
          </a:xfrm>
          <a:prstGeom prst="rect">
            <a:avLst/>
          </a:prstGeom>
          <a:noFill/>
        </p:spPr>
        <p:txBody>
          <a:bodyPr vertOverflow="overflow" vert="horz" wrap="square" rtlCol="0" anchor="t">
            <a:spAutoFit/>
          </a:bodyPr>
          <a:lstStyle/>
          <a:p>
            <a:pPr algn="l"/>
            <a:r>
              <a:rPr lang="en-US" sz="1700" b="1">
                <a:solidFill>
                  <a:srgbClr val="2BA39A"/>
                </a:solidFill>
                <a:latin typeface="Montserrat"/>
              </a:rPr>
              <a:t>Power-With</a:t>
            </a:r>
          </a:p>
        </p:txBody>
      </p:sp>
      <p:sp>
        <p:nvSpPr>
          <p:cNvPr id="11" name="TextBox 10">
            <a:extLst>
              <a:ext uri="{FF2B5EF4-FFF2-40B4-BE49-F238E27FC236}">
                <a16:creationId xmlns:a16="http://schemas.microsoft.com/office/drawing/2014/main" id="{BE09A03B-E1A1-44A1-B8A5-D7F4A0129DCA}"/>
              </a:ext>
            </a:extLst>
          </p:cNvPr>
          <p:cNvSpPr txBox="1"/>
          <p:nvPr/>
        </p:nvSpPr>
        <p:spPr>
          <a:xfrm>
            <a:off x="939800" y="3784600"/>
            <a:ext cx="4521200" cy="762000"/>
          </a:xfrm>
          <a:prstGeom prst="rect">
            <a:avLst/>
          </a:prstGeom>
          <a:noFill/>
        </p:spPr>
        <p:txBody>
          <a:bodyPr vertOverflow="overflow" vert="horz" wrap="square" rtlCol="0" anchor="t">
            <a:spAutoFit/>
          </a:bodyPr>
          <a:lstStyle/>
          <a:p>
            <a:pPr algn="l"/>
            <a:r>
              <a:rPr lang="en-US" sz="1350">
                <a:solidFill>
                  <a:srgbClr val="24364A"/>
                </a:solidFill>
                <a:latin typeface="Open Sans"/>
                <a:ea typeface="Open Sans"/>
                <a:cs typeface="Open Sans"/>
              </a:rPr>
              <a:t>Herkesin gücünü tek bir güce dönüştür; birlikte hareket ederek üret.</a:t>
            </a:r>
          </a:p>
        </p:txBody>
      </p:sp>
      <p:sp>
        <p:nvSpPr>
          <p:cNvPr id="12" name="Rectangle: Rounded Corners 11">
            <a:extLst>
              <a:ext uri="{FF2B5EF4-FFF2-40B4-BE49-F238E27FC236}">
                <a16:creationId xmlns:a16="http://schemas.microsoft.com/office/drawing/2014/main" id="{C9283606-5244-465F-AB13-D39DE54F143B}"/>
              </a:ext>
            </a:extLst>
          </p:cNvPr>
          <p:cNvSpPr/>
          <p:nvPr/>
        </p:nvSpPr>
        <p:spPr>
          <a:xfrm>
            <a:off x="635000" y="4978400"/>
            <a:ext cx="5080000" cy="1473200"/>
          </a:xfrm>
          <a:prstGeom prst="roundRect">
            <a:avLst/>
          </a:prstGeom>
          <a:solidFill>
            <a:srgbClr val="EEF3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6AE5B84F-38F6-4C96-B765-B9B8FD7CFB1E}"/>
              </a:ext>
            </a:extLst>
          </p:cNvPr>
          <p:cNvSpPr txBox="1"/>
          <p:nvPr/>
        </p:nvSpPr>
        <p:spPr>
          <a:xfrm>
            <a:off x="889000" y="5105400"/>
            <a:ext cx="4597400" cy="1219200"/>
          </a:xfrm>
          <a:prstGeom prst="rect">
            <a:avLst/>
          </a:prstGeom>
          <a:noFill/>
        </p:spPr>
        <p:txBody>
          <a:bodyPr vertOverflow="overflow" vert="horz" wrap="square" rtlCol="0" anchor="ctr" anchorCtr="0">
            <a:spAutoFit/>
          </a:bodyPr>
          <a:lstStyle/>
          <a:p>
            <a:pPr algn="l"/>
            <a:r>
              <a:rPr lang="en-US" sz="1450" i="1">
                <a:solidFill>
                  <a:srgbClr val="16263A"/>
                </a:solidFill>
                <a:latin typeface="Open Sans"/>
                <a:ea typeface="Open Sans"/>
                <a:cs typeface="Open Sans"/>
              </a:rPr>
              <a:t>"Temiz bir mimari bile ekipler hizalı değilse başarısız olabilir — tıpkı kimsenin güvenmediği bir AI çıktısı gibi."</a:t>
            </a:r>
          </a:p>
        </p:txBody>
      </p:sp>
      <p:pic>
        <p:nvPicPr>
          <p:cNvPr id="15" name="Picture 14">
            <a:extLst>
              <a:ext uri="{FF2B5EF4-FFF2-40B4-BE49-F238E27FC236}">
                <a16:creationId xmlns:a16="http://schemas.microsoft.com/office/drawing/2014/main" id="{AEE5DCDA-6C7E-54DC-6062-CC00872A7C95}"/>
              </a:ext>
            </a:extLst>
          </p:cNvPr>
          <p:cNvPicPr>
            <a:picLocks noChangeAspect="1"/>
          </p:cNvPicPr>
          <p:nvPr/>
        </p:nvPicPr>
        <p:blipFill>
          <a:blip r:embed="rId3"/>
          <a:stretch>
            <a:fillRect/>
          </a:stretch>
        </p:blipFill>
        <p:spPr>
          <a:xfrm>
            <a:off x="5727700" y="1476375"/>
            <a:ext cx="6464300" cy="4848225"/>
          </a:xfrm>
          <a:prstGeom prst="rect">
            <a:avLst/>
          </a:prstGeom>
        </p:spPr>
      </p:pic>
    </p:spTree>
    <p:extLst>
      <p:ext uri="{BB962C8B-B14F-4D97-AF65-F5344CB8AC3E}">
        <p14:creationId xmlns:p14="http://schemas.microsoft.com/office/powerpoint/2010/main" val="37908309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5D403-4833-3C02-FC7E-4E30CAE5CAC9}"/>
              </a:ext>
            </a:extLst>
          </p:cNvPr>
          <p:cNvSpPr>
            <a:spLocks noGrp="1"/>
          </p:cNvSpPr>
          <p:nvPr>
            <p:ph type="title"/>
          </p:nvPr>
        </p:nvSpPr>
        <p:spPr>
          <a:xfrm>
            <a:off x="635000" y="508000"/>
            <a:ext cx="10922000" cy="762000"/>
          </a:xfrm>
        </p:spPr>
        <p:txBody>
          <a:bodyPr>
            <a:normAutofit/>
          </a:bodyPr>
          <a:lstStyle/>
          <a:p>
            <a:r>
              <a:rPr lang="en-US" sz="2700" b="1">
                <a:latin typeface="Montserrat"/>
              </a:rPr>
              <a:t>Gücün Kaynakları ve Karar Verme Süreci</a:t>
            </a:r>
          </a:p>
        </p:txBody>
      </p:sp>
      <p:sp>
        <p:nvSpPr>
          <p:cNvPr id="3" name="Rectangle 2">
            <a:extLst>
              <a:ext uri="{FF2B5EF4-FFF2-40B4-BE49-F238E27FC236}">
                <a16:creationId xmlns:a16="http://schemas.microsoft.com/office/drawing/2014/main" id="{B60D8FA5-D6D7-49E2-918F-BF89F71D1E34}"/>
              </a:ext>
            </a:extLst>
          </p:cNvPr>
          <p:cNvSpPr/>
          <p:nvPr/>
        </p:nvSpPr>
        <p:spPr>
          <a:xfrm>
            <a:off x="660400" y="1346200"/>
            <a:ext cx="889000" cy="63500"/>
          </a:xfrm>
          <a:prstGeom prst="rect">
            <a:avLst/>
          </a:prstGeom>
          <a:solidFill>
            <a:srgbClr val="1C7FB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Rectangle 3">
            <a:extLst>
              <a:ext uri="{FF2B5EF4-FFF2-40B4-BE49-F238E27FC236}">
                <a16:creationId xmlns:a16="http://schemas.microsoft.com/office/drawing/2014/main" id="{EEC0589E-2EDE-445B-837B-5D4426FC2926}"/>
              </a:ext>
            </a:extLst>
          </p:cNvPr>
          <p:cNvSpPr/>
          <p:nvPr/>
        </p:nvSpPr>
        <p:spPr>
          <a:xfrm>
            <a:off x="635000" y="1676400"/>
            <a:ext cx="5461000" cy="3530600"/>
          </a:xfrm>
          <a:prstGeom prst="rect">
            <a:avLst/>
          </a:prstGeom>
          <a:solidFill>
            <a:srgbClr val="EEF3F8"/>
          </a:solidFill>
          <a:ln w="12700" cap="flat" cmpd="sng" algn="ctr">
            <a:solidFill>
              <a:srgbClr val="D5DEE7"/>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052F7933-3442-43F1-8359-0511AF1C33B5}"/>
              </a:ext>
            </a:extLst>
          </p:cNvPr>
          <p:cNvSpPr/>
          <p:nvPr/>
        </p:nvSpPr>
        <p:spPr>
          <a:xfrm>
            <a:off x="6273800" y="1676400"/>
            <a:ext cx="5334000" cy="3530600"/>
          </a:xfrm>
          <a:prstGeom prst="rect">
            <a:avLst/>
          </a:prstGeom>
          <a:solidFill>
            <a:srgbClr val="EEF3F8"/>
          </a:solidFill>
          <a:ln w="12700" cap="flat" cmpd="sng" algn="ctr">
            <a:solidFill>
              <a:srgbClr val="D5DEE7"/>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BFFC6AE6-34C3-4379-9A7C-33931479BA12}"/>
              </a:ext>
            </a:extLst>
          </p:cNvPr>
          <p:cNvSpPr txBox="1"/>
          <p:nvPr/>
        </p:nvSpPr>
        <p:spPr>
          <a:xfrm>
            <a:off x="635000" y="5257800"/>
            <a:ext cx="5461000" cy="304800"/>
          </a:xfrm>
          <a:prstGeom prst="rect">
            <a:avLst/>
          </a:prstGeom>
          <a:noFill/>
        </p:spPr>
        <p:txBody>
          <a:bodyPr vertOverflow="overflow" vert="horz" wrap="square" rtlCol="0" anchor="t">
            <a:spAutoFit/>
          </a:bodyPr>
          <a:lstStyle/>
          <a:p>
            <a:pPr algn="l"/>
            <a:r>
              <a:rPr lang="en-US" sz="1200" i="1">
                <a:solidFill>
                  <a:srgbClr val="5B6B7B"/>
                </a:solidFill>
                <a:latin typeface="Open Sans"/>
                <a:ea typeface="Open Sans"/>
                <a:cs typeface="Open Sans"/>
              </a:rPr>
              <a:t>Gücün kaynakları: Otorite · Karizma · Bilgiye erişim</a:t>
            </a:r>
          </a:p>
        </p:txBody>
      </p:sp>
      <p:sp>
        <p:nvSpPr>
          <p:cNvPr id="7" name="TextBox 6">
            <a:extLst>
              <a:ext uri="{FF2B5EF4-FFF2-40B4-BE49-F238E27FC236}">
                <a16:creationId xmlns:a16="http://schemas.microsoft.com/office/drawing/2014/main" id="{B3932EEE-BE6C-4941-B88A-2865FEFC0207}"/>
              </a:ext>
            </a:extLst>
          </p:cNvPr>
          <p:cNvSpPr txBox="1"/>
          <p:nvPr/>
        </p:nvSpPr>
        <p:spPr>
          <a:xfrm>
            <a:off x="6273800" y="5257800"/>
            <a:ext cx="5334000" cy="304800"/>
          </a:xfrm>
          <a:prstGeom prst="rect">
            <a:avLst/>
          </a:prstGeom>
          <a:noFill/>
        </p:spPr>
        <p:txBody>
          <a:bodyPr vertOverflow="overflow" vert="horz" wrap="square" rtlCol="0" anchor="t">
            <a:spAutoFit/>
          </a:bodyPr>
          <a:lstStyle/>
          <a:p>
            <a:pPr algn="l"/>
            <a:r>
              <a:rPr lang="en-US" sz="1200" i="1">
                <a:solidFill>
                  <a:srgbClr val="5B6B7B"/>
                </a:solidFill>
                <a:latin typeface="Open Sans"/>
                <a:ea typeface="Open Sans"/>
                <a:cs typeface="Open Sans"/>
              </a:rPr>
              <a:t>Bir şeyi bilmek + değiştirebilmek = karar verebilmek</a:t>
            </a:r>
          </a:p>
        </p:txBody>
      </p:sp>
      <p:sp>
        <p:nvSpPr>
          <p:cNvPr id="8" name="Rectangle: Rounded Corners 7">
            <a:extLst>
              <a:ext uri="{FF2B5EF4-FFF2-40B4-BE49-F238E27FC236}">
                <a16:creationId xmlns:a16="http://schemas.microsoft.com/office/drawing/2014/main" id="{392F70C3-9D35-4162-A184-E9F50A11E24C}"/>
              </a:ext>
            </a:extLst>
          </p:cNvPr>
          <p:cNvSpPr/>
          <p:nvPr/>
        </p:nvSpPr>
        <p:spPr>
          <a:xfrm>
            <a:off x="635000" y="5664200"/>
            <a:ext cx="10972800" cy="812800"/>
          </a:xfrm>
          <a:prstGeom prst="roundRect">
            <a:avLst/>
          </a:prstGeom>
          <a:solidFill>
            <a:srgbClr val="115E8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38DB64A9-6A58-4B53-835F-FC2E44DE0202}"/>
              </a:ext>
            </a:extLst>
          </p:cNvPr>
          <p:cNvSpPr txBox="1"/>
          <p:nvPr/>
        </p:nvSpPr>
        <p:spPr>
          <a:xfrm>
            <a:off x="939800" y="5920559"/>
            <a:ext cx="10363200" cy="300082"/>
          </a:xfrm>
          <a:prstGeom prst="rect">
            <a:avLst/>
          </a:prstGeom>
          <a:noFill/>
        </p:spPr>
        <p:txBody>
          <a:bodyPr vertOverflow="overflow" vert="horz" wrap="square" rtlCol="0" anchor="ctr" anchorCtr="0">
            <a:spAutoFit/>
          </a:bodyPr>
          <a:lstStyle/>
          <a:p>
            <a:pPr algn="l"/>
            <a:r>
              <a:rPr lang="en-US" sz="1350" b="1" dirty="0">
                <a:solidFill>
                  <a:srgbClr val="FFFFFF"/>
                </a:solidFill>
                <a:latin typeface="Open Sans"/>
                <a:ea typeface="Open Sans"/>
                <a:cs typeface="Open Sans"/>
              </a:rPr>
              <a:t>Karar </a:t>
            </a:r>
            <a:r>
              <a:rPr lang="en-US" sz="1350" b="1" dirty="0" err="1">
                <a:solidFill>
                  <a:srgbClr val="FFFFFF"/>
                </a:solidFill>
                <a:latin typeface="Open Sans"/>
                <a:ea typeface="Open Sans"/>
                <a:cs typeface="Open Sans"/>
              </a:rPr>
              <a:t>verme</a:t>
            </a:r>
            <a:r>
              <a:rPr lang="en-US" sz="1350" b="1" dirty="0">
                <a:solidFill>
                  <a:srgbClr val="FFFFFF"/>
                </a:solidFill>
                <a:latin typeface="Open Sans"/>
                <a:ea typeface="Open Sans"/>
                <a:cs typeface="Open Sans"/>
              </a:rPr>
              <a:t> </a:t>
            </a:r>
            <a:r>
              <a:rPr lang="en-US" sz="1350" b="1" dirty="0" err="1">
                <a:solidFill>
                  <a:srgbClr val="FFFFFF"/>
                </a:solidFill>
                <a:latin typeface="Open Sans"/>
                <a:ea typeface="Open Sans"/>
                <a:cs typeface="Open Sans"/>
              </a:rPr>
              <a:t>bir</a:t>
            </a:r>
            <a:r>
              <a:rPr lang="en-US" sz="1350" b="1" dirty="0">
                <a:solidFill>
                  <a:srgbClr val="FFFFFF"/>
                </a:solidFill>
                <a:latin typeface="Open Sans"/>
                <a:ea typeface="Open Sans"/>
                <a:cs typeface="Open Sans"/>
              </a:rPr>
              <a:t> </a:t>
            </a:r>
            <a:r>
              <a:rPr lang="en-US" sz="1350" b="1" dirty="0" err="1">
                <a:solidFill>
                  <a:srgbClr val="FFFFFF"/>
                </a:solidFill>
                <a:latin typeface="Open Sans"/>
                <a:ea typeface="Open Sans"/>
                <a:cs typeface="Open Sans"/>
              </a:rPr>
              <a:t>süreçtir</a:t>
            </a:r>
            <a:r>
              <a:rPr lang="en-US" sz="1350" b="1" dirty="0">
                <a:solidFill>
                  <a:srgbClr val="FFFFFF"/>
                </a:solidFill>
                <a:latin typeface="Open Sans"/>
                <a:ea typeface="Open Sans"/>
                <a:cs typeface="Open Sans"/>
              </a:rPr>
              <a:t>: </a:t>
            </a:r>
            <a:r>
              <a:rPr lang="en-US" sz="1350" b="1" dirty="0" err="1">
                <a:solidFill>
                  <a:srgbClr val="FFFFFF"/>
                </a:solidFill>
                <a:latin typeface="Open Sans"/>
                <a:ea typeface="Open Sans"/>
                <a:cs typeface="Open Sans"/>
              </a:rPr>
              <a:t>gerekli</a:t>
            </a:r>
            <a:r>
              <a:rPr lang="en-US" sz="1350" b="1" dirty="0">
                <a:solidFill>
                  <a:srgbClr val="FFFFFF"/>
                </a:solidFill>
                <a:latin typeface="Open Sans"/>
                <a:ea typeface="Open Sans"/>
                <a:cs typeface="Open Sans"/>
              </a:rPr>
              <a:t> </a:t>
            </a:r>
            <a:r>
              <a:rPr lang="en-US" sz="1350" b="1" dirty="0" err="1">
                <a:solidFill>
                  <a:srgbClr val="FFFFFF"/>
                </a:solidFill>
                <a:latin typeface="Open Sans"/>
                <a:ea typeface="Open Sans"/>
                <a:cs typeface="Open Sans"/>
              </a:rPr>
              <a:t>karar</a:t>
            </a:r>
            <a:r>
              <a:rPr lang="en-US" sz="1350" b="1" dirty="0">
                <a:solidFill>
                  <a:srgbClr val="FFFFFF"/>
                </a:solidFill>
                <a:latin typeface="Open Sans"/>
                <a:ea typeface="Open Sans"/>
                <a:cs typeface="Open Sans"/>
              </a:rPr>
              <a:t> → </a:t>
            </a:r>
            <a:r>
              <a:rPr lang="en-US" sz="1350" b="1" dirty="0" err="1">
                <a:solidFill>
                  <a:srgbClr val="FFFFFF"/>
                </a:solidFill>
                <a:latin typeface="Open Sans"/>
                <a:ea typeface="Open Sans"/>
                <a:cs typeface="Open Sans"/>
              </a:rPr>
              <a:t>seçenek</a:t>
            </a:r>
            <a:r>
              <a:rPr lang="en-US" sz="1350" b="1" dirty="0">
                <a:solidFill>
                  <a:srgbClr val="FFFFFF"/>
                </a:solidFill>
                <a:latin typeface="Open Sans"/>
                <a:ea typeface="Open Sans"/>
                <a:cs typeface="Open Sans"/>
              </a:rPr>
              <a:t> </a:t>
            </a:r>
            <a:r>
              <a:rPr lang="en-US" sz="1350" b="1" dirty="0" err="1">
                <a:solidFill>
                  <a:srgbClr val="FFFFFF"/>
                </a:solidFill>
                <a:latin typeface="Open Sans"/>
                <a:ea typeface="Open Sans"/>
                <a:cs typeface="Open Sans"/>
              </a:rPr>
              <a:t>üretme</a:t>
            </a:r>
            <a:r>
              <a:rPr lang="en-US" sz="1350" b="1" dirty="0">
                <a:solidFill>
                  <a:srgbClr val="FFFFFF"/>
                </a:solidFill>
                <a:latin typeface="Open Sans"/>
                <a:ea typeface="Open Sans"/>
                <a:cs typeface="Open Sans"/>
              </a:rPr>
              <a:t> → </a:t>
            </a:r>
            <a:r>
              <a:rPr lang="en-US" sz="1350" b="1" dirty="0" err="1">
                <a:solidFill>
                  <a:srgbClr val="FFFFFF"/>
                </a:solidFill>
                <a:latin typeface="Open Sans"/>
                <a:ea typeface="Open Sans"/>
                <a:cs typeface="Open Sans"/>
              </a:rPr>
              <a:t>karar</a:t>
            </a:r>
            <a:r>
              <a:rPr lang="en-US" sz="1350" b="1" dirty="0">
                <a:solidFill>
                  <a:srgbClr val="FFFFFF"/>
                </a:solidFill>
                <a:latin typeface="Open Sans"/>
                <a:ea typeface="Open Sans"/>
                <a:cs typeface="Open Sans"/>
              </a:rPr>
              <a:t> alma → </a:t>
            </a:r>
            <a:r>
              <a:rPr lang="en-US" sz="1350" b="1" dirty="0" err="1">
                <a:solidFill>
                  <a:srgbClr val="FFFFFF"/>
                </a:solidFill>
                <a:latin typeface="Open Sans"/>
                <a:ea typeface="Open Sans"/>
                <a:cs typeface="Open Sans"/>
              </a:rPr>
              <a:t>paylaşma</a:t>
            </a:r>
            <a:r>
              <a:rPr lang="en-US" sz="1350" b="1" dirty="0">
                <a:solidFill>
                  <a:srgbClr val="FFFFFF"/>
                </a:solidFill>
                <a:latin typeface="Open Sans"/>
                <a:ea typeface="Open Sans"/>
                <a:cs typeface="Open Sans"/>
              </a:rPr>
              <a:t> → </a:t>
            </a:r>
            <a:r>
              <a:rPr lang="en-US" sz="1350" b="1" dirty="0" err="1">
                <a:solidFill>
                  <a:srgbClr val="FFFFFF"/>
                </a:solidFill>
                <a:latin typeface="Open Sans"/>
                <a:ea typeface="Open Sans"/>
                <a:cs typeface="Open Sans"/>
              </a:rPr>
              <a:t>uygulama</a:t>
            </a:r>
            <a:r>
              <a:rPr lang="en-US" sz="1350" b="1" dirty="0">
                <a:solidFill>
                  <a:srgbClr val="FFFFFF"/>
                </a:solidFill>
                <a:latin typeface="Open Sans"/>
                <a:ea typeface="Open Sans"/>
                <a:cs typeface="Open Sans"/>
              </a:rPr>
              <a:t>.</a:t>
            </a:r>
          </a:p>
        </p:txBody>
      </p:sp>
      <p:pic>
        <p:nvPicPr>
          <p:cNvPr id="10" name="Picture 9">
            <a:extLst>
              <a:ext uri="{FF2B5EF4-FFF2-40B4-BE49-F238E27FC236}">
                <a16:creationId xmlns:a16="http://schemas.microsoft.com/office/drawing/2014/main" id="{BFF07C26-F408-923E-3340-BDA8582011E6}"/>
              </a:ext>
            </a:extLst>
          </p:cNvPr>
          <p:cNvPicPr>
            <a:picLocks noChangeAspect="1"/>
          </p:cNvPicPr>
          <p:nvPr/>
        </p:nvPicPr>
        <p:blipFill>
          <a:blip r:embed="rId3"/>
          <a:stretch>
            <a:fillRect/>
          </a:stretch>
        </p:blipFill>
        <p:spPr>
          <a:xfrm>
            <a:off x="736600" y="1905000"/>
            <a:ext cx="5257800" cy="3266586"/>
          </a:xfrm>
          <a:prstGeom prst="rect">
            <a:avLst/>
          </a:prstGeom>
        </p:spPr>
      </p:pic>
      <p:pic>
        <p:nvPicPr>
          <p:cNvPr id="11" name="Picture 10">
            <a:extLst>
              <a:ext uri="{FF2B5EF4-FFF2-40B4-BE49-F238E27FC236}">
                <a16:creationId xmlns:a16="http://schemas.microsoft.com/office/drawing/2014/main" id="{C3DACCF1-E813-170F-4122-0232409DA231}"/>
              </a:ext>
            </a:extLst>
          </p:cNvPr>
          <p:cNvPicPr>
            <a:picLocks noChangeAspect="1"/>
          </p:cNvPicPr>
          <p:nvPr/>
        </p:nvPicPr>
        <p:blipFill>
          <a:blip r:embed="rId4"/>
          <a:stretch>
            <a:fillRect/>
          </a:stretch>
        </p:blipFill>
        <p:spPr>
          <a:xfrm>
            <a:off x="6375400" y="2133600"/>
            <a:ext cx="5130800" cy="2812090"/>
          </a:xfrm>
          <a:prstGeom prst="rect">
            <a:avLst/>
          </a:prstGeom>
        </p:spPr>
      </p:pic>
    </p:spTree>
    <p:extLst>
      <p:ext uri="{BB962C8B-B14F-4D97-AF65-F5344CB8AC3E}">
        <p14:creationId xmlns:p14="http://schemas.microsoft.com/office/powerpoint/2010/main" val="134885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15C86-E99E-4E1C-7111-FC089BA2A1F9}"/>
              </a:ext>
            </a:extLst>
          </p:cNvPr>
          <p:cNvSpPr>
            <a:spLocks noGrp="1"/>
          </p:cNvSpPr>
          <p:nvPr>
            <p:ph type="title"/>
          </p:nvPr>
        </p:nvSpPr>
        <p:spPr>
          <a:xfrm>
            <a:off x="539750" y="44450"/>
            <a:ext cx="10922000" cy="762000"/>
          </a:xfrm>
        </p:spPr>
        <p:txBody>
          <a:bodyPr>
            <a:normAutofit/>
          </a:bodyPr>
          <a:lstStyle/>
          <a:p>
            <a:r>
              <a:rPr lang="en-US" sz="3000" b="1" dirty="0">
                <a:latin typeface="Montserrat"/>
              </a:rPr>
              <a:t>İş </a:t>
            </a:r>
            <a:r>
              <a:rPr lang="en-US" sz="3000" b="1" dirty="0" err="1">
                <a:latin typeface="Montserrat"/>
              </a:rPr>
              <a:t>Yerinde</a:t>
            </a:r>
            <a:r>
              <a:rPr lang="en-US" sz="3000" b="1" dirty="0">
                <a:latin typeface="Montserrat"/>
              </a:rPr>
              <a:t> Karizma ve Bilgi</a:t>
            </a:r>
          </a:p>
        </p:txBody>
      </p:sp>
      <p:sp>
        <p:nvSpPr>
          <p:cNvPr id="4" name="Rectangle: Rounded Corners 3">
            <a:extLst>
              <a:ext uri="{FF2B5EF4-FFF2-40B4-BE49-F238E27FC236}">
                <a16:creationId xmlns:a16="http://schemas.microsoft.com/office/drawing/2014/main" id="{22F131E3-3FBC-4C48-BE1B-711FC21E72ED}"/>
              </a:ext>
            </a:extLst>
          </p:cNvPr>
          <p:cNvSpPr/>
          <p:nvPr/>
        </p:nvSpPr>
        <p:spPr>
          <a:xfrm>
            <a:off x="119185" y="1272198"/>
            <a:ext cx="3492500" cy="3238500"/>
          </a:xfrm>
          <a:prstGeom prst="roundRect">
            <a:avLst/>
          </a:prstGeom>
          <a:solidFill>
            <a:srgbClr val="F4F8F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60EF9E41-7CE9-4D0C-AB35-4E8DE3BCBC1B}"/>
              </a:ext>
            </a:extLst>
          </p:cNvPr>
          <p:cNvSpPr txBox="1"/>
          <p:nvPr/>
        </p:nvSpPr>
        <p:spPr>
          <a:xfrm>
            <a:off x="309685" y="1405548"/>
            <a:ext cx="3111500" cy="558800"/>
          </a:xfrm>
          <a:prstGeom prst="rect">
            <a:avLst/>
          </a:prstGeom>
          <a:noFill/>
        </p:spPr>
        <p:txBody>
          <a:bodyPr vertOverflow="overflow" vert="horz" wrap="square" rtlCol="0" anchor="t">
            <a:spAutoFit/>
          </a:bodyPr>
          <a:lstStyle/>
          <a:p>
            <a:pPr algn="l"/>
            <a:r>
              <a:rPr lang="en-US" b="1" dirty="0">
                <a:solidFill>
                  <a:srgbClr val="1C7FB8"/>
                </a:solidFill>
                <a:latin typeface="Montserrat"/>
              </a:rPr>
              <a:t>Karizma Nedir, </a:t>
            </a:r>
            <a:r>
              <a:rPr lang="en-US" b="1" dirty="0" err="1">
                <a:solidFill>
                  <a:srgbClr val="1C7FB8"/>
                </a:solidFill>
                <a:latin typeface="Montserrat"/>
              </a:rPr>
              <a:t>Neden</a:t>
            </a:r>
            <a:r>
              <a:rPr lang="en-US" b="1" dirty="0">
                <a:solidFill>
                  <a:srgbClr val="1C7FB8"/>
                </a:solidFill>
                <a:latin typeface="Montserrat"/>
              </a:rPr>
              <a:t> Önemli?</a:t>
            </a:r>
          </a:p>
        </p:txBody>
      </p:sp>
      <p:sp>
        <p:nvSpPr>
          <p:cNvPr id="7" name="TextBox 6">
            <a:extLst>
              <a:ext uri="{FF2B5EF4-FFF2-40B4-BE49-F238E27FC236}">
                <a16:creationId xmlns:a16="http://schemas.microsoft.com/office/drawing/2014/main" id="{64B9CAD9-BB33-4302-AE71-C30C31AA7349}"/>
              </a:ext>
            </a:extLst>
          </p:cNvPr>
          <p:cNvSpPr txBox="1"/>
          <p:nvPr/>
        </p:nvSpPr>
        <p:spPr>
          <a:xfrm>
            <a:off x="347785" y="2059598"/>
            <a:ext cx="3111500" cy="1815882"/>
          </a:xfrm>
          <a:prstGeom prst="rect">
            <a:avLst/>
          </a:prstGeom>
          <a:noFill/>
        </p:spPr>
        <p:txBody>
          <a:bodyPr vertOverflow="overflow" vert="horz" wrap="square" rtlCol="0" anchor="t">
            <a:spAutoFit/>
          </a:bodyPr>
          <a:lstStyle/>
          <a:p>
            <a:pPr algn="l"/>
            <a:r>
              <a:rPr lang="en-US" sz="1400" dirty="0">
                <a:solidFill>
                  <a:srgbClr val="24364A"/>
                </a:solidFill>
                <a:latin typeface="Open Sans"/>
                <a:ea typeface="Open Sans"/>
                <a:cs typeface="Open Sans"/>
              </a:rPr>
              <a:t>Karizma; </a:t>
            </a:r>
            <a:r>
              <a:rPr lang="en-US" sz="1400" dirty="0" err="1">
                <a:solidFill>
                  <a:srgbClr val="24364A"/>
                </a:solidFill>
                <a:latin typeface="Open Sans"/>
                <a:ea typeface="Open Sans"/>
                <a:cs typeface="Open Sans"/>
              </a:rPr>
              <a:t>deneyim</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bilgelik</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zarafet</a:t>
            </a:r>
            <a:r>
              <a:rPr lang="en-US" sz="1400" dirty="0">
                <a:solidFill>
                  <a:srgbClr val="24364A"/>
                </a:solidFill>
                <a:latin typeface="Open Sans"/>
                <a:ea typeface="Open Sans"/>
                <a:cs typeface="Open Sans"/>
              </a:rPr>
              <a:t>, çok </a:t>
            </a:r>
            <a:r>
              <a:rPr lang="en-US" sz="1400" dirty="0" err="1">
                <a:solidFill>
                  <a:srgbClr val="24364A"/>
                </a:solidFill>
                <a:latin typeface="Open Sans"/>
                <a:ea typeface="Open Sans"/>
                <a:cs typeface="Open Sans"/>
              </a:rPr>
              <a:t>dinleyip</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az</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konuşmak</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güvenilirlik</a:t>
            </a:r>
            <a:r>
              <a:rPr lang="en-US" sz="1400" dirty="0">
                <a:solidFill>
                  <a:srgbClr val="24364A"/>
                </a:solidFill>
                <a:latin typeface="Open Sans"/>
                <a:ea typeface="Open Sans"/>
                <a:cs typeface="Open Sans"/>
              </a:rPr>
              <a:t> ve </a:t>
            </a:r>
            <a:r>
              <a:rPr lang="en-US" sz="1400" dirty="0" err="1">
                <a:solidFill>
                  <a:srgbClr val="24364A"/>
                </a:solidFill>
                <a:latin typeface="Open Sans"/>
                <a:ea typeface="Open Sans"/>
                <a:cs typeface="Open Sans"/>
              </a:rPr>
              <a:t>başkalarına</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rol</a:t>
            </a:r>
            <a:r>
              <a:rPr lang="en-US" sz="1400" dirty="0">
                <a:solidFill>
                  <a:srgbClr val="24364A"/>
                </a:solidFill>
                <a:latin typeface="Open Sans"/>
                <a:ea typeface="Open Sans"/>
                <a:cs typeface="Open Sans"/>
              </a:rPr>
              <a:t> model </a:t>
            </a:r>
            <a:r>
              <a:rPr lang="en-US" sz="1400" dirty="0" err="1">
                <a:solidFill>
                  <a:srgbClr val="24364A"/>
                </a:solidFill>
                <a:latin typeface="Open Sans"/>
                <a:ea typeface="Open Sans"/>
                <a:cs typeface="Open Sans"/>
              </a:rPr>
              <a:t>olup</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ilham</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vermektir</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Önemi</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sözlerinizin</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dikteye</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gerek</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kalmadan</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doğal</a:t>
            </a:r>
            <a:r>
              <a:rPr lang="en-US" sz="1400" dirty="0">
                <a:solidFill>
                  <a:srgbClr val="24364A"/>
                </a:solidFill>
                <a:latin typeface="Open Sans"/>
                <a:ea typeface="Open Sans"/>
                <a:cs typeface="Open Sans"/>
              </a:rPr>
              <a:t> olarak </a:t>
            </a:r>
            <a:r>
              <a:rPr lang="en-US" sz="1400" dirty="0" err="1">
                <a:solidFill>
                  <a:srgbClr val="24364A"/>
                </a:solidFill>
                <a:latin typeface="Open Sans"/>
                <a:ea typeface="Open Sans"/>
                <a:cs typeface="Open Sans"/>
              </a:rPr>
              <a:t>dinlenmesini</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sağlar</a:t>
            </a:r>
            <a:r>
              <a:rPr lang="en-US" sz="1400" dirty="0">
                <a:solidFill>
                  <a:srgbClr val="24364A"/>
                </a:solidFill>
                <a:latin typeface="Open Sans"/>
                <a:ea typeface="Open Sans"/>
                <a:cs typeface="Open Sans"/>
              </a:rPr>
              <a:t>.</a:t>
            </a:r>
          </a:p>
        </p:txBody>
      </p:sp>
      <p:sp>
        <p:nvSpPr>
          <p:cNvPr id="8" name="Rectangle: Rounded Corners 7">
            <a:extLst>
              <a:ext uri="{FF2B5EF4-FFF2-40B4-BE49-F238E27FC236}">
                <a16:creationId xmlns:a16="http://schemas.microsoft.com/office/drawing/2014/main" id="{1AE9C7AB-39DB-41E6-9985-E40957CA8ED3}"/>
              </a:ext>
            </a:extLst>
          </p:cNvPr>
          <p:cNvSpPr/>
          <p:nvPr/>
        </p:nvSpPr>
        <p:spPr>
          <a:xfrm>
            <a:off x="3459285" y="1310298"/>
            <a:ext cx="3492500" cy="3238500"/>
          </a:xfrm>
          <a:prstGeom prst="roundRect">
            <a:avLst/>
          </a:prstGeom>
          <a:solidFill>
            <a:srgbClr val="F4F8F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C74E99E4-0D92-4446-81A0-F1D235F7B195}"/>
              </a:ext>
            </a:extLst>
          </p:cNvPr>
          <p:cNvSpPr txBox="1"/>
          <p:nvPr/>
        </p:nvSpPr>
        <p:spPr>
          <a:xfrm>
            <a:off x="3687885" y="1488098"/>
            <a:ext cx="3111500" cy="558800"/>
          </a:xfrm>
          <a:prstGeom prst="rect">
            <a:avLst/>
          </a:prstGeom>
          <a:noFill/>
        </p:spPr>
        <p:txBody>
          <a:bodyPr vertOverflow="overflow" vert="horz" wrap="square" rtlCol="0" anchor="t">
            <a:spAutoFit/>
          </a:bodyPr>
          <a:lstStyle/>
          <a:p>
            <a:pPr algn="l"/>
            <a:r>
              <a:rPr lang="en-US" b="1" dirty="0">
                <a:solidFill>
                  <a:srgbClr val="2BA39A"/>
                </a:solidFill>
                <a:latin typeface="Montserrat"/>
              </a:rPr>
              <a:t>Bilgi ve "</a:t>
            </a:r>
            <a:r>
              <a:rPr lang="en-US" b="1" dirty="0" err="1">
                <a:solidFill>
                  <a:srgbClr val="2BA39A"/>
                </a:solidFill>
                <a:latin typeface="Montserrat"/>
              </a:rPr>
              <a:t>Neden</a:t>
            </a:r>
            <a:r>
              <a:rPr lang="en-US" b="1" dirty="0">
                <a:solidFill>
                  <a:srgbClr val="2BA39A"/>
                </a:solidFill>
                <a:latin typeface="Montserrat"/>
              </a:rPr>
              <a:t>" </a:t>
            </a:r>
            <a:r>
              <a:rPr lang="en-US" b="1" dirty="0" err="1">
                <a:solidFill>
                  <a:srgbClr val="2BA39A"/>
                </a:solidFill>
                <a:latin typeface="Montserrat"/>
              </a:rPr>
              <a:t>Sorusu</a:t>
            </a:r>
            <a:endParaRPr lang="en-US" b="1" dirty="0">
              <a:solidFill>
                <a:srgbClr val="2BA39A"/>
              </a:solidFill>
              <a:latin typeface="Montserrat"/>
            </a:endParaRPr>
          </a:p>
        </p:txBody>
      </p:sp>
      <p:sp>
        <p:nvSpPr>
          <p:cNvPr id="11" name="TextBox 10">
            <a:extLst>
              <a:ext uri="{FF2B5EF4-FFF2-40B4-BE49-F238E27FC236}">
                <a16:creationId xmlns:a16="http://schemas.microsoft.com/office/drawing/2014/main" id="{92AA9B02-90B7-4E25-86F2-3FF6D814DE06}"/>
              </a:ext>
            </a:extLst>
          </p:cNvPr>
          <p:cNvSpPr txBox="1"/>
          <p:nvPr/>
        </p:nvSpPr>
        <p:spPr>
          <a:xfrm>
            <a:off x="3776787" y="1874960"/>
            <a:ext cx="3111500" cy="2387600"/>
          </a:xfrm>
          <a:prstGeom prst="rect">
            <a:avLst/>
          </a:prstGeom>
          <a:noFill/>
        </p:spPr>
        <p:txBody>
          <a:bodyPr vertOverflow="overflow" vert="horz" wrap="square" rtlCol="0" anchor="t">
            <a:spAutoFit/>
          </a:bodyPr>
          <a:lstStyle/>
          <a:p>
            <a:pPr algn="l"/>
            <a:r>
              <a:rPr lang="en-US" sz="1400" dirty="0">
                <a:solidFill>
                  <a:srgbClr val="24364A"/>
                </a:solidFill>
                <a:latin typeface="Open Sans"/>
                <a:ea typeface="Open Sans"/>
                <a:cs typeface="Open Sans"/>
              </a:rPr>
              <a:t>•  Bilgi </a:t>
            </a:r>
            <a:r>
              <a:rPr lang="en-US" sz="1400" dirty="0" err="1">
                <a:solidFill>
                  <a:srgbClr val="24364A"/>
                </a:solidFill>
                <a:latin typeface="Open Sans"/>
                <a:ea typeface="Open Sans"/>
                <a:cs typeface="Open Sans"/>
              </a:rPr>
              <a:t>işçileri</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geçimini</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düşünerek</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kazanır</a:t>
            </a:r>
            <a:r>
              <a:rPr lang="en-US" sz="1400" dirty="0">
                <a:solidFill>
                  <a:srgbClr val="24364A"/>
                </a:solidFill>
                <a:latin typeface="Open Sans"/>
                <a:ea typeface="Open Sans"/>
                <a:cs typeface="Open Sans"/>
              </a:rPr>
              <a:t>.
•  Peter </a:t>
            </a:r>
            <a:r>
              <a:rPr lang="en-US" sz="1400" dirty="0" err="1">
                <a:solidFill>
                  <a:srgbClr val="24364A"/>
                </a:solidFill>
                <a:latin typeface="Open Sans"/>
                <a:ea typeface="Open Sans"/>
                <a:cs typeface="Open Sans"/>
              </a:rPr>
              <a:t>Naur'un</a:t>
            </a:r>
            <a:r>
              <a:rPr lang="en-US" sz="1400" dirty="0">
                <a:solidFill>
                  <a:srgbClr val="24364A"/>
                </a:solidFill>
                <a:latin typeface="Open Sans"/>
                <a:ea typeface="Open Sans"/>
                <a:cs typeface="Open Sans"/>
              </a:rPr>
              <a:t> "Programming as Theory Building" </a:t>
            </a:r>
            <a:r>
              <a:rPr lang="en-US" sz="1400" dirty="0" err="1">
                <a:solidFill>
                  <a:srgbClr val="24364A"/>
                </a:solidFill>
                <a:latin typeface="Open Sans"/>
                <a:ea typeface="Open Sans"/>
                <a:cs typeface="Open Sans"/>
              </a:rPr>
              <a:t>fikri</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kod</a:t>
            </a:r>
            <a:r>
              <a:rPr lang="en-US" sz="1400" dirty="0">
                <a:solidFill>
                  <a:srgbClr val="24364A"/>
                </a:solidFill>
                <a:latin typeface="Open Sans"/>
                <a:ea typeface="Open Sans"/>
                <a:cs typeface="Open Sans"/>
              </a:rPr>
              <a:t> ve </a:t>
            </a:r>
            <a:r>
              <a:rPr lang="en-US" sz="1400" dirty="0" err="1">
                <a:solidFill>
                  <a:srgbClr val="24364A"/>
                </a:solidFill>
                <a:latin typeface="Open Sans"/>
                <a:ea typeface="Open Sans"/>
                <a:cs typeface="Open Sans"/>
              </a:rPr>
              <a:t>dokümantasyon</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en</a:t>
            </a:r>
            <a:r>
              <a:rPr lang="en-US" sz="1400" dirty="0">
                <a:solidFill>
                  <a:srgbClr val="24364A"/>
                </a:solidFill>
                <a:latin typeface="Open Sans"/>
                <a:ea typeface="Open Sans"/>
                <a:cs typeface="Open Sans"/>
              </a:rPr>
              <a:t> önemli </a:t>
            </a:r>
            <a:r>
              <a:rPr lang="en-US" sz="1400" dirty="0" err="1">
                <a:solidFill>
                  <a:srgbClr val="24364A"/>
                </a:solidFill>
                <a:latin typeface="Open Sans"/>
                <a:ea typeface="Open Sans"/>
                <a:cs typeface="Open Sans"/>
              </a:rPr>
              <a:t>tasarım</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fikirlerini</a:t>
            </a:r>
            <a:r>
              <a:rPr lang="en-US" sz="1400" dirty="0">
                <a:solidFill>
                  <a:srgbClr val="24364A"/>
                </a:solidFill>
                <a:latin typeface="Open Sans"/>
                <a:ea typeface="Open Sans"/>
                <a:cs typeface="Open Sans"/>
              </a:rPr>
              <a:t> her zaman </a:t>
            </a:r>
            <a:r>
              <a:rPr lang="en-US" sz="1400" dirty="0" err="1">
                <a:solidFill>
                  <a:srgbClr val="24364A"/>
                </a:solidFill>
                <a:latin typeface="Open Sans"/>
                <a:ea typeface="Open Sans"/>
                <a:cs typeface="Open Sans"/>
              </a:rPr>
              <a:t>taşıyamaz</a:t>
            </a:r>
            <a:r>
              <a:rPr lang="en-US" sz="1400" dirty="0">
                <a:solidFill>
                  <a:srgbClr val="24364A"/>
                </a:solidFill>
                <a:latin typeface="Open Sans"/>
                <a:ea typeface="Open Sans"/>
                <a:cs typeface="Open Sans"/>
              </a:rPr>
              <a:t>.
•  AI </a:t>
            </a:r>
            <a:r>
              <a:rPr lang="en-US" sz="1400" dirty="0" err="1">
                <a:solidFill>
                  <a:srgbClr val="24364A"/>
                </a:solidFill>
                <a:latin typeface="Open Sans"/>
                <a:ea typeface="Open Sans"/>
                <a:cs typeface="Open Sans"/>
              </a:rPr>
              <a:t>çağında</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ekibin</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ortak</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anlayışı</a:t>
            </a:r>
            <a:r>
              <a:rPr lang="en-US" sz="1400" dirty="0">
                <a:solidFill>
                  <a:srgbClr val="24364A"/>
                </a:solidFill>
                <a:latin typeface="Open Sans"/>
                <a:ea typeface="Open Sans"/>
                <a:cs typeface="Open Sans"/>
              </a:rPr>
              <a:t> daha da </a:t>
            </a:r>
            <a:r>
              <a:rPr lang="en-US" sz="1400" dirty="0" err="1">
                <a:solidFill>
                  <a:srgbClr val="24364A"/>
                </a:solidFill>
                <a:latin typeface="Open Sans"/>
                <a:ea typeface="Open Sans"/>
                <a:cs typeface="Open Sans"/>
              </a:rPr>
              <a:t>değerli</a:t>
            </a:r>
            <a:r>
              <a:rPr lang="en-US" sz="1400" dirty="0">
                <a:solidFill>
                  <a:srgbClr val="24364A"/>
                </a:solidFill>
                <a:latin typeface="Open Sans"/>
                <a:ea typeface="Open Sans"/>
                <a:cs typeface="Open Sans"/>
              </a:rPr>
              <a:t>.</a:t>
            </a:r>
          </a:p>
        </p:txBody>
      </p:sp>
      <p:sp>
        <p:nvSpPr>
          <p:cNvPr id="12" name="Rectangle: Rounded Corners 11">
            <a:extLst>
              <a:ext uri="{FF2B5EF4-FFF2-40B4-BE49-F238E27FC236}">
                <a16:creationId xmlns:a16="http://schemas.microsoft.com/office/drawing/2014/main" id="{F6132ED5-B951-496F-958C-77E202A80290}"/>
              </a:ext>
            </a:extLst>
          </p:cNvPr>
          <p:cNvSpPr/>
          <p:nvPr/>
        </p:nvSpPr>
        <p:spPr>
          <a:xfrm>
            <a:off x="0" y="5259998"/>
            <a:ext cx="12225215" cy="889000"/>
          </a:xfrm>
          <a:prstGeom prst="roundRect">
            <a:avLst/>
          </a:prstGeom>
          <a:solidFill>
            <a:srgbClr val="115E8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F22C04F2-592A-4180-942A-4AA9CCC69EA7}"/>
              </a:ext>
            </a:extLst>
          </p:cNvPr>
          <p:cNvSpPr txBox="1"/>
          <p:nvPr/>
        </p:nvSpPr>
        <p:spPr>
          <a:xfrm>
            <a:off x="33215" y="5528164"/>
            <a:ext cx="12192000" cy="307777"/>
          </a:xfrm>
          <a:prstGeom prst="rect">
            <a:avLst/>
          </a:prstGeom>
          <a:noFill/>
        </p:spPr>
        <p:txBody>
          <a:bodyPr vertOverflow="overflow" vert="horz" wrap="square" rtlCol="0" anchor="ctr" anchorCtr="0">
            <a:spAutoFit/>
          </a:bodyPr>
          <a:lstStyle/>
          <a:p>
            <a:pPr algn="l"/>
            <a:r>
              <a:rPr lang="en-US" sz="1400" b="1" dirty="0">
                <a:solidFill>
                  <a:srgbClr val="FFFFFF"/>
                </a:solidFill>
                <a:latin typeface="Open Sans"/>
                <a:ea typeface="Open Sans"/>
                <a:cs typeface="Open Sans"/>
              </a:rPr>
              <a:t>AI </a:t>
            </a:r>
            <a:r>
              <a:rPr lang="en-US" sz="1400" b="1" dirty="0" err="1">
                <a:solidFill>
                  <a:srgbClr val="FFFFFF"/>
                </a:solidFill>
                <a:latin typeface="Open Sans"/>
                <a:ea typeface="Open Sans"/>
                <a:cs typeface="Open Sans"/>
              </a:rPr>
              <a:t>mimariyi</a:t>
            </a:r>
            <a:r>
              <a:rPr lang="en-US" sz="1400" b="1" dirty="0">
                <a:solidFill>
                  <a:srgbClr val="FFFFFF"/>
                </a:solidFill>
                <a:latin typeface="Open Sans"/>
                <a:ea typeface="Open Sans"/>
                <a:cs typeface="Open Sans"/>
              </a:rPr>
              <a:t> </a:t>
            </a:r>
            <a:r>
              <a:rPr lang="en-US" sz="1400" b="1" dirty="0" err="1">
                <a:solidFill>
                  <a:srgbClr val="FFFFFF"/>
                </a:solidFill>
                <a:latin typeface="Open Sans"/>
                <a:ea typeface="Open Sans"/>
                <a:cs typeface="Open Sans"/>
              </a:rPr>
              <a:t>koddan</a:t>
            </a:r>
            <a:r>
              <a:rPr lang="en-US" sz="1400" b="1" dirty="0">
                <a:solidFill>
                  <a:srgbClr val="FFFFFF"/>
                </a:solidFill>
                <a:latin typeface="Open Sans"/>
                <a:ea typeface="Open Sans"/>
                <a:cs typeface="Open Sans"/>
              </a:rPr>
              <a:t> </a:t>
            </a:r>
            <a:r>
              <a:rPr lang="en-US" sz="1400" b="1" dirty="0" err="1">
                <a:solidFill>
                  <a:srgbClr val="FFFFFF"/>
                </a:solidFill>
                <a:latin typeface="Open Sans"/>
                <a:ea typeface="Open Sans"/>
                <a:cs typeface="Open Sans"/>
              </a:rPr>
              <a:t>anlayabilir</a:t>
            </a:r>
            <a:r>
              <a:rPr lang="en-US" sz="1400" b="1" dirty="0">
                <a:solidFill>
                  <a:srgbClr val="FFFFFF"/>
                </a:solidFill>
                <a:latin typeface="Open Sans"/>
                <a:ea typeface="Open Sans"/>
                <a:cs typeface="Open Sans"/>
              </a:rPr>
              <a:t>; ama "</a:t>
            </a:r>
            <a:r>
              <a:rPr lang="en-US" sz="1400" b="1" dirty="0" err="1">
                <a:solidFill>
                  <a:srgbClr val="FFFFFF"/>
                </a:solidFill>
                <a:latin typeface="Open Sans"/>
                <a:ea typeface="Open Sans"/>
                <a:cs typeface="Open Sans"/>
              </a:rPr>
              <a:t>neden</a:t>
            </a:r>
            <a:r>
              <a:rPr lang="en-US" sz="1400" b="1" dirty="0">
                <a:solidFill>
                  <a:srgbClr val="FFFFFF"/>
                </a:solidFill>
                <a:latin typeface="Open Sans"/>
                <a:ea typeface="Open Sans"/>
                <a:cs typeface="Open Sans"/>
              </a:rPr>
              <a:t>" öyle </a:t>
            </a:r>
            <a:r>
              <a:rPr lang="en-US" sz="1400" b="1" dirty="0" err="1">
                <a:solidFill>
                  <a:srgbClr val="FFFFFF"/>
                </a:solidFill>
                <a:latin typeface="Open Sans"/>
                <a:ea typeface="Open Sans"/>
                <a:cs typeface="Open Sans"/>
              </a:rPr>
              <a:t>tasarlandığını</a:t>
            </a:r>
            <a:r>
              <a:rPr lang="en-US" sz="1400" b="1" dirty="0">
                <a:solidFill>
                  <a:srgbClr val="FFFFFF"/>
                </a:solidFill>
                <a:latin typeface="Open Sans"/>
                <a:ea typeface="Open Sans"/>
                <a:cs typeface="Open Sans"/>
              </a:rPr>
              <a:t>; </a:t>
            </a:r>
            <a:r>
              <a:rPr lang="en-US" sz="1400" b="1" dirty="0" err="1">
                <a:solidFill>
                  <a:srgbClr val="FFFFFF"/>
                </a:solidFill>
                <a:latin typeface="Open Sans"/>
                <a:ea typeface="Open Sans"/>
                <a:cs typeface="Open Sans"/>
              </a:rPr>
              <a:t>kararları</a:t>
            </a:r>
            <a:r>
              <a:rPr lang="en-US" sz="1400" b="1" dirty="0">
                <a:solidFill>
                  <a:srgbClr val="FFFFFF"/>
                </a:solidFill>
                <a:latin typeface="Open Sans"/>
                <a:ea typeface="Open Sans"/>
                <a:cs typeface="Open Sans"/>
              </a:rPr>
              <a:t>, </a:t>
            </a:r>
            <a:r>
              <a:rPr lang="en-US" sz="1400" b="1" dirty="0" err="1">
                <a:solidFill>
                  <a:srgbClr val="FFFFFF"/>
                </a:solidFill>
                <a:latin typeface="Open Sans"/>
                <a:ea typeface="Open Sans"/>
                <a:cs typeface="Open Sans"/>
              </a:rPr>
              <a:t>ödünleşimleri</a:t>
            </a:r>
            <a:r>
              <a:rPr lang="en-US" sz="1400" b="1" dirty="0">
                <a:solidFill>
                  <a:srgbClr val="FFFFFF"/>
                </a:solidFill>
                <a:latin typeface="Open Sans"/>
                <a:ea typeface="Open Sans"/>
                <a:cs typeface="Open Sans"/>
              </a:rPr>
              <a:t>, </a:t>
            </a:r>
            <a:r>
              <a:rPr lang="en-US" sz="1400" b="1" dirty="0" err="1">
                <a:solidFill>
                  <a:srgbClr val="FFFFFF"/>
                </a:solidFill>
                <a:latin typeface="Open Sans"/>
                <a:ea typeface="Open Sans"/>
                <a:cs typeface="Open Sans"/>
              </a:rPr>
              <a:t>tarihsel</a:t>
            </a:r>
            <a:r>
              <a:rPr lang="en-US" sz="1400" b="1" dirty="0">
                <a:solidFill>
                  <a:srgbClr val="FFFFFF"/>
                </a:solidFill>
                <a:latin typeface="Open Sans"/>
                <a:ea typeface="Open Sans"/>
                <a:cs typeface="Open Sans"/>
              </a:rPr>
              <a:t> </a:t>
            </a:r>
            <a:r>
              <a:rPr lang="en-US" sz="1400" b="1" dirty="0" err="1">
                <a:solidFill>
                  <a:srgbClr val="FFFFFF"/>
                </a:solidFill>
                <a:latin typeface="Open Sans"/>
                <a:ea typeface="Open Sans"/>
                <a:cs typeface="Open Sans"/>
              </a:rPr>
              <a:t>bağlamı</a:t>
            </a:r>
            <a:r>
              <a:rPr lang="en-US" sz="1400" b="1" dirty="0">
                <a:solidFill>
                  <a:srgbClr val="FFFFFF"/>
                </a:solidFill>
                <a:latin typeface="Open Sans"/>
                <a:ea typeface="Open Sans"/>
                <a:cs typeface="Open Sans"/>
              </a:rPr>
              <a:t>; </a:t>
            </a:r>
            <a:r>
              <a:rPr lang="en-US" sz="1400" b="1" dirty="0" err="1">
                <a:solidFill>
                  <a:srgbClr val="FFFFFF"/>
                </a:solidFill>
                <a:latin typeface="Open Sans"/>
                <a:ea typeface="Open Sans"/>
                <a:cs typeface="Open Sans"/>
              </a:rPr>
              <a:t>güvenilir</a:t>
            </a:r>
            <a:r>
              <a:rPr lang="en-US" sz="1400" b="1" dirty="0">
                <a:solidFill>
                  <a:srgbClr val="FFFFFF"/>
                </a:solidFill>
                <a:latin typeface="Open Sans"/>
                <a:ea typeface="Open Sans"/>
                <a:cs typeface="Open Sans"/>
              </a:rPr>
              <a:t> </a:t>
            </a:r>
            <a:r>
              <a:rPr lang="en-US" sz="1400" b="1" dirty="0" err="1">
                <a:solidFill>
                  <a:srgbClr val="FFFFFF"/>
                </a:solidFill>
                <a:latin typeface="Open Sans"/>
                <a:ea typeface="Open Sans"/>
                <a:cs typeface="Open Sans"/>
              </a:rPr>
              <a:t>biçimde</a:t>
            </a:r>
            <a:r>
              <a:rPr lang="en-US" sz="1400" b="1" dirty="0">
                <a:solidFill>
                  <a:srgbClr val="FFFFFF"/>
                </a:solidFill>
                <a:latin typeface="Open Sans"/>
                <a:ea typeface="Open Sans"/>
                <a:cs typeface="Open Sans"/>
              </a:rPr>
              <a:t> </a:t>
            </a:r>
            <a:r>
              <a:rPr lang="en-US" sz="1400" b="1" dirty="0" err="1">
                <a:solidFill>
                  <a:srgbClr val="FFFFFF"/>
                </a:solidFill>
                <a:latin typeface="Open Sans"/>
                <a:ea typeface="Open Sans"/>
                <a:cs typeface="Open Sans"/>
              </a:rPr>
              <a:t>bilemez</a:t>
            </a:r>
            <a:r>
              <a:rPr lang="en-US" sz="1400" b="1" dirty="0">
                <a:solidFill>
                  <a:srgbClr val="FFFFFF"/>
                </a:solidFill>
                <a:latin typeface="Open Sans"/>
                <a:ea typeface="Open Sans"/>
                <a:cs typeface="Open Sans"/>
              </a:rPr>
              <a:t>.</a:t>
            </a:r>
          </a:p>
        </p:txBody>
      </p:sp>
      <p:pic>
        <p:nvPicPr>
          <p:cNvPr id="17" name="Picture 16">
            <a:extLst>
              <a:ext uri="{FF2B5EF4-FFF2-40B4-BE49-F238E27FC236}">
                <a16:creationId xmlns:a16="http://schemas.microsoft.com/office/drawing/2014/main" id="{F5ABF261-D566-CC6F-16E5-58EF6F2F9FC0}"/>
              </a:ext>
            </a:extLst>
          </p:cNvPr>
          <p:cNvPicPr>
            <a:picLocks noChangeAspect="1"/>
          </p:cNvPicPr>
          <p:nvPr/>
        </p:nvPicPr>
        <p:blipFill>
          <a:blip r:embed="rId3"/>
          <a:stretch>
            <a:fillRect/>
          </a:stretch>
        </p:blipFill>
        <p:spPr>
          <a:xfrm>
            <a:off x="6888287" y="1329836"/>
            <a:ext cx="5308237" cy="3180862"/>
          </a:xfrm>
          <a:prstGeom prst="rect">
            <a:avLst/>
          </a:prstGeom>
        </p:spPr>
      </p:pic>
      <p:sp>
        <p:nvSpPr>
          <p:cNvPr id="19" name="TextBox 18">
            <a:extLst>
              <a:ext uri="{FF2B5EF4-FFF2-40B4-BE49-F238E27FC236}">
                <a16:creationId xmlns:a16="http://schemas.microsoft.com/office/drawing/2014/main" id="{757AEEA5-A31A-28E3-9074-C15E8DB4D342}"/>
              </a:ext>
            </a:extLst>
          </p:cNvPr>
          <p:cNvSpPr txBox="1"/>
          <p:nvPr/>
        </p:nvSpPr>
        <p:spPr>
          <a:xfrm>
            <a:off x="6799385" y="4488201"/>
            <a:ext cx="6096000" cy="369332"/>
          </a:xfrm>
          <a:prstGeom prst="rect">
            <a:avLst/>
          </a:prstGeom>
          <a:noFill/>
        </p:spPr>
        <p:txBody>
          <a:bodyPr wrap="square">
            <a:spAutoFit/>
          </a:bodyPr>
          <a:lstStyle/>
          <a:p>
            <a:r>
              <a:rPr lang="en-US" dirty="0"/>
              <a:t>https://en.wikipedia.org/wiki/DIKW_pyramid</a:t>
            </a:r>
          </a:p>
        </p:txBody>
      </p:sp>
    </p:spTree>
    <p:extLst>
      <p:ext uri="{BB962C8B-B14F-4D97-AF65-F5344CB8AC3E}">
        <p14:creationId xmlns:p14="http://schemas.microsoft.com/office/powerpoint/2010/main" val="3177274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429FE-7473-DFA3-6483-C2C4F8BB7C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613CDE-050E-A2CE-B9CE-39B2BD3C513B}"/>
              </a:ext>
            </a:extLst>
          </p:cNvPr>
          <p:cNvSpPr>
            <a:spLocks noGrp="1"/>
          </p:cNvSpPr>
          <p:nvPr>
            <p:ph type="title"/>
          </p:nvPr>
        </p:nvSpPr>
        <p:spPr>
          <a:xfrm>
            <a:off x="539750" y="44450"/>
            <a:ext cx="10922000" cy="762000"/>
          </a:xfrm>
        </p:spPr>
        <p:txBody>
          <a:bodyPr>
            <a:normAutofit/>
          </a:bodyPr>
          <a:lstStyle/>
          <a:p>
            <a:r>
              <a:rPr lang="en-US" sz="3000" b="1" dirty="0">
                <a:latin typeface="Montserrat"/>
              </a:rPr>
              <a:t>Biz </a:t>
            </a:r>
            <a:r>
              <a:rPr lang="en-US" sz="3000" b="1" dirty="0" err="1">
                <a:latin typeface="Montserrat"/>
              </a:rPr>
              <a:t>Neden</a:t>
            </a:r>
            <a:r>
              <a:rPr lang="en-US" sz="3000" b="1" dirty="0">
                <a:latin typeface="Montserrat"/>
              </a:rPr>
              <a:t> </a:t>
            </a:r>
            <a:r>
              <a:rPr lang="en-US" sz="3000" b="1" dirty="0" err="1">
                <a:latin typeface="Montserrat"/>
              </a:rPr>
              <a:t>Değerliyiz</a:t>
            </a:r>
            <a:r>
              <a:rPr lang="en-US" sz="3000" b="1" dirty="0">
                <a:latin typeface="Montserrat"/>
              </a:rPr>
              <a:t>?</a:t>
            </a:r>
          </a:p>
        </p:txBody>
      </p:sp>
      <p:pic>
        <p:nvPicPr>
          <p:cNvPr id="5" name="Picture 4">
            <a:extLst>
              <a:ext uri="{FF2B5EF4-FFF2-40B4-BE49-F238E27FC236}">
                <a16:creationId xmlns:a16="http://schemas.microsoft.com/office/drawing/2014/main" id="{3596714B-FEB4-E5F6-80C5-E4E99329BDC8}"/>
              </a:ext>
            </a:extLst>
          </p:cNvPr>
          <p:cNvPicPr>
            <a:picLocks noChangeAspect="1"/>
          </p:cNvPicPr>
          <p:nvPr/>
        </p:nvPicPr>
        <p:blipFill>
          <a:blip r:embed="rId3"/>
          <a:stretch>
            <a:fillRect/>
          </a:stretch>
        </p:blipFill>
        <p:spPr>
          <a:xfrm>
            <a:off x="5791200" y="-62706"/>
            <a:ext cx="6400800" cy="6920706"/>
          </a:xfrm>
          <a:prstGeom prst="rect">
            <a:avLst/>
          </a:prstGeom>
        </p:spPr>
      </p:pic>
      <p:sp>
        <p:nvSpPr>
          <p:cNvPr id="16" name="TextBox 15">
            <a:extLst>
              <a:ext uri="{FF2B5EF4-FFF2-40B4-BE49-F238E27FC236}">
                <a16:creationId xmlns:a16="http://schemas.microsoft.com/office/drawing/2014/main" id="{C77C13C8-9C3E-68AD-F85D-ECFA3A52CC16}"/>
              </a:ext>
            </a:extLst>
          </p:cNvPr>
          <p:cNvSpPr txBox="1"/>
          <p:nvPr/>
        </p:nvSpPr>
        <p:spPr>
          <a:xfrm>
            <a:off x="539750" y="2055067"/>
            <a:ext cx="4124960" cy="3108543"/>
          </a:xfrm>
          <a:prstGeom prst="rect">
            <a:avLst/>
          </a:prstGeom>
          <a:noFill/>
        </p:spPr>
        <p:txBody>
          <a:bodyPr wrap="square">
            <a:spAutoFit/>
          </a:bodyPr>
          <a:lstStyle/>
          <a:p>
            <a:pPr>
              <a:buNone/>
            </a:pPr>
            <a:r>
              <a:rPr lang="en-US" sz="2800" b="1" dirty="0">
                <a:solidFill>
                  <a:srgbClr val="0070C0"/>
                </a:solidFill>
                <a:latin typeface="Segoe UI Light" panose="020B0502040204020203" pitchFamily="34" charset="0"/>
                <a:cs typeface="Segoe UI Light" panose="020B0502040204020203" pitchFamily="34" charset="0"/>
              </a:rPr>
              <a:t>Bilgi </a:t>
            </a:r>
            <a:r>
              <a:rPr lang="en-US" sz="2800" b="1" dirty="0" err="1">
                <a:solidFill>
                  <a:srgbClr val="0070C0"/>
                </a:solidFill>
                <a:latin typeface="Segoe UI Light" panose="020B0502040204020203" pitchFamily="34" charset="0"/>
                <a:cs typeface="Segoe UI Light" panose="020B0502040204020203" pitchFamily="34" charset="0"/>
              </a:rPr>
              <a:t>çalışanları</a:t>
            </a:r>
            <a:r>
              <a:rPr lang="en-US" sz="2800" b="1" dirty="0">
                <a:solidFill>
                  <a:srgbClr val="0070C0"/>
                </a:solidFill>
                <a:latin typeface="Segoe UI Light" panose="020B0502040204020203" pitchFamily="34" charset="0"/>
                <a:cs typeface="Segoe UI Light" panose="020B0502040204020203" pitchFamily="34" charset="0"/>
              </a:rPr>
              <a:t>, </a:t>
            </a:r>
            <a:r>
              <a:rPr lang="en-US" sz="2800" b="1" dirty="0" err="1">
                <a:solidFill>
                  <a:srgbClr val="0070C0"/>
                </a:solidFill>
                <a:latin typeface="Segoe UI Light" panose="020B0502040204020203" pitchFamily="34" charset="0"/>
                <a:cs typeface="Segoe UI Light" panose="020B0502040204020203" pitchFamily="34" charset="0"/>
              </a:rPr>
              <a:t>en</a:t>
            </a:r>
            <a:r>
              <a:rPr lang="en-US" sz="2800" b="1" dirty="0">
                <a:solidFill>
                  <a:srgbClr val="0070C0"/>
                </a:solidFill>
                <a:latin typeface="Segoe UI Light" panose="020B0502040204020203" pitchFamily="34" charset="0"/>
                <a:cs typeface="Segoe UI Light" panose="020B0502040204020203" pitchFamily="34" charset="0"/>
              </a:rPr>
              <a:t> önemli </a:t>
            </a:r>
            <a:r>
              <a:rPr lang="en-US" sz="2800" b="1" dirty="0" err="1">
                <a:solidFill>
                  <a:srgbClr val="0070C0"/>
                </a:solidFill>
                <a:latin typeface="Segoe UI Light" panose="020B0502040204020203" pitchFamily="34" charset="0"/>
                <a:cs typeface="Segoe UI Light" panose="020B0502040204020203" pitchFamily="34" charset="0"/>
              </a:rPr>
              <a:t>sermayesi</a:t>
            </a:r>
            <a:r>
              <a:rPr lang="en-US" sz="2800" b="1" dirty="0">
                <a:solidFill>
                  <a:srgbClr val="0070C0"/>
                </a:solidFill>
                <a:latin typeface="Segoe UI Light" panose="020B0502040204020203" pitchFamily="34" charset="0"/>
                <a:cs typeface="Segoe UI Light" panose="020B0502040204020203" pitchFamily="34" charset="0"/>
              </a:rPr>
              <a:t> </a:t>
            </a:r>
            <a:r>
              <a:rPr lang="en-US" sz="2800" b="1" dirty="0" err="1">
                <a:solidFill>
                  <a:srgbClr val="0070C0"/>
                </a:solidFill>
                <a:latin typeface="Segoe UI Light" panose="020B0502040204020203" pitchFamily="34" charset="0"/>
                <a:cs typeface="Segoe UI Light" panose="020B0502040204020203" pitchFamily="34" charset="0"/>
              </a:rPr>
              <a:t>bilgi</a:t>
            </a:r>
            <a:r>
              <a:rPr lang="en-US" sz="2800" b="1" dirty="0">
                <a:solidFill>
                  <a:srgbClr val="0070C0"/>
                </a:solidFill>
                <a:latin typeface="Segoe UI Light" panose="020B0502040204020203" pitchFamily="34" charset="0"/>
                <a:cs typeface="Segoe UI Light" panose="020B0502040204020203" pitchFamily="34" charset="0"/>
              </a:rPr>
              <a:t> </a:t>
            </a:r>
            <a:r>
              <a:rPr lang="en-US" sz="2800" b="1" dirty="0" err="1">
                <a:solidFill>
                  <a:srgbClr val="0070C0"/>
                </a:solidFill>
                <a:latin typeface="Segoe UI Light" panose="020B0502040204020203" pitchFamily="34" charset="0"/>
                <a:cs typeface="Segoe UI Light" panose="020B0502040204020203" pitchFamily="34" charset="0"/>
              </a:rPr>
              <a:t>olan</a:t>
            </a:r>
            <a:r>
              <a:rPr lang="en-US" sz="2800" b="1" dirty="0">
                <a:solidFill>
                  <a:srgbClr val="0070C0"/>
                </a:solidFill>
                <a:latin typeface="Segoe UI Light" panose="020B0502040204020203" pitchFamily="34" charset="0"/>
                <a:cs typeface="Segoe UI Light" panose="020B0502040204020203" pitchFamily="34" charset="0"/>
              </a:rPr>
              <a:t> </a:t>
            </a:r>
            <a:r>
              <a:rPr lang="en-US" sz="2800" b="1" dirty="0" err="1">
                <a:solidFill>
                  <a:srgbClr val="0070C0"/>
                </a:solidFill>
                <a:latin typeface="Segoe UI Light" panose="020B0502040204020203" pitchFamily="34" charset="0"/>
                <a:cs typeface="Segoe UI Light" panose="020B0502040204020203" pitchFamily="34" charset="0"/>
              </a:rPr>
              <a:t>çalışanlardır</a:t>
            </a:r>
            <a:r>
              <a:rPr lang="en-US" sz="2800" b="1" dirty="0">
                <a:solidFill>
                  <a:srgbClr val="0070C0"/>
                </a:solidFill>
                <a:latin typeface="Segoe UI Light" panose="020B0502040204020203" pitchFamily="34" charset="0"/>
                <a:cs typeface="Segoe UI Light" panose="020B0502040204020203" pitchFamily="34" charset="0"/>
              </a:rPr>
              <a:t>.</a:t>
            </a:r>
          </a:p>
          <a:p>
            <a:pPr>
              <a:buNone/>
            </a:pPr>
            <a:endParaRPr lang="en-US" sz="2800" dirty="0">
              <a:solidFill>
                <a:srgbClr val="0070C0"/>
              </a:solidFill>
              <a:latin typeface="Segoe UI Light" panose="020B0502040204020203" pitchFamily="34" charset="0"/>
              <a:cs typeface="Segoe UI Light" panose="020B0502040204020203" pitchFamily="34" charset="0"/>
            </a:endParaRPr>
          </a:p>
          <a:p>
            <a:pPr>
              <a:buNone/>
            </a:pPr>
            <a:r>
              <a:rPr lang="en-US" sz="2800" b="1" dirty="0" err="1">
                <a:solidFill>
                  <a:srgbClr val="0070C0"/>
                </a:solidFill>
                <a:latin typeface="Segoe UI Light" panose="020B0502040204020203" pitchFamily="34" charset="0"/>
                <a:cs typeface="Segoe UI Light" panose="020B0502040204020203" pitchFamily="34" charset="0"/>
              </a:rPr>
              <a:t>Geçimlerini</a:t>
            </a:r>
            <a:r>
              <a:rPr lang="en-US" sz="2800" b="1" dirty="0">
                <a:solidFill>
                  <a:srgbClr val="0070C0"/>
                </a:solidFill>
                <a:latin typeface="Segoe UI Light" panose="020B0502040204020203" pitchFamily="34" charset="0"/>
                <a:cs typeface="Segoe UI Light" panose="020B0502040204020203" pitchFamily="34" charset="0"/>
              </a:rPr>
              <a:t> </a:t>
            </a:r>
            <a:r>
              <a:rPr lang="en-US" sz="2800" b="1" dirty="0" err="1">
                <a:solidFill>
                  <a:srgbClr val="0070C0"/>
                </a:solidFill>
                <a:latin typeface="Segoe UI Light" panose="020B0502040204020203" pitchFamily="34" charset="0"/>
                <a:cs typeface="Segoe UI Light" panose="020B0502040204020203" pitchFamily="34" charset="0"/>
              </a:rPr>
              <a:t>düşünerek</a:t>
            </a:r>
            <a:r>
              <a:rPr lang="en-US" sz="2800" b="1" dirty="0">
                <a:solidFill>
                  <a:srgbClr val="0070C0"/>
                </a:solidFill>
                <a:latin typeface="Segoe UI Light" panose="020B0502040204020203" pitchFamily="34" charset="0"/>
                <a:cs typeface="Segoe UI Light" panose="020B0502040204020203" pitchFamily="34" charset="0"/>
              </a:rPr>
              <a:t>, </a:t>
            </a:r>
            <a:r>
              <a:rPr lang="en-US" sz="2800" b="1" dirty="0" err="1">
                <a:solidFill>
                  <a:srgbClr val="0070C0"/>
                </a:solidFill>
                <a:latin typeface="Segoe UI Light" panose="020B0502040204020203" pitchFamily="34" charset="0"/>
                <a:cs typeface="Segoe UI Light" panose="020B0502040204020203" pitchFamily="34" charset="0"/>
              </a:rPr>
              <a:t>analiz</a:t>
            </a:r>
            <a:r>
              <a:rPr lang="en-US" sz="2800" b="1" dirty="0">
                <a:solidFill>
                  <a:srgbClr val="0070C0"/>
                </a:solidFill>
                <a:latin typeface="Segoe UI Light" panose="020B0502040204020203" pitchFamily="34" charset="0"/>
                <a:cs typeface="Segoe UI Light" panose="020B0502040204020203" pitchFamily="34" charset="0"/>
              </a:rPr>
              <a:t> </a:t>
            </a:r>
            <a:r>
              <a:rPr lang="en-US" sz="2800" b="1" dirty="0" err="1">
                <a:solidFill>
                  <a:srgbClr val="0070C0"/>
                </a:solidFill>
                <a:latin typeface="Segoe UI Light" panose="020B0502040204020203" pitchFamily="34" charset="0"/>
                <a:cs typeface="Segoe UI Light" panose="020B0502040204020203" pitchFamily="34" charset="0"/>
              </a:rPr>
              <a:t>ederek</a:t>
            </a:r>
            <a:r>
              <a:rPr lang="en-US" sz="2800" b="1" dirty="0">
                <a:solidFill>
                  <a:srgbClr val="0070C0"/>
                </a:solidFill>
                <a:latin typeface="Segoe UI Light" panose="020B0502040204020203" pitchFamily="34" charset="0"/>
                <a:cs typeface="Segoe UI Light" panose="020B0502040204020203" pitchFamily="34" charset="0"/>
              </a:rPr>
              <a:t> ve problem </a:t>
            </a:r>
            <a:r>
              <a:rPr lang="en-US" sz="2800" b="1" dirty="0" err="1">
                <a:solidFill>
                  <a:srgbClr val="0070C0"/>
                </a:solidFill>
                <a:latin typeface="Segoe UI Light" panose="020B0502040204020203" pitchFamily="34" charset="0"/>
                <a:cs typeface="Segoe UI Light" panose="020B0502040204020203" pitchFamily="34" charset="0"/>
              </a:rPr>
              <a:t>çözerek</a:t>
            </a:r>
            <a:r>
              <a:rPr lang="en-US" sz="2800" b="1" dirty="0">
                <a:solidFill>
                  <a:srgbClr val="0070C0"/>
                </a:solidFill>
                <a:latin typeface="Segoe UI Light" panose="020B0502040204020203" pitchFamily="34" charset="0"/>
                <a:cs typeface="Segoe UI Light" panose="020B0502040204020203" pitchFamily="34" charset="0"/>
              </a:rPr>
              <a:t> </a:t>
            </a:r>
            <a:r>
              <a:rPr lang="en-US" sz="2800" b="1" dirty="0" err="1">
                <a:solidFill>
                  <a:srgbClr val="0070C0"/>
                </a:solidFill>
                <a:latin typeface="Segoe UI Light" panose="020B0502040204020203" pitchFamily="34" charset="0"/>
                <a:cs typeface="Segoe UI Light" panose="020B0502040204020203" pitchFamily="34" charset="0"/>
              </a:rPr>
              <a:t>sağlayan</a:t>
            </a:r>
            <a:r>
              <a:rPr lang="en-US" sz="2800" b="1" dirty="0">
                <a:solidFill>
                  <a:srgbClr val="0070C0"/>
                </a:solidFill>
                <a:latin typeface="Segoe UI Light" panose="020B0502040204020203" pitchFamily="34" charset="0"/>
                <a:cs typeface="Segoe UI Light" panose="020B0502040204020203" pitchFamily="34" charset="0"/>
              </a:rPr>
              <a:t> </a:t>
            </a:r>
            <a:r>
              <a:rPr lang="en-US" sz="2800" b="1" dirty="0" err="1">
                <a:solidFill>
                  <a:srgbClr val="0070C0"/>
                </a:solidFill>
                <a:latin typeface="Segoe UI Light" panose="020B0502040204020203" pitchFamily="34" charset="0"/>
                <a:cs typeface="Segoe UI Light" panose="020B0502040204020203" pitchFamily="34" charset="0"/>
              </a:rPr>
              <a:t>kişilerdir</a:t>
            </a:r>
            <a:r>
              <a:rPr lang="en-US" sz="2800" b="1" dirty="0">
                <a:solidFill>
                  <a:srgbClr val="0070C0"/>
                </a:solidFill>
                <a:latin typeface="Segoe UI Light" panose="020B0502040204020203" pitchFamily="34" charset="0"/>
                <a:cs typeface="Segoe UI Light" panose="020B0502040204020203" pitchFamily="34" charset="0"/>
              </a:rPr>
              <a:t>.</a:t>
            </a:r>
            <a:endParaRPr lang="en-US" sz="2800" dirty="0">
              <a:solidFill>
                <a:srgbClr val="0070C0"/>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2174844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0DBD4-6FD7-BC4F-2ED0-2B41D54D368D}"/>
              </a:ext>
            </a:extLst>
          </p:cNvPr>
          <p:cNvSpPr>
            <a:spLocks noGrp="1"/>
          </p:cNvSpPr>
          <p:nvPr>
            <p:ph type="title"/>
          </p:nvPr>
        </p:nvSpPr>
        <p:spPr>
          <a:xfrm>
            <a:off x="635000" y="508000"/>
            <a:ext cx="10922000" cy="762000"/>
          </a:xfrm>
        </p:spPr>
        <p:txBody>
          <a:bodyPr>
            <a:normAutofit/>
          </a:bodyPr>
          <a:lstStyle/>
          <a:p>
            <a:r>
              <a:rPr lang="en-US" sz="2500" b="1">
                <a:latin typeface="Montserrat"/>
              </a:rPr>
              <a:t>Architecture Advice Process: Kararı Herkes Verebilir</a:t>
            </a:r>
          </a:p>
        </p:txBody>
      </p:sp>
      <p:sp>
        <p:nvSpPr>
          <p:cNvPr id="3" name="Rectangle 2">
            <a:extLst>
              <a:ext uri="{FF2B5EF4-FFF2-40B4-BE49-F238E27FC236}">
                <a16:creationId xmlns:a16="http://schemas.microsoft.com/office/drawing/2014/main" id="{43E51B76-1A2A-4E1E-B297-B549CDA12712}"/>
              </a:ext>
            </a:extLst>
          </p:cNvPr>
          <p:cNvSpPr/>
          <p:nvPr/>
        </p:nvSpPr>
        <p:spPr>
          <a:xfrm>
            <a:off x="660400" y="1346200"/>
            <a:ext cx="889000" cy="63500"/>
          </a:xfrm>
          <a:prstGeom prst="rect">
            <a:avLst/>
          </a:prstGeom>
          <a:solidFill>
            <a:srgbClr val="E08A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F5D05EC8-2436-4A3D-9C32-96E0BC47704B}"/>
              </a:ext>
            </a:extLst>
          </p:cNvPr>
          <p:cNvSpPr txBox="1"/>
          <p:nvPr/>
        </p:nvSpPr>
        <p:spPr>
          <a:xfrm>
            <a:off x="635000" y="1701800"/>
            <a:ext cx="5080000" cy="2239074"/>
          </a:xfrm>
          <a:prstGeom prst="rect">
            <a:avLst/>
          </a:prstGeom>
          <a:noFill/>
        </p:spPr>
        <p:txBody>
          <a:bodyPr vertOverflow="overflow" vert="horz" wrap="square" rtlCol="0" anchor="t">
            <a:spAutoFit/>
          </a:bodyPr>
          <a:lstStyle/>
          <a:p>
            <a:r>
              <a:rPr lang="en-US" sz="1550" b="1" dirty="0">
                <a:solidFill>
                  <a:srgbClr val="24364A"/>
                </a:solidFill>
                <a:ea typeface="Open Sans"/>
                <a:cs typeface="Open Sans"/>
              </a:rPr>
              <a:t>"Facilitating Software Architecture“ </a:t>
            </a:r>
            <a:br>
              <a:rPr lang="en-US" sz="1550" b="1" dirty="0">
                <a:solidFill>
                  <a:srgbClr val="24364A"/>
                </a:solidFill>
                <a:ea typeface="Open Sans"/>
                <a:cs typeface="Open Sans"/>
              </a:rPr>
            </a:br>
            <a:r>
              <a:rPr lang="en-US" sz="1550" i="1" dirty="0">
                <a:solidFill>
                  <a:srgbClr val="24364A"/>
                </a:solidFill>
                <a:latin typeface="Open Sans"/>
                <a:ea typeface="Open Sans"/>
                <a:cs typeface="Open Sans"/>
              </a:rPr>
              <a:t>Andrew Harmel-Law, </a:t>
            </a:r>
            <a:r>
              <a:rPr lang="en-US" sz="1550" dirty="0">
                <a:solidFill>
                  <a:srgbClr val="24364A"/>
                </a:solidFill>
                <a:latin typeface="Open Sans"/>
                <a:ea typeface="Open Sans"/>
                <a:cs typeface="Open Sans"/>
              </a:rPr>
              <a:t>
</a:t>
            </a:r>
            <a:r>
              <a:rPr lang="en-US" sz="1550" u="sng" dirty="0">
                <a:solidFill>
                  <a:srgbClr val="24364A"/>
                </a:solidFill>
                <a:latin typeface="Open Sans"/>
                <a:ea typeface="Open Sans"/>
                <a:cs typeface="Open Sans"/>
              </a:rPr>
              <a:t>Herkes </a:t>
            </a:r>
            <a:r>
              <a:rPr lang="en-US" sz="1550" u="sng" dirty="0" err="1">
                <a:solidFill>
                  <a:srgbClr val="24364A"/>
                </a:solidFill>
                <a:latin typeface="Open Sans"/>
                <a:ea typeface="Open Sans"/>
                <a:cs typeface="Open Sans"/>
              </a:rPr>
              <a:t>bir</a:t>
            </a:r>
            <a:r>
              <a:rPr lang="en-US" sz="1550" u="sng" dirty="0">
                <a:solidFill>
                  <a:srgbClr val="24364A"/>
                </a:solidFill>
                <a:latin typeface="Open Sans"/>
                <a:ea typeface="Open Sans"/>
                <a:cs typeface="Open Sans"/>
              </a:rPr>
              <a:t> </a:t>
            </a:r>
            <a:r>
              <a:rPr lang="en-US" sz="1550" u="sng" dirty="0" err="1">
                <a:solidFill>
                  <a:srgbClr val="24364A"/>
                </a:solidFill>
                <a:latin typeface="Open Sans"/>
                <a:ea typeface="Open Sans"/>
                <a:cs typeface="Open Sans"/>
              </a:rPr>
              <a:t>mimari</a:t>
            </a:r>
            <a:r>
              <a:rPr lang="en-US" sz="1550" u="sng" dirty="0">
                <a:solidFill>
                  <a:srgbClr val="24364A"/>
                </a:solidFill>
                <a:latin typeface="Open Sans"/>
                <a:ea typeface="Open Sans"/>
                <a:cs typeface="Open Sans"/>
              </a:rPr>
              <a:t> </a:t>
            </a:r>
            <a:r>
              <a:rPr lang="en-US" sz="1550" u="sng" dirty="0" err="1">
                <a:solidFill>
                  <a:srgbClr val="24364A"/>
                </a:solidFill>
                <a:latin typeface="Open Sans"/>
                <a:ea typeface="Open Sans"/>
                <a:cs typeface="Open Sans"/>
              </a:rPr>
              <a:t>kararı</a:t>
            </a:r>
            <a:r>
              <a:rPr lang="en-US" sz="1550" u="sng" dirty="0">
                <a:solidFill>
                  <a:srgbClr val="24364A"/>
                </a:solidFill>
                <a:latin typeface="Open Sans"/>
                <a:ea typeface="Open Sans"/>
                <a:cs typeface="Open Sans"/>
              </a:rPr>
              <a:t> </a:t>
            </a:r>
            <a:r>
              <a:rPr lang="en-US" sz="1550" u="sng" dirty="0" err="1">
                <a:solidFill>
                  <a:srgbClr val="24364A"/>
                </a:solidFill>
                <a:latin typeface="Open Sans"/>
                <a:ea typeface="Open Sans"/>
                <a:cs typeface="Open Sans"/>
              </a:rPr>
              <a:t>verebilir</a:t>
            </a:r>
            <a:r>
              <a:rPr lang="en-US" sz="1550" u="sng" dirty="0">
                <a:solidFill>
                  <a:srgbClr val="24364A"/>
                </a:solidFill>
                <a:latin typeface="Open Sans"/>
                <a:ea typeface="Open Sans"/>
                <a:cs typeface="Open Sans"/>
              </a:rPr>
              <a:t> </a:t>
            </a:r>
            <a:br>
              <a:rPr lang="en-US" sz="1550" u="sng" dirty="0">
                <a:solidFill>
                  <a:srgbClr val="24364A"/>
                </a:solidFill>
                <a:latin typeface="Open Sans"/>
                <a:ea typeface="Open Sans"/>
                <a:cs typeface="Open Sans"/>
              </a:rPr>
            </a:br>
            <a:r>
              <a:rPr lang="en-US" sz="1550" u="sng" dirty="0">
                <a:solidFill>
                  <a:srgbClr val="24364A"/>
                </a:solidFill>
                <a:latin typeface="Open Sans"/>
                <a:ea typeface="Open Sans"/>
                <a:cs typeface="Open Sans"/>
              </a:rPr>
              <a:t>ama </a:t>
            </a:r>
            <a:r>
              <a:rPr lang="en-US" sz="1550" u="sng" dirty="0" err="1">
                <a:solidFill>
                  <a:srgbClr val="24364A"/>
                </a:solidFill>
                <a:latin typeface="Open Sans"/>
                <a:ea typeface="Open Sans"/>
                <a:cs typeface="Open Sans"/>
              </a:rPr>
              <a:t>vermeden</a:t>
            </a:r>
            <a:r>
              <a:rPr lang="en-US" sz="1550" u="sng" dirty="0">
                <a:solidFill>
                  <a:srgbClr val="24364A"/>
                </a:solidFill>
                <a:latin typeface="Open Sans"/>
                <a:ea typeface="Open Sans"/>
                <a:cs typeface="Open Sans"/>
              </a:rPr>
              <a:t> </a:t>
            </a:r>
            <a:r>
              <a:rPr lang="en-US" sz="1550" u="sng" dirty="0" err="1">
                <a:solidFill>
                  <a:srgbClr val="24364A"/>
                </a:solidFill>
                <a:latin typeface="Open Sans"/>
                <a:ea typeface="Open Sans"/>
                <a:cs typeface="Open Sans"/>
              </a:rPr>
              <a:t>önce</a:t>
            </a:r>
            <a:r>
              <a:rPr lang="en-US" sz="1550" u="sng" dirty="0">
                <a:solidFill>
                  <a:srgbClr val="24364A"/>
                </a:solidFill>
                <a:latin typeface="Open Sans"/>
                <a:ea typeface="Open Sans"/>
                <a:cs typeface="Open Sans"/>
              </a:rPr>
              <a:t> MUTLAKA:
</a:t>
            </a:r>
            <a:r>
              <a:rPr lang="en-US" sz="1550" dirty="0">
                <a:solidFill>
                  <a:srgbClr val="24364A"/>
                </a:solidFill>
                <a:latin typeface="Open Sans"/>
                <a:ea typeface="Open Sans"/>
                <a:cs typeface="Open Sans"/>
              </a:rPr>
              <a:t>
•  </a:t>
            </a:r>
            <a:r>
              <a:rPr lang="en-US" sz="1550" dirty="0" err="1">
                <a:solidFill>
                  <a:srgbClr val="24364A"/>
                </a:solidFill>
                <a:latin typeface="Open Sans"/>
                <a:ea typeface="Open Sans"/>
                <a:cs typeface="Open Sans"/>
              </a:rPr>
              <a:t>Etkilenen</a:t>
            </a:r>
            <a:r>
              <a:rPr lang="en-US" sz="1550" dirty="0">
                <a:solidFill>
                  <a:srgbClr val="24364A"/>
                </a:solidFill>
                <a:latin typeface="Open Sans"/>
                <a:ea typeface="Open Sans"/>
                <a:cs typeface="Open Sans"/>
              </a:rPr>
              <a:t> tüm </a:t>
            </a:r>
            <a:r>
              <a:rPr lang="en-US" sz="1550" dirty="0" err="1">
                <a:solidFill>
                  <a:srgbClr val="24364A"/>
                </a:solidFill>
                <a:latin typeface="Open Sans"/>
                <a:ea typeface="Open Sans"/>
                <a:cs typeface="Open Sans"/>
              </a:rPr>
              <a:t>taraflardan</a:t>
            </a:r>
            <a:r>
              <a:rPr lang="en-US" sz="1550" dirty="0">
                <a:solidFill>
                  <a:srgbClr val="24364A"/>
                </a:solidFill>
                <a:latin typeface="Open Sans"/>
                <a:ea typeface="Open Sans"/>
                <a:cs typeface="Open Sans"/>
              </a:rPr>
              <a:t> </a:t>
            </a:r>
            <a:r>
              <a:rPr lang="en-US" sz="1550" dirty="0" err="1">
                <a:solidFill>
                  <a:srgbClr val="24364A"/>
                </a:solidFill>
                <a:latin typeface="Open Sans"/>
                <a:ea typeface="Open Sans"/>
                <a:cs typeface="Open Sans"/>
              </a:rPr>
              <a:t>tavsiye</a:t>
            </a:r>
            <a:r>
              <a:rPr lang="en-US" sz="1550" dirty="0">
                <a:solidFill>
                  <a:srgbClr val="24364A"/>
                </a:solidFill>
                <a:latin typeface="Open Sans"/>
                <a:ea typeface="Open Sans"/>
                <a:cs typeface="Open Sans"/>
              </a:rPr>
              <a:t> </a:t>
            </a:r>
            <a:r>
              <a:rPr lang="en-US" sz="1550" dirty="0" err="1">
                <a:solidFill>
                  <a:srgbClr val="24364A"/>
                </a:solidFill>
                <a:latin typeface="Open Sans"/>
                <a:ea typeface="Open Sans"/>
                <a:cs typeface="Open Sans"/>
              </a:rPr>
              <a:t>almalı</a:t>
            </a:r>
            <a:r>
              <a:rPr lang="en-US" sz="1550" dirty="0">
                <a:solidFill>
                  <a:srgbClr val="24364A"/>
                </a:solidFill>
                <a:latin typeface="Open Sans"/>
                <a:ea typeface="Open Sans"/>
                <a:cs typeface="Open Sans"/>
              </a:rPr>
              <a:t>
•  VE </a:t>
            </a:r>
            <a:r>
              <a:rPr lang="en-US" sz="1550" dirty="0" err="1">
                <a:solidFill>
                  <a:srgbClr val="24364A"/>
                </a:solidFill>
                <a:latin typeface="Open Sans"/>
                <a:ea typeface="Open Sans"/>
                <a:cs typeface="Open Sans"/>
              </a:rPr>
              <a:t>konunun</a:t>
            </a:r>
            <a:r>
              <a:rPr lang="en-US" sz="1550" dirty="0">
                <a:solidFill>
                  <a:srgbClr val="24364A"/>
                </a:solidFill>
                <a:latin typeface="Open Sans"/>
                <a:ea typeface="Open Sans"/>
                <a:cs typeface="Open Sans"/>
              </a:rPr>
              <a:t> </a:t>
            </a:r>
            <a:r>
              <a:rPr lang="en-US" sz="1550" dirty="0" err="1">
                <a:solidFill>
                  <a:srgbClr val="24364A"/>
                </a:solidFill>
                <a:latin typeface="Open Sans"/>
                <a:ea typeface="Open Sans"/>
                <a:cs typeface="Open Sans"/>
              </a:rPr>
              <a:t>uzmanlarından</a:t>
            </a:r>
            <a:r>
              <a:rPr lang="en-US" sz="1550" dirty="0">
                <a:solidFill>
                  <a:srgbClr val="24364A"/>
                </a:solidFill>
                <a:latin typeface="Open Sans"/>
                <a:ea typeface="Open Sans"/>
                <a:cs typeface="Open Sans"/>
              </a:rPr>
              <a:t> </a:t>
            </a:r>
            <a:r>
              <a:rPr lang="en-US" sz="1550" dirty="0" err="1">
                <a:solidFill>
                  <a:srgbClr val="24364A"/>
                </a:solidFill>
                <a:latin typeface="Open Sans"/>
                <a:ea typeface="Open Sans"/>
                <a:cs typeface="Open Sans"/>
              </a:rPr>
              <a:t>görüş</a:t>
            </a:r>
            <a:r>
              <a:rPr lang="en-US" sz="1550" dirty="0">
                <a:solidFill>
                  <a:srgbClr val="24364A"/>
                </a:solidFill>
                <a:latin typeface="Open Sans"/>
                <a:ea typeface="Open Sans"/>
                <a:cs typeface="Open Sans"/>
              </a:rPr>
              <a:t> </a:t>
            </a:r>
            <a:r>
              <a:rPr lang="en-US" sz="1550" dirty="0" err="1">
                <a:solidFill>
                  <a:srgbClr val="24364A"/>
                </a:solidFill>
                <a:latin typeface="Open Sans"/>
                <a:ea typeface="Open Sans"/>
                <a:cs typeface="Open Sans"/>
              </a:rPr>
              <a:t>almalı</a:t>
            </a:r>
            <a:endParaRPr lang="en-US" sz="1550" dirty="0">
              <a:solidFill>
                <a:srgbClr val="24364A"/>
              </a:solidFill>
              <a:latin typeface="Open Sans"/>
              <a:ea typeface="Open Sans"/>
              <a:cs typeface="Open Sans"/>
            </a:endParaRPr>
          </a:p>
        </p:txBody>
      </p:sp>
      <p:sp>
        <p:nvSpPr>
          <p:cNvPr id="5" name="Rectangle: Rounded Corners 4">
            <a:extLst>
              <a:ext uri="{FF2B5EF4-FFF2-40B4-BE49-F238E27FC236}">
                <a16:creationId xmlns:a16="http://schemas.microsoft.com/office/drawing/2014/main" id="{52BA9010-3503-4AC9-A55B-8215D5206EB7}"/>
              </a:ext>
            </a:extLst>
          </p:cNvPr>
          <p:cNvSpPr/>
          <p:nvPr/>
        </p:nvSpPr>
        <p:spPr>
          <a:xfrm>
            <a:off x="635000" y="5130800"/>
            <a:ext cx="5080000" cy="1320800"/>
          </a:xfrm>
          <a:prstGeom prst="roundRect">
            <a:avLst/>
          </a:prstGeom>
          <a:solidFill>
            <a:srgbClr val="FDF1E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AE328A5F-37BB-4483-AD16-7EE76764C45C}"/>
              </a:ext>
            </a:extLst>
          </p:cNvPr>
          <p:cNvSpPr/>
          <p:nvPr/>
        </p:nvSpPr>
        <p:spPr>
          <a:xfrm>
            <a:off x="635000" y="5359400"/>
            <a:ext cx="88900" cy="863600"/>
          </a:xfrm>
          <a:prstGeom prst="rect">
            <a:avLst/>
          </a:prstGeom>
          <a:solidFill>
            <a:srgbClr val="E08A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2842352E-635B-4C1D-A419-E3B5F9BCABFF}"/>
              </a:ext>
            </a:extLst>
          </p:cNvPr>
          <p:cNvSpPr txBox="1"/>
          <p:nvPr/>
        </p:nvSpPr>
        <p:spPr>
          <a:xfrm>
            <a:off x="914400" y="5232400"/>
            <a:ext cx="4597400" cy="1117600"/>
          </a:xfrm>
          <a:prstGeom prst="rect">
            <a:avLst/>
          </a:prstGeom>
          <a:noFill/>
        </p:spPr>
        <p:txBody>
          <a:bodyPr vertOverflow="overflow" vert="horz" wrap="square" rtlCol="0" anchor="ctr" anchorCtr="0">
            <a:spAutoFit/>
          </a:bodyPr>
          <a:lstStyle/>
          <a:p>
            <a:pPr algn="l"/>
            <a:r>
              <a:rPr lang="en-US" sz="1450" b="1">
                <a:solidFill>
                  <a:srgbClr val="B5651A"/>
                </a:solidFill>
                <a:latin typeface="Open Sans"/>
                <a:ea typeface="Open Sans"/>
                <a:cs typeface="Open Sans"/>
              </a:rPr>
              <a:t>Karar yetkisi dağıtılır; ama tavsiye almak zorunludur. Böylece hız ve uzmanlık bir arada olur.</a:t>
            </a:r>
          </a:p>
        </p:txBody>
      </p:sp>
      <p:sp>
        <p:nvSpPr>
          <p:cNvPr id="8" name="Rectangle 7">
            <a:extLst>
              <a:ext uri="{FF2B5EF4-FFF2-40B4-BE49-F238E27FC236}">
                <a16:creationId xmlns:a16="http://schemas.microsoft.com/office/drawing/2014/main" id="{E0B6078A-58DF-43E6-A7B8-A3A8D2A8082D}"/>
              </a:ext>
            </a:extLst>
          </p:cNvPr>
          <p:cNvSpPr/>
          <p:nvPr/>
        </p:nvSpPr>
        <p:spPr>
          <a:xfrm>
            <a:off x="5918200" y="1905000"/>
            <a:ext cx="5740400" cy="3505200"/>
          </a:xfrm>
          <a:prstGeom prst="rect">
            <a:avLst/>
          </a:prstGeom>
          <a:solidFill>
            <a:srgbClr val="EEF3F8"/>
          </a:solidFill>
          <a:ln w="12700" cap="flat" cmpd="sng" algn="ctr">
            <a:solidFill>
              <a:srgbClr val="D5DEE7"/>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6ACE279C-3D1D-4593-A912-733A31B936B0}"/>
              </a:ext>
            </a:extLst>
          </p:cNvPr>
          <p:cNvSpPr txBox="1"/>
          <p:nvPr/>
        </p:nvSpPr>
        <p:spPr>
          <a:xfrm>
            <a:off x="5918200" y="5461000"/>
            <a:ext cx="5740400" cy="381000"/>
          </a:xfrm>
          <a:prstGeom prst="rect">
            <a:avLst/>
          </a:prstGeom>
          <a:noFill/>
        </p:spPr>
        <p:txBody>
          <a:bodyPr vertOverflow="overflow" vert="horz" wrap="square" rtlCol="0" anchor="t">
            <a:spAutoFit/>
          </a:bodyPr>
          <a:lstStyle/>
          <a:p>
            <a:pPr algn="l"/>
            <a:r>
              <a:rPr lang="en-US" sz="1250" i="1">
                <a:solidFill>
                  <a:srgbClr val="5B6B7B"/>
                </a:solidFill>
                <a:latin typeface="Open Sans"/>
                <a:ea typeface="Open Sans"/>
                <a:cs typeface="Open Sans"/>
              </a:rPr>
              <a:t>"Anyone can make a decision, but first they must seek advice."</a:t>
            </a:r>
          </a:p>
        </p:txBody>
      </p:sp>
      <p:pic>
        <p:nvPicPr>
          <p:cNvPr id="10" name="Picture 9">
            <a:extLst>
              <a:ext uri="{FF2B5EF4-FFF2-40B4-BE49-F238E27FC236}">
                <a16:creationId xmlns:a16="http://schemas.microsoft.com/office/drawing/2014/main" id="{985CEFDE-4F64-5B30-67E2-7D45E1570CE8}"/>
              </a:ext>
            </a:extLst>
          </p:cNvPr>
          <p:cNvPicPr>
            <a:picLocks noChangeAspect="1"/>
          </p:cNvPicPr>
          <p:nvPr/>
        </p:nvPicPr>
        <p:blipFill>
          <a:blip r:embed="rId3"/>
          <a:stretch>
            <a:fillRect/>
          </a:stretch>
        </p:blipFill>
        <p:spPr>
          <a:xfrm>
            <a:off x="6019800" y="2006600"/>
            <a:ext cx="5537200" cy="3307355"/>
          </a:xfrm>
          <a:prstGeom prst="rect">
            <a:avLst/>
          </a:prstGeom>
        </p:spPr>
      </p:pic>
    </p:spTree>
    <p:extLst>
      <p:ext uri="{BB962C8B-B14F-4D97-AF65-F5344CB8AC3E}">
        <p14:creationId xmlns:p14="http://schemas.microsoft.com/office/powerpoint/2010/main" val="29112307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BF2680E-69BA-4F7E-FCB4-D71FD049B43F}"/>
              </a:ext>
            </a:extLst>
          </p:cNvPr>
          <p:cNvPicPr>
            <a:picLocks noChangeAspect="1"/>
          </p:cNvPicPr>
          <p:nvPr/>
        </p:nvPicPr>
        <p:blipFill>
          <a:blip r:embed="rId3"/>
          <a:stretch>
            <a:fillRect/>
          </a:stretch>
        </p:blipFill>
        <p:spPr>
          <a:xfrm>
            <a:off x="0" y="-77088"/>
            <a:ext cx="12192000" cy="7779464"/>
          </a:xfrm>
          <a:prstGeom prst="rect">
            <a:avLst/>
          </a:prstGeom>
        </p:spPr>
      </p:pic>
    </p:spTree>
    <p:extLst>
      <p:ext uri="{BB962C8B-B14F-4D97-AF65-F5344CB8AC3E}">
        <p14:creationId xmlns:p14="http://schemas.microsoft.com/office/powerpoint/2010/main" val="13030831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9552C-4FBA-F1A0-AF37-FC996838C4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E990E8-80FB-72D5-B4F6-42A150E37F1B}"/>
              </a:ext>
            </a:extLst>
          </p:cNvPr>
          <p:cNvSpPr>
            <a:spLocks noGrp="1"/>
          </p:cNvSpPr>
          <p:nvPr>
            <p:ph type="title"/>
          </p:nvPr>
        </p:nvSpPr>
        <p:spPr>
          <a:xfrm>
            <a:off x="635000" y="508000"/>
            <a:ext cx="10922000" cy="762000"/>
          </a:xfrm>
        </p:spPr>
        <p:txBody>
          <a:bodyPr>
            <a:normAutofit/>
          </a:bodyPr>
          <a:lstStyle/>
          <a:p>
            <a:r>
              <a:rPr lang="en-US" sz="3000" b="1" dirty="0">
                <a:latin typeface="Montserrat"/>
              </a:rPr>
              <a:t>AI Hype </a:t>
            </a:r>
            <a:r>
              <a:rPr lang="en-US" sz="3000" b="1" dirty="0">
                <a:latin typeface="Montserrat"/>
                <a:sym typeface="Wingdings" panose="05000000000000000000" pitchFamily="2" charset="2"/>
              </a:rPr>
              <a:t> </a:t>
            </a:r>
            <a:r>
              <a:rPr lang="en-US" sz="3000" b="1" dirty="0">
                <a:latin typeface="Montserrat"/>
              </a:rPr>
              <a:t>"En Güçlü Model?!"</a:t>
            </a:r>
          </a:p>
        </p:txBody>
      </p:sp>
      <p:sp>
        <p:nvSpPr>
          <p:cNvPr id="3" name="Rectangle 2">
            <a:extLst>
              <a:ext uri="{FF2B5EF4-FFF2-40B4-BE49-F238E27FC236}">
                <a16:creationId xmlns:a16="http://schemas.microsoft.com/office/drawing/2014/main" id="{26967AF4-4056-A88F-BD83-79B0DDDEDF9F}"/>
              </a:ext>
            </a:extLst>
          </p:cNvPr>
          <p:cNvSpPr/>
          <p:nvPr/>
        </p:nvSpPr>
        <p:spPr>
          <a:xfrm>
            <a:off x="660400" y="1346200"/>
            <a:ext cx="889000" cy="63500"/>
          </a:xfrm>
          <a:prstGeom prst="rect">
            <a:avLst/>
          </a:prstGeom>
          <a:solidFill>
            <a:srgbClr val="1C7FB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E1AA24F8-9905-1749-6973-DAE99C882F9A}"/>
              </a:ext>
            </a:extLst>
          </p:cNvPr>
          <p:cNvSpPr txBox="1"/>
          <p:nvPr/>
        </p:nvSpPr>
        <p:spPr>
          <a:xfrm>
            <a:off x="635000" y="1701800"/>
            <a:ext cx="4523154" cy="2062103"/>
          </a:xfrm>
          <a:prstGeom prst="rect">
            <a:avLst/>
          </a:prstGeom>
          <a:noFill/>
        </p:spPr>
        <p:txBody>
          <a:bodyPr vertOverflow="overflow" vert="horz" wrap="square" rtlCol="0" anchor="t">
            <a:spAutoFit/>
          </a:bodyPr>
          <a:lstStyle/>
          <a:p>
            <a:pPr algn="l"/>
            <a:r>
              <a:rPr lang="en-US" sz="1600" dirty="0">
                <a:solidFill>
                  <a:srgbClr val="24364A"/>
                </a:solidFill>
                <a:latin typeface="Open Sans"/>
                <a:ea typeface="Open Sans"/>
                <a:cs typeface="Open Sans"/>
              </a:rPr>
              <a:t>•  AI </a:t>
            </a:r>
            <a:r>
              <a:rPr lang="en-US" sz="1600" dirty="0" err="1">
                <a:solidFill>
                  <a:srgbClr val="24364A"/>
                </a:solidFill>
                <a:latin typeface="Open Sans"/>
                <a:ea typeface="Open Sans"/>
                <a:cs typeface="Open Sans"/>
              </a:rPr>
              <a:t>dünyası</a:t>
            </a:r>
            <a:r>
              <a:rPr lang="en-US" sz="1600" dirty="0">
                <a:solidFill>
                  <a:srgbClr val="24364A"/>
                </a:solidFill>
                <a:latin typeface="Open Sans"/>
                <a:ea typeface="Open Sans"/>
                <a:cs typeface="Open Sans"/>
              </a:rPr>
              <a:t> </a:t>
            </a:r>
            <a:r>
              <a:rPr lang="en-US" sz="1600" dirty="0" err="1">
                <a:solidFill>
                  <a:srgbClr val="24364A"/>
                </a:solidFill>
                <a:latin typeface="Open Sans"/>
                <a:ea typeface="Open Sans"/>
                <a:cs typeface="Open Sans"/>
              </a:rPr>
              <a:t>hızla</a:t>
            </a:r>
            <a:r>
              <a:rPr lang="en-US" sz="1600" dirty="0">
                <a:solidFill>
                  <a:srgbClr val="24364A"/>
                </a:solidFill>
                <a:latin typeface="Open Sans"/>
                <a:ea typeface="Open Sans"/>
                <a:cs typeface="Open Sans"/>
              </a:rPr>
              <a:t> </a:t>
            </a:r>
            <a:r>
              <a:rPr lang="en-US" sz="1600" dirty="0" err="1">
                <a:solidFill>
                  <a:srgbClr val="24364A"/>
                </a:solidFill>
                <a:latin typeface="Open Sans"/>
                <a:ea typeface="Open Sans"/>
                <a:cs typeface="Open Sans"/>
              </a:rPr>
              <a:t>evriliyor</a:t>
            </a:r>
            <a:r>
              <a:rPr lang="en-US" sz="1600" dirty="0">
                <a:solidFill>
                  <a:srgbClr val="24364A"/>
                </a:solidFill>
                <a:latin typeface="Open Sans"/>
                <a:ea typeface="Open Sans"/>
                <a:cs typeface="Open Sans"/>
              </a:rPr>
              <a:t>; </a:t>
            </a:r>
            <a:r>
              <a:rPr lang="en-US" sz="1600" dirty="0" err="1">
                <a:solidFill>
                  <a:srgbClr val="24364A"/>
                </a:solidFill>
                <a:latin typeface="Open Sans"/>
                <a:ea typeface="Open Sans"/>
                <a:cs typeface="Open Sans"/>
              </a:rPr>
              <a:t>neredeyse</a:t>
            </a:r>
            <a:r>
              <a:rPr lang="en-US" sz="1600" dirty="0">
                <a:solidFill>
                  <a:srgbClr val="24364A"/>
                </a:solidFill>
                <a:latin typeface="Open Sans"/>
                <a:ea typeface="Open Sans"/>
                <a:cs typeface="Open Sans"/>
              </a:rPr>
              <a:t> her hafta yeni </a:t>
            </a:r>
            <a:r>
              <a:rPr lang="en-US" sz="1600" dirty="0" err="1">
                <a:solidFill>
                  <a:srgbClr val="24364A"/>
                </a:solidFill>
                <a:latin typeface="Open Sans"/>
                <a:ea typeface="Open Sans"/>
                <a:cs typeface="Open Sans"/>
              </a:rPr>
              <a:t>bir</a:t>
            </a:r>
            <a:r>
              <a:rPr lang="en-US" sz="1600" dirty="0">
                <a:solidFill>
                  <a:srgbClr val="24364A"/>
                </a:solidFill>
                <a:latin typeface="Open Sans"/>
                <a:ea typeface="Open Sans"/>
                <a:cs typeface="Open Sans"/>
              </a:rPr>
              <a:t> "</a:t>
            </a:r>
            <a:r>
              <a:rPr lang="en-US" sz="1600" dirty="0" err="1">
                <a:solidFill>
                  <a:srgbClr val="24364A"/>
                </a:solidFill>
                <a:latin typeface="Open Sans"/>
                <a:ea typeface="Open Sans"/>
                <a:cs typeface="Open Sans"/>
              </a:rPr>
              <a:t>en</a:t>
            </a:r>
            <a:r>
              <a:rPr lang="en-US" sz="1600" dirty="0">
                <a:solidFill>
                  <a:srgbClr val="24364A"/>
                </a:solidFill>
                <a:latin typeface="Open Sans"/>
                <a:ea typeface="Open Sans"/>
                <a:cs typeface="Open Sans"/>
              </a:rPr>
              <a:t> </a:t>
            </a:r>
            <a:r>
              <a:rPr lang="en-US" sz="1600" dirty="0" err="1">
                <a:solidFill>
                  <a:srgbClr val="24364A"/>
                </a:solidFill>
                <a:latin typeface="Open Sans"/>
                <a:ea typeface="Open Sans"/>
                <a:cs typeface="Open Sans"/>
              </a:rPr>
              <a:t>güçlü</a:t>
            </a:r>
            <a:r>
              <a:rPr lang="en-US" sz="1600" dirty="0">
                <a:solidFill>
                  <a:srgbClr val="24364A"/>
                </a:solidFill>
                <a:latin typeface="Open Sans"/>
                <a:ea typeface="Open Sans"/>
                <a:cs typeface="Open Sans"/>
              </a:rPr>
              <a:t> model" </a:t>
            </a:r>
            <a:r>
              <a:rPr lang="en-US" sz="1600" dirty="0" err="1">
                <a:solidFill>
                  <a:srgbClr val="24364A"/>
                </a:solidFill>
                <a:latin typeface="Open Sans"/>
                <a:ea typeface="Open Sans"/>
                <a:cs typeface="Open Sans"/>
              </a:rPr>
              <a:t>duyuruluyor</a:t>
            </a:r>
            <a:r>
              <a:rPr lang="en-US" sz="1600" dirty="0">
                <a:solidFill>
                  <a:srgbClr val="24364A"/>
                </a:solidFill>
                <a:latin typeface="Open Sans"/>
                <a:ea typeface="Open Sans"/>
                <a:cs typeface="Open Sans"/>
              </a:rPr>
              <a:t>
•  Grok → OpenAI → Gemini → Claude → </a:t>
            </a:r>
            <a:r>
              <a:rPr lang="en-US" sz="1600" dirty="0" err="1">
                <a:solidFill>
                  <a:srgbClr val="24364A"/>
                </a:solidFill>
                <a:latin typeface="Open Sans"/>
                <a:ea typeface="Open Sans"/>
                <a:cs typeface="Open Sans"/>
              </a:rPr>
              <a:t>tekrar</a:t>
            </a:r>
            <a:r>
              <a:rPr lang="en-US" sz="1600" dirty="0">
                <a:solidFill>
                  <a:srgbClr val="24364A"/>
                </a:solidFill>
                <a:latin typeface="Open Sans"/>
                <a:ea typeface="Open Sans"/>
                <a:cs typeface="Open Sans"/>
              </a:rPr>
              <a:t> </a:t>
            </a:r>
            <a:r>
              <a:rPr lang="en-US" sz="1600" dirty="0" err="1">
                <a:solidFill>
                  <a:srgbClr val="24364A"/>
                </a:solidFill>
                <a:latin typeface="Open Sans"/>
                <a:ea typeface="Open Sans"/>
                <a:cs typeface="Open Sans"/>
              </a:rPr>
              <a:t>başa</a:t>
            </a:r>
            <a:r>
              <a:rPr lang="en-US" sz="1600" dirty="0">
                <a:solidFill>
                  <a:srgbClr val="24364A"/>
                </a:solidFill>
                <a:latin typeface="Open Sans"/>
                <a:ea typeface="Open Sans"/>
                <a:cs typeface="Open Sans"/>
              </a:rPr>
              <a:t>: </a:t>
            </a:r>
            <a:r>
              <a:rPr lang="en-US" sz="1600" dirty="0" err="1">
                <a:solidFill>
                  <a:srgbClr val="24364A"/>
                </a:solidFill>
                <a:latin typeface="Open Sans"/>
                <a:ea typeface="Open Sans"/>
                <a:cs typeface="Open Sans"/>
              </a:rPr>
              <a:t>bitmeyen</a:t>
            </a:r>
            <a:r>
              <a:rPr lang="en-US" sz="1600" dirty="0">
                <a:solidFill>
                  <a:srgbClr val="24364A"/>
                </a:solidFill>
                <a:latin typeface="Open Sans"/>
                <a:ea typeface="Open Sans"/>
                <a:cs typeface="Open Sans"/>
              </a:rPr>
              <a:t> </a:t>
            </a:r>
            <a:r>
              <a:rPr lang="en-US" sz="1600" dirty="0" err="1">
                <a:solidFill>
                  <a:srgbClr val="24364A"/>
                </a:solidFill>
                <a:latin typeface="Open Sans"/>
                <a:ea typeface="Open Sans"/>
                <a:cs typeface="Open Sans"/>
              </a:rPr>
              <a:t>bir</a:t>
            </a:r>
            <a:r>
              <a:rPr lang="en-US" sz="1600" dirty="0">
                <a:solidFill>
                  <a:srgbClr val="24364A"/>
                </a:solidFill>
                <a:latin typeface="Open Sans"/>
                <a:ea typeface="Open Sans"/>
                <a:cs typeface="Open Sans"/>
              </a:rPr>
              <a:t> </a:t>
            </a:r>
            <a:r>
              <a:rPr lang="en-US" sz="1600" dirty="0" err="1">
                <a:solidFill>
                  <a:srgbClr val="24364A"/>
                </a:solidFill>
                <a:latin typeface="Open Sans"/>
                <a:ea typeface="Open Sans"/>
                <a:cs typeface="Open Sans"/>
              </a:rPr>
              <a:t>döngü</a:t>
            </a:r>
            <a:r>
              <a:rPr lang="en-US" sz="1600" dirty="0">
                <a:solidFill>
                  <a:srgbClr val="24364A"/>
                </a:solidFill>
                <a:latin typeface="Open Sans"/>
                <a:ea typeface="Open Sans"/>
                <a:cs typeface="Open Sans"/>
              </a:rPr>
              <a:t>
•  Hype </a:t>
            </a:r>
            <a:r>
              <a:rPr lang="en-US" sz="1600" dirty="0" err="1">
                <a:solidFill>
                  <a:srgbClr val="24364A"/>
                </a:solidFill>
                <a:latin typeface="Open Sans"/>
                <a:ea typeface="Open Sans"/>
                <a:cs typeface="Open Sans"/>
              </a:rPr>
              <a:t>gerçek</a:t>
            </a:r>
            <a:r>
              <a:rPr lang="en-US" sz="1600" dirty="0">
                <a:solidFill>
                  <a:srgbClr val="24364A"/>
                </a:solidFill>
                <a:latin typeface="Open Sans"/>
                <a:ea typeface="Open Sans"/>
                <a:cs typeface="Open Sans"/>
              </a:rPr>
              <a:t>; ama </a:t>
            </a:r>
            <a:r>
              <a:rPr lang="en-US" sz="1600" dirty="0" err="1">
                <a:solidFill>
                  <a:srgbClr val="24364A"/>
                </a:solidFill>
                <a:latin typeface="Open Sans"/>
                <a:ea typeface="Open Sans"/>
                <a:cs typeface="Open Sans"/>
              </a:rPr>
              <a:t>asıl</a:t>
            </a:r>
            <a:r>
              <a:rPr lang="en-US" sz="1600" dirty="0">
                <a:solidFill>
                  <a:srgbClr val="24364A"/>
                </a:solidFill>
                <a:latin typeface="Open Sans"/>
                <a:ea typeface="Open Sans"/>
                <a:cs typeface="Open Sans"/>
              </a:rPr>
              <a:t> </a:t>
            </a:r>
            <a:r>
              <a:rPr lang="en-US" sz="1600" dirty="0" err="1">
                <a:solidFill>
                  <a:srgbClr val="24364A"/>
                </a:solidFill>
                <a:latin typeface="Open Sans"/>
                <a:ea typeface="Open Sans"/>
                <a:cs typeface="Open Sans"/>
              </a:rPr>
              <a:t>soru</a:t>
            </a:r>
            <a:r>
              <a:rPr lang="en-US" sz="1600" dirty="0">
                <a:solidFill>
                  <a:srgbClr val="24364A"/>
                </a:solidFill>
                <a:latin typeface="Open Sans"/>
                <a:ea typeface="Open Sans"/>
                <a:cs typeface="Open Sans"/>
              </a:rPr>
              <a:t> şu: </a:t>
            </a:r>
            <a:r>
              <a:rPr lang="en-US" sz="1600" dirty="0" err="1">
                <a:solidFill>
                  <a:srgbClr val="24364A"/>
                </a:solidFill>
                <a:latin typeface="Open Sans"/>
                <a:ea typeface="Open Sans"/>
                <a:cs typeface="Open Sans"/>
              </a:rPr>
              <a:t>bu</a:t>
            </a:r>
            <a:r>
              <a:rPr lang="en-US" sz="1600" dirty="0">
                <a:solidFill>
                  <a:srgbClr val="24364A"/>
                </a:solidFill>
                <a:latin typeface="Open Sans"/>
                <a:ea typeface="Open Sans"/>
                <a:cs typeface="Open Sans"/>
              </a:rPr>
              <a:t> </a:t>
            </a:r>
            <a:r>
              <a:rPr lang="en-US" sz="1600" dirty="0" err="1">
                <a:solidFill>
                  <a:srgbClr val="24364A"/>
                </a:solidFill>
                <a:latin typeface="Open Sans"/>
                <a:ea typeface="Open Sans"/>
                <a:cs typeface="Open Sans"/>
              </a:rPr>
              <a:t>modeller</a:t>
            </a:r>
            <a:r>
              <a:rPr lang="en-US" sz="1600" dirty="0">
                <a:solidFill>
                  <a:srgbClr val="24364A"/>
                </a:solidFill>
                <a:latin typeface="Open Sans"/>
                <a:ea typeface="Open Sans"/>
                <a:cs typeface="Open Sans"/>
              </a:rPr>
              <a:t> </a:t>
            </a:r>
            <a:r>
              <a:rPr lang="en-US" sz="1600" dirty="0" err="1">
                <a:solidFill>
                  <a:srgbClr val="24364A"/>
                </a:solidFill>
                <a:latin typeface="Open Sans"/>
                <a:ea typeface="Open Sans"/>
                <a:cs typeface="Open Sans"/>
              </a:rPr>
              <a:t>işimde</a:t>
            </a:r>
            <a:r>
              <a:rPr lang="en-US" sz="1600" dirty="0">
                <a:solidFill>
                  <a:srgbClr val="24364A"/>
                </a:solidFill>
                <a:latin typeface="Open Sans"/>
                <a:ea typeface="Open Sans"/>
                <a:cs typeface="Open Sans"/>
              </a:rPr>
              <a:t> nasıl </a:t>
            </a:r>
            <a:r>
              <a:rPr lang="en-US" sz="1600" dirty="0" err="1">
                <a:solidFill>
                  <a:srgbClr val="24364A"/>
                </a:solidFill>
                <a:latin typeface="Open Sans"/>
                <a:ea typeface="Open Sans"/>
                <a:cs typeface="Open Sans"/>
              </a:rPr>
              <a:t>güvenilir</a:t>
            </a:r>
            <a:r>
              <a:rPr lang="en-US" sz="1600" dirty="0">
                <a:solidFill>
                  <a:srgbClr val="24364A"/>
                </a:solidFill>
                <a:latin typeface="Open Sans"/>
                <a:ea typeface="Open Sans"/>
                <a:cs typeface="Open Sans"/>
              </a:rPr>
              <a:t> </a:t>
            </a:r>
            <a:r>
              <a:rPr lang="en-US" sz="1600" dirty="0" err="1">
                <a:solidFill>
                  <a:srgbClr val="24364A"/>
                </a:solidFill>
                <a:latin typeface="Open Sans"/>
                <a:ea typeface="Open Sans"/>
                <a:cs typeface="Open Sans"/>
              </a:rPr>
              <a:t>değer</a:t>
            </a:r>
            <a:r>
              <a:rPr lang="en-US" sz="1600" dirty="0">
                <a:solidFill>
                  <a:srgbClr val="24364A"/>
                </a:solidFill>
                <a:latin typeface="Open Sans"/>
                <a:ea typeface="Open Sans"/>
                <a:cs typeface="Open Sans"/>
              </a:rPr>
              <a:t> </a:t>
            </a:r>
            <a:r>
              <a:rPr lang="en-US" sz="1600" dirty="0" err="1">
                <a:solidFill>
                  <a:srgbClr val="24364A"/>
                </a:solidFill>
                <a:latin typeface="Open Sans"/>
                <a:ea typeface="Open Sans"/>
                <a:cs typeface="Open Sans"/>
              </a:rPr>
              <a:t>üretir</a:t>
            </a:r>
            <a:r>
              <a:rPr lang="en-US" sz="1600" dirty="0">
                <a:solidFill>
                  <a:srgbClr val="24364A"/>
                </a:solidFill>
                <a:latin typeface="Open Sans"/>
                <a:ea typeface="Open Sans"/>
                <a:cs typeface="Open Sans"/>
              </a:rPr>
              <a:t>?</a:t>
            </a:r>
          </a:p>
        </p:txBody>
      </p:sp>
      <p:sp>
        <p:nvSpPr>
          <p:cNvPr id="5" name="Rectangle: Rounded Corners 4">
            <a:extLst>
              <a:ext uri="{FF2B5EF4-FFF2-40B4-BE49-F238E27FC236}">
                <a16:creationId xmlns:a16="http://schemas.microsoft.com/office/drawing/2014/main" id="{CF36879D-A0A6-A61E-D9B5-3F3645B84B72}"/>
              </a:ext>
            </a:extLst>
          </p:cNvPr>
          <p:cNvSpPr/>
          <p:nvPr/>
        </p:nvSpPr>
        <p:spPr>
          <a:xfrm>
            <a:off x="517769" y="4310184"/>
            <a:ext cx="4816231" cy="1320800"/>
          </a:xfrm>
          <a:prstGeom prst="roundRect">
            <a:avLst/>
          </a:prstGeom>
          <a:solidFill>
            <a:srgbClr val="EAF3F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6887E41D-621A-1CAA-110D-30F7B49F1BA9}"/>
              </a:ext>
            </a:extLst>
          </p:cNvPr>
          <p:cNvSpPr txBox="1"/>
          <p:nvPr/>
        </p:nvSpPr>
        <p:spPr>
          <a:xfrm>
            <a:off x="797169" y="4589710"/>
            <a:ext cx="4380477" cy="761747"/>
          </a:xfrm>
          <a:prstGeom prst="rect">
            <a:avLst/>
          </a:prstGeom>
          <a:noFill/>
        </p:spPr>
        <p:txBody>
          <a:bodyPr vertOverflow="overflow" vert="horz" wrap="square" rtlCol="0" anchor="ctr" anchorCtr="0">
            <a:spAutoFit/>
          </a:bodyPr>
          <a:lstStyle/>
          <a:p>
            <a:pPr algn="l"/>
            <a:r>
              <a:rPr lang="en-US" sz="1450" b="1">
                <a:solidFill>
                  <a:srgbClr val="115E8A"/>
                </a:solidFill>
                <a:latin typeface="Open Sans"/>
                <a:ea typeface="Open Sans"/>
                <a:cs typeface="Open Sans"/>
              </a:rPr>
              <a:t>"Şu an buradayız" — ama yarın yine değişecek. Kurumsal değer, modelden çok onu çevreleyen mimaride.</a:t>
            </a:r>
          </a:p>
        </p:txBody>
      </p:sp>
      <p:pic>
        <p:nvPicPr>
          <p:cNvPr id="9" name="Picture 8">
            <a:extLst>
              <a:ext uri="{FF2B5EF4-FFF2-40B4-BE49-F238E27FC236}">
                <a16:creationId xmlns:a16="http://schemas.microsoft.com/office/drawing/2014/main" id="{F1C9541E-8EE2-8690-BFA2-9370B9162269}"/>
              </a:ext>
            </a:extLst>
          </p:cNvPr>
          <p:cNvPicPr>
            <a:picLocks noChangeAspect="1"/>
          </p:cNvPicPr>
          <p:nvPr/>
        </p:nvPicPr>
        <p:blipFill>
          <a:blip r:embed="rId3"/>
          <a:srcRect t="16354" b="28467"/>
          <a:stretch>
            <a:fillRect/>
          </a:stretch>
        </p:blipFill>
        <p:spPr>
          <a:xfrm>
            <a:off x="5437554" y="1346200"/>
            <a:ext cx="6628525" cy="4876800"/>
          </a:xfrm>
          <a:prstGeom prst="rect">
            <a:avLst/>
          </a:prstGeom>
        </p:spPr>
      </p:pic>
    </p:spTree>
    <p:extLst>
      <p:ext uri="{BB962C8B-B14F-4D97-AF65-F5344CB8AC3E}">
        <p14:creationId xmlns:p14="http://schemas.microsoft.com/office/powerpoint/2010/main" val="19731725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AE8C6-09A2-764F-278C-77F2440D686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2D82EBB-44A0-B867-0C43-75C1DBAF315F}"/>
              </a:ext>
            </a:extLst>
          </p:cNvPr>
          <p:cNvPicPr>
            <a:picLocks noChangeAspect="1"/>
          </p:cNvPicPr>
          <p:nvPr/>
        </p:nvPicPr>
        <p:blipFill>
          <a:blip r:embed="rId3"/>
          <a:stretch>
            <a:fillRect/>
          </a:stretch>
        </p:blipFill>
        <p:spPr>
          <a:xfrm>
            <a:off x="-91858" y="-811342"/>
            <a:ext cx="12375715" cy="7669342"/>
          </a:xfrm>
          <a:prstGeom prst="rect">
            <a:avLst/>
          </a:prstGeom>
        </p:spPr>
      </p:pic>
      <p:sp>
        <p:nvSpPr>
          <p:cNvPr id="5" name="TextBox 4">
            <a:extLst>
              <a:ext uri="{FF2B5EF4-FFF2-40B4-BE49-F238E27FC236}">
                <a16:creationId xmlns:a16="http://schemas.microsoft.com/office/drawing/2014/main" id="{8E315822-66FA-F908-9FA4-48F6EE545903}"/>
              </a:ext>
            </a:extLst>
          </p:cNvPr>
          <p:cNvSpPr txBox="1"/>
          <p:nvPr/>
        </p:nvSpPr>
        <p:spPr>
          <a:xfrm>
            <a:off x="1842369" y="5713852"/>
            <a:ext cx="8507260" cy="83099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2400" dirty="0"/>
              <a:t>"Bir </a:t>
            </a:r>
            <a:r>
              <a:rPr lang="en-US" sz="2400" dirty="0" err="1"/>
              <a:t>yapay</a:t>
            </a:r>
            <a:r>
              <a:rPr lang="en-US" sz="2400" dirty="0"/>
              <a:t> </a:t>
            </a:r>
            <a:r>
              <a:rPr lang="en-US" sz="2400" dirty="0" err="1"/>
              <a:t>zekâ</a:t>
            </a:r>
            <a:r>
              <a:rPr lang="en-US" sz="2400" dirty="0"/>
              <a:t> </a:t>
            </a:r>
            <a:r>
              <a:rPr lang="en-US" sz="2400" dirty="0" err="1"/>
              <a:t>balonunun</a:t>
            </a:r>
            <a:r>
              <a:rPr lang="en-US" sz="2400" dirty="0"/>
              <a:t> </a:t>
            </a:r>
            <a:r>
              <a:rPr lang="en-US" sz="2400" dirty="0" err="1"/>
              <a:t>içinde</a:t>
            </a:r>
            <a:r>
              <a:rPr lang="en-US" sz="2400" dirty="0"/>
              <a:t> </a:t>
            </a:r>
            <a:r>
              <a:rPr lang="en-US" sz="2400" dirty="0" err="1"/>
              <a:t>değiliz</a:t>
            </a:r>
            <a:r>
              <a:rPr lang="en-US" sz="2400" dirty="0"/>
              <a:t>; </a:t>
            </a:r>
            <a:br>
              <a:rPr lang="en-US" sz="2400" dirty="0"/>
            </a:br>
            <a:r>
              <a:rPr lang="en-US" sz="2400" dirty="0" err="1"/>
              <a:t>kaçmamız</a:t>
            </a:r>
            <a:r>
              <a:rPr lang="en-US" sz="2400" dirty="0"/>
              <a:t> </a:t>
            </a:r>
            <a:r>
              <a:rPr lang="en-US" sz="2400" dirty="0" err="1"/>
              <a:t>gereken</a:t>
            </a:r>
            <a:r>
              <a:rPr lang="en-US" sz="2400" dirty="0"/>
              <a:t> </a:t>
            </a:r>
            <a:r>
              <a:rPr lang="en-US" sz="2400" dirty="0" err="1"/>
              <a:t>bir</a:t>
            </a:r>
            <a:r>
              <a:rPr lang="en-US" sz="2400" dirty="0"/>
              <a:t> </a:t>
            </a:r>
            <a:r>
              <a:rPr lang="en-US" sz="2400" dirty="0" err="1"/>
              <a:t>yapay</a:t>
            </a:r>
            <a:r>
              <a:rPr lang="en-US" sz="2400" dirty="0"/>
              <a:t> </a:t>
            </a:r>
            <a:r>
              <a:rPr lang="en-US" sz="2400" dirty="0" err="1"/>
              <a:t>zekâ</a:t>
            </a:r>
            <a:r>
              <a:rPr lang="en-US" sz="2400" dirty="0"/>
              <a:t> </a:t>
            </a:r>
            <a:r>
              <a:rPr lang="en-US" sz="2400" dirty="0" err="1"/>
              <a:t>tuzağının</a:t>
            </a:r>
            <a:r>
              <a:rPr lang="en-US" sz="2400" dirty="0"/>
              <a:t> </a:t>
            </a:r>
            <a:r>
              <a:rPr lang="en-US" sz="2400" dirty="0" err="1"/>
              <a:t>içindeyiz</a:t>
            </a:r>
            <a:r>
              <a:rPr lang="en-US" sz="2400" dirty="0"/>
              <a:t>."</a:t>
            </a:r>
          </a:p>
        </p:txBody>
      </p:sp>
    </p:spTree>
    <p:extLst>
      <p:ext uri="{BB962C8B-B14F-4D97-AF65-F5344CB8AC3E}">
        <p14:creationId xmlns:p14="http://schemas.microsoft.com/office/powerpoint/2010/main" val="6006256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2E514-1C80-93F2-8EA2-137358CE6DC0}"/>
              </a:ext>
            </a:extLst>
          </p:cNvPr>
          <p:cNvSpPr>
            <a:spLocks noGrp="1"/>
          </p:cNvSpPr>
          <p:nvPr>
            <p:ph type="title"/>
          </p:nvPr>
        </p:nvSpPr>
        <p:spPr>
          <a:xfrm>
            <a:off x="635000" y="508000"/>
            <a:ext cx="10922000" cy="762000"/>
          </a:xfrm>
        </p:spPr>
        <p:txBody>
          <a:bodyPr>
            <a:normAutofit/>
          </a:bodyPr>
          <a:lstStyle/>
          <a:p>
            <a:r>
              <a:rPr lang="en-US" sz="2500" b="1">
                <a:latin typeface="Montserrat"/>
              </a:rPr>
              <a:t>Gerçek: Değer Gen AI Yığınında Nereye Akıyor?</a:t>
            </a:r>
          </a:p>
        </p:txBody>
      </p:sp>
      <p:sp>
        <p:nvSpPr>
          <p:cNvPr id="3" name="Rectangle 2">
            <a:extLst>
              <a:ext uri="{FF2B5EF4-FFF2-40B4-BE49-F238E27FC236}">
                <a16:creationId xmlns:a16="http://schemas.microsoft.com/office/drawing/2014/main" id="{1CD6E47A-3B17-491F-B4E8-90033DE9976F}"/>
              </a:ext>
            </a:extLst>
          </p:cNvPr>
          <p:cNvSpPr/>
          <p:nvPr/>
        </p:nvSpPr>
        <p:spPr>
          <a:xfrm>
            <a:off x="660400" y="1346200"/>
            <a:ext cx="889000" cy="63500"/>
          </a:xfrm>
          <a:prstGeom prst="rect">
            <a:avLst/>
          </a:prstGeom>
          <a:solidFill>
            <a:srgbClr val="1C7FB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A74BCD4F-3DA1-4E49-AFB7-D538A825F8B0}"/>
              </a:ext>
            </a:extLst>
          </p:cNvPr>
          <p:cNvSpPr txBox="1"/>
          <p:nvPr/>
        </p:nvSpPr>
        <p:spPr>
          <a:xfrm>
            <a:off x="558800" y="5867400"/>
            <a:ext cx="6883400" cy="284693"/>
          </a:xfrm>
          <a:prstGeom prst="rect">
            <a:avLst/>
          </a:prstGeom>
          <a:noFill/>
        </p:spPr>
        <p:txBody>
          <a:bodyPr vertOverflow="overflow" vert="horz" wrap="square" rtlCol="0" anchor="t">
            <a:spAutoFit/>
          </a:bodyPr>
          <a:lstStyle/>
          <a:p>
            <a:pPr algn="l"/>
            <a:r>
              <a:rPr lang="en-US" sz="1250" i="1" dirty="0">
                <a:solidFill>
                  <a:srgbClr val="5B6B7B"/>
                </a:solidFill>
                <a:latin typeface="Open Sans"/>
                <a:ea typeface="Open Sans"/>
                <a:cs typeface="Open Sans"/>
              </a:rPr>
              <a:t>Değer </a:t>
            </a:r>
            <a:r>
              <a:rPr lang="en-US" sz="1250" i="1" dirty="0" err="1">
                <a:solidFill>
                  <a:srgbClr val="5B6B7B"/>
                </a:solidFill>
                <a:latin typeface="Open Sans"/>
                <a:ea typeface="Open Sans"/>
                <a:cs typeface="Open Sans"/>
              </a:rPr>
              <a:t>giderek</a:t>
            </a:r>
            <a:r>
              <a:rPr lang="en-US" sz="1250" i="1" dirty="0">
                <a:solidFill>
                  <a:srgbClr val="5B6B7B"/>
                </a:solidFill>
                <a:latin typeface="Open Sans"/>
                <a:ea typeface="Open Sans"/>
                <a:cs typeface="Open Sans"/>
              </a:rPr>
              <a:t> "context + runtime", </a:t>
            </a:r>
            <a:r>
              <a:rPr lang="en-US" sz="1250" i="1" dirty="0" err="1">
                <a:solidFill>
                  <a:srgbClr val="5B6B7B"/>
                </a:solidFill>
                <a:latin typeface="Open Sans"/>
                <a:ea typeface="Open Sans"/>
                <a:cs typeface="Open Sans"/>
              </a:rPr>
              <a:t>ajanlar</a:t>
            </a:r>
            <a:r>
              <a:rPr lang="en-US" sz="1250" i="1" dirty="0">
                <a:solidFill>
                  <a:srgbClr val="5B6B7B"/>
                </a:solidFill>
                <a:latin typeface="Open Sans"/>
                <a:ea typeface="Open Sans"/>
                <a:cs typeface="Open Sans"/>
              </a:rPr>
              <a:t> ve </a:t>
            </a:r>
            <a:r>
              <a:rPr lang="en-US" sz="1250" i="1" dirty="0" err="1">
                <a:solidFill>
                  <a:srgbClr val="5B6B7B"/>
                </a:solidFill>
                <a:latin typeface="Open Sans"/>
                <a:ea typeface="Open Sans"/>
                <a:cs typeface="Open Sans"/>
              </a:rPr>
              <a:t>güvenlik</a:t>
            </a:r>
            <a:r>
              <a:rPr lang="en-US" sz="1250" i="1" dirty="0">
                <a:solidFill>
                  <a:srgbClr val="5B6B7B"/>
                </a:solidFill>
                <a:latin typeface="Open Sans"/>
                <a:ea typeface="Open Sans"/>
                <a:cs typeface="Open Sans"/>
              </a:rPr>
              <a:t> </a:t>
            </a:r>
            <a:r>
              <a:rPr lang="en-US" sz="1250" i="1" dirty="0" err="1">
                <a:solidFill>
                  <a:srgbClr val="5B6B7B"/>
                </a:solidFill>
                <a:latin typeface="Open Sans"/>
                <a:ea typeface="Open Sans"/>
                <a:cs typeface="Open Sans"/>
              </a:rPr>
              <a:t>katmanına</a:t>
            </a:r>
            <a:r>
              <a:rPr lang="en-US" sz="1250" i="1" dirty="0">
                <a:solidFill>
                  <a:srgbClr val="5B6B7B"/>
                </a:solidFill>
                <a:latin typeface="Open Sans"/>
                <a:ea typeface="Open Sans"/>
                <a:cs typeface="Open Sans"/>
              </a:rPr>
              <a:t> </a:t>
            </a:r>
            <a:r>
              <a:rPr lang="en-US" sz="1250" i="1" dirty="0" err="1">
                <a:solidFill>
                  <a:srgbClr val="5B6B7B"/>
                </a:solidFill>
                <a:latin typeface="Open Sans"/>
                <a:ea typeface="Open Sans"/>
                <a:cs typeface="Open Sans"/>
              </a:rPr>
              <a:t>kayıyor</a:t>
            </a:r>
            <a:r>
              <a:rPr lang="en-US" sz="1250" i="1" dirty="0">
                <a:solidFill>
                  <a:srgbClr val="5B6B7B"/>
                </a:solidFill>
                <a:latin typeface="Open Sans"/>
                <a:ea typeface="Open Sans"/>
                <a:cs typeface="Open Sans"/>
              </a:rPr>
              <a:t>.</a:t>
            </a:r>
          </a:p>
        </p:txBody>
      </p:sp>
      <p:sp>
        <p:nvSpPr>
          <p:cNvPr id="6" name="TextBox 5">
            <a:extLst>
              <a:ext uri="{FF2B5EF4-FFF2-40B4-BE49-F238E27FC236}">
                <a16:creationId xmlns:a16="http://schemas.microsoft.com/office/drawing/2014/main" id="{88BEFB84-9A2E-48C1-8B38-A84D1D02DB4F}"/>
              </a:ext>
            </a:extLst>
          </p:cNvPr>
          <p:cNvSpPr txBox="1"/>
          <p:nvPr/>
        </p:nvSpPr>
        <p:spPr>
          <a:xfrm>
            <a:off x="7055850" y="2483338"/>
            <a:ext cx="4956397" cy="738664"/>
          </a:xfrm>
          <a:prstGeom prst="rect">
            <a:avLst/>
          </a:prstGeom>
          <a:noFill/>
        </p:spPr>
        <p:txBody>
          <a:bodyPr vertOverflow="overflow" vert="horz" wrap="square" rtlCol="0" anchor="t">
            <a:spAutoFit/>
          </a:bodyPr>
          <a:lstStyle/>
          <a:p>
            <a:pPr algn="l"/>
            <a:r>
              <a:rPr lang="en-US" sz="1400" dirty="0" err="1">
                <a:solidFill>
                  <a:srgbClr val="24364A"/>
                </a:solidFill>
                <a:latin typeface="Open Sans"/>
                <a:ea typeface="Open Sans"/>
                <a:cs typeface="Open Sans"/>
              </a:rPr>
              <a:t>Donanım</a:t>
            </a:r>
            <a:r>
              <a:rPr lang="en-US" sz="1400" dirty="0">
                <a:solidFill>
                  <a:srgbClr val="24364A"/>
                </a:solidFill>
                <a:latin typeface="Open Sans"/>
                <a:ea typeface="Open Sans"/>
                <a:cs typeface="Open Sans"/>
              </a:rPr>
              <a:t> ve </a:t>
            </a:r>
            <a:r>
              <a:rPr lang="en-US" sz="1400" dirty="0" err="1">
                <a:solidFill>
                  <a:srgbClr val="24364A"/>
                </a:solidFill>
                <a:latin typeface="Open Sans"/>
                <a:ea typeface="Open Sans"/>
                <a:cs typeface="Open Sans"/>
              </a:rPr>
              <a:t>modeller</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metalaşırken</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değer</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yukarı</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çıkıyor</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uygulama</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bağlam</a:t>
            </a:r>
            <a:r>
              <a:rPr lang="en-US" sz="1400" dirty="0">
                <a:solidFill>
                  <a:srgbClr val="24364A"/>
                </a:solidFill>
                <a:latin typeface="Open Sans"/>
                <a:ea typeface="Open Sans"/>
                <a:cs typeface="Open Sans"/>
              </a:rPr>
              <a:t> ve </a:t>
            </a:r>
            <a:r>
              <a:rPr lang="en-US" sz="1400" dirty="0" err="1">
                <a:solidFill>
                  <a:srgbClr val="24364A"/>
                </a:solidFill>
                <a:latin typeface="Open Sans"/>
                <a:ea typeface="Open Sans"/>
                <a:cs typeface="Open Sans"/>
              </a:rPr>
              <a:t>ajan</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katmanına</a:t>
            </a:r>
            <a:r>
              <a:rPr lang="en-US" sz="1400" dirty="0">
                <a:solidFill>
                  <a:srgbClr val="24364A"/>
                </a:solidFill>
                <a:latin typeface="Open Sans"/>
                <a:ea typeface="Open Sans"/>
                <a:cs typeface="Open Sans"/>
              </a:rPr>
              <a:t>. Açık </a:t>
            </a:r>
            <a:r>
              <a:rPr lang="en-US" sz="1400" dirty="0" err="1">
                <a:solidFill>
                  <a:srgbClr val="24364A"/>
                </a:solidFill>
                <a:latin typeface="Open Sans"/>
                <a:ea typeface="Open Sans"/>
                <a:cs typeface="Open Sans"/>
              </a:rPr>
              <a:t>kaynak</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motorlar</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ise</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güçlü</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modelleri</a:t>
            </a:r>
            <a:r>
              <a:rPr lang="en-US" sz="1400" dirty="0">
                <a:solidFill>
                  <a:srgbClr val="24364A"/>
                </a:solidFill>
                <a:latin typeface="Open Sans"/>
                <a:ea typeface="Open Sans"/>
                <a:cs typeface="Open Sans"/>
              </a:rPr>
              <a:t> artık </a:t>
            </a:r>
            <a:r>
              <a:rPr lang="en-US" sz="1400" dirty="0" err="1">
                <a:solidFill>
                  <a:srgbClr val="24364A"/>
                </a:solidFill>
                <a:latin typeface="Open Sans"/>
                <a:ea typeface="Open Sans"/>
                <a:cs typeface="Open Sans"/>
              </a:rPr>
              <a:t>yerelde</a:t>
            </a:r>
            <a:r>
              <a:rPr lang="en-US" sz="1400" dirty="0">
                <a:solidFill>
                  <a:srgbClr val="24364A"/>
                </a:solidFill>
                <a:latin typeface="Open Sans"/>
                <a:ea typeface="Open Sans"/>
                <a:cs typeface="Open Sans"/>
              </a:rPr>
              <a:t> </a:t>
            </a:r>
            <a:r>
              <a:rPr lang="en-US" sz="1400" dirty="0" err="1">
                <a:solidFill>
                  <a:srgbClr val="24364A"/>
                </a:solidFill>
                <a:latin typeface="Open Sans"/>
                <a:ea typeface="Open Sans"/>
                <a:cs typeface="Open Sans"/>
              </a:rPr>
              <a:t>çalıştırıyor</a:t>
            </a:r>
            <a:r>
              <a:rPr lang="en-US" sz="1400" dirty="0">
                <a:solidFill>
                  <a:srgbClr val="24364A"/>
                </a:solidFill>
                <a:latin typeface="Open Sans"/>
                <a:ea typeface="Open Sans"/>
                <a:cs typeface="Open Sans"/>
              </a:rPr>
              <a:t>.</a:t>
            </a:r>
          </a:p>
        </p:txBody>
      </p:sp>
      <p:pic>
        <p:nvPicPr>
          <p:cNvPr id="9" name="Picture 8">
            <a:extLst>
              <a:ext uri="{FF2B5EF4-FFF2-40B4-BE49-F238E27FC236}">
                <a16:creationId xmlns:a16="http://schemas.microsoft.com/office/drawing/2014/main" id="{77ADB0D0-A5FC-038C-A69D-528F60B6F866}"/>
              </a:ext>
            </a:extLst>
          </p:cNvPr>
          <p:cNvPicPr>
            <a:picLocks noChangeAspect="1"/>
          </p:cNvPicPr>
          <p:nvPr/>
        </p:nvPicPr>
        <p:blipFill>
          <a:blip r:embed="rId3"/>
          <a:stretch>
            <a:fillRect/>
          </a:stretch>
        </p:blipFill>
        <p:spPr>
          <a:xfrm>
            <a:off x="179752" y="1630290"/>
            <a:ext cx="6814735" cy="4097410"/>
          </a:xfrm>
          <a:prstGeom prst="rect">
            <a:avLst/>
          </a:prstGeom>
        </p:spPr>
      </p:pic>
      <p:pic>
        <p:nvPicPr>
          <p:cNvPr id="14" name="Picture 13">
            <a:extLst>
              <a:ext uri="{FF2B5EF4-FFF2-40B4-BE49-F238E27FC236}">
                <a16:creationId xmlns:a16="http://schemas.microsoft.com/office/drawing/2014/main" id="{7B52A3B5-005A-A318-A92B-3ED237ECBCC5}"/>
              </a:ext>
            </a:extLst>
          </p:cNvPr>
          <p:cNvPicPr>
            <a:picLocks noChangeAspect="1"/>
          </p:cNvPicPr>
          <p:nvPr/>
        </p:nvPicPr>
        <p:blipFill>
          <a:blip r:embed="rId4"/>
          <a:stretch>
            <a:fillRect/>
          </a:stretch>
        </p:blipFill>
        <p:spPr>
          <a:xfrm>
            <a:off x="7134004" y="3222002"/>
            <a:ext cx="4878243" cy="1225062"/>
          </a:xfrm>
          <a:prstGeom prst="rect">
            <a:avLst/>
          </a:prstGeom>
        </p:spPr>
      </p:pic>
      <p:cxnSp>
        <p:nvCxnSpPr>
          <p:cNvPr id="16" name="Connector: Curved 15">
            <a:extLst>
              <a:ext uri="{FF2B5EF4-FFF2-40B4-BE49-F238E27FC236}">
                <a16:creationId xmlns:a16="http://schemas.microsoft.com/office/drawing/2014/main" id="{5155CDC1-A4DD-B08F-BC18-FAB30B6525C7}"/>
              </a:ext>
            </a:extLst>
          </p:cNvPr>
          <p:cNvCxnSpPr/>
          <p:nvPr/>
        </p:nvCxnSpPr>
        <p:spPr>
          <a:xfrm rot="10800000" flipV="1">
            <a:off x="6213231" y="1863968"/>
            <a:ext cx="1899138" cy="1101969"/>
          </a:xfrm>
          <a:prstGeom prst="curvedConnector3">
            <a:avLst>
              <a:gd name="adj1" fmla="val 85802"/>
            </a:avLst>
          </a:prstGeom>
          <a:ln w="76200">
            <a:tailEnd type="triangle"/>
          </a:ln>
        </p:spPr>
        <p:style>
          <a:lnRef idx="2">
            <a:schemeClr val="accent4"/>
          </a:lnRef>
          <a:fillRef idx="0">
            <a:schemeClr val="accent4"/>
          </a:fillRef>
          <a:effectRef idx="1">
            <a:schemeClr val="accent4"/>
          </a:effectRef>
          <a:fontRef idx="minor">
            <a:schemeClr val="tx1"/>
          </a:fontRef>
        </p:style>
      </p:cxnSp>
      <p:sp>
        <p:nvSpPr>
          <p:cNvPr id="18" name="TextBox 17">
            <a:extLst>
              <a:ext uri="{FF2B5EF4-FFF2-40B4-BE49-F238E27FC236}">
                <a16:creationId xmlns:a16="http://schemas.microsoft.com/office/drawing/2014/main" id="{B78F860E-5F5F-DBF3-0FDE-D77BE3037FBE}"/>
              </a:ext>
            </a:extLst>
          </p:cNvPr>
          <p:cNvSpPr txBox="1"/>
          <p:nvPr/>
        </p:nvSpPr>
        <p:spPr>
          <a:xfrm>
            <a:off x="8112369" y="1643883"/>
            <a:ext cx="3339123" cy="369332"/>
          </a:xfrm>
          <a:prstGeom prst="rect">
            <a:avLst/>
          </a:prstGeom>
          <a:noFill/>
        </p:spPr>
        <p:txBody>
          <a:bodyPr wrap="square" rtlCol="0">
            <a:spAutoFit/>
          </a:bodyPr>
          <a:lstStyle/>
          <a:p>
            <a:r>
              <a:rPr lang="en-US" dirty="0"/>
              <a:t>Değer işte buraya </a:t>
            </a:r>
            <a:r>
              <a:rPr lang="en-US" dirty="0" err="1"/>
              <a:t>kayıyor</a:t>
            </a:r>
            <a:endParaRPr lang="en-US" dirty="0"/>
          </a:p>
        </p:txBody>
      </p:sp>
    </p:spTree>
    <p:extLst>
      <p:ext uri="{BB962C8B-B14F-4D97-AF65-F5344CB8AC3E}">
        <p14:creationId xmlns:p14="http://schemas.microsoft.com/office/powerpoint/2010/main" val="25991084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91BFE-0BD0-0133-34CB-516A118A9A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476B25-EC42-B2E7-9CCF-5B9CA1924D8E}"/>
              </a:ext>
            </a:extLst>
          </p:cNvPr>
          <p:cNvSpPr>
            <a:spLocks noGrp="1"/>
          </p:cNvSpPr>
          <p:nvPr>
            <p:ph type="title"/>
          </p:nvPr>
        </p:nvSpPr>
        <p:spPr>
          <a:xfrm>
            <a:off x="635000" y="508000"/>
            <a:ext cx="10922000" cy="762000"/>
          </a:xfrm>
        </p:spPr>
        <p:txBody>
          <a:bodyPr>
            <a:normAutofit/>
          </a:bodyPr>
          <a:lstStyle/>
          <a:p>
            <a:r>
              <a:rPr lang="it-IT" sz="3000" b="1">
                <a:latin typeface="Montserrat"/>
              </a:rPr>
              <a:t>AI Üretti — Peki Sonra Ne Olur?</a:t>
            </a:r>
            <a:endParaRPr lang="en-US" sz="3000" b="1">
              <a:latin typeface="Montserrat"/>
            </a:endParaRPr>
          </a:p>
        </p:txBody>
      </p:sp>
      <p:sp>
        <p:nvSpPr>
          <p:cNvPr id="3" name="Rectangle 2">
            <a:extLst>
              <a:ext uri="{FF2B5EF4-FFF2-40B4-BE49-F238E27FC236}">
                <a16:creationId xmlns:a16="http://schemas.microsoft.com/office/drawing/2014/main" id="{657DF19E-85CA-E898-7180-6101793A02CB}"/>
              </a:ext>
            </a:extLst>
          </p:cNvPr>
          <p:cNvSpPr/>
          <p:nvPr/>
        </p:nvSpPr>
        <p:spPr>
          <a:xfrm>
            <a:off x="660400" y="1346200"/>
            <a:ext cx="889000" cy="63500"/>
          </a:xfrm>
          <a:prstGeom prst="rect">
            <a:avLst/>
          </a:prstGeom>
          <a:solidFill>
            <a:srgbClr val="E08A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Rounded Corners 4">
            <a:extLst>
              <a:ext uri="{FF2B5EF4-FFF2-40B4-BE49-F238E27FC236}">
                <a16:creationId xmlns:a16="http://schemas.microsoft.com/office/drawing/2014/main" id="{25043574-0667-EB3B-8937-9FC2A94F0517}"/>
              </a:ext>
            </a:extLst>
          </p:cNvPr>
          <p:cNvSpPr/>
          <p:nvPr/>
        </p:nvSpPr>
        <p:spPr>
          <a:xfrm>
            <a:off x="584200" y="2120900"/>
            <a:ext cx="6604000" cy="609600"/>
          </a:xfrm>
          <a:prstGeom prst="roundRect">
            <a:avLst/>
          </a:prstGeom>
          <a:solidFill>
            <a:srgbClr val="115E8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it-IT" sz="2000" b="1" dirty="0">
                <a:solidFill>
                  <a:srgbClr val="FFFFFF"/>
                </a:solidFill>
                <a:latin typeface="Montserrat"/>
              </a:rPr>
              <a:t>AI bir şey ürettikten sonra ne olur?</a:t>
            </a:r>
            <a:endParaRPr lang="en-US" sz="2000" b="1" dirty="0">
              <a:solidFill>
                <a:srgbClr val="FFFFFF"/>
              </a:solidFill>
              <a:latin typeface="Montserrat"/>
            </a:endParaRPr>
          </a:p>
        </p:txBody>
      </p:sp>
      <p:sp>
        <p:nvSpPr>
          <p:cNvPr id="6" name="Rectangle: Rounded Corners 5">
            <a:extLst>
              <a:ext uri="{FF2B5EF4-FFF2-40B4-BE49-F238E27FC236}">
                <a16:creationId xmlns:a16="http://schemas.microsoft.com/office/drawing/2014/main" id="{A46E4004-5752-E13D-D370-8963271A6D37}"/>
              </a:ext>
            </a:extLst>
          </p:cNvPr>
          <p:cNvSpPr/>
          <p:nvPr/>
        </p:nvSpPr>
        <p:spPr>
          <a:xfrm>
            <a:off x="635000" y="3581401"/>
            <a:ext cx="3175000" cy="1066800"/>
          </a:xfrm>
          <a:prstGeom prst="roundRect">
            <a:avLst/>
          </a:prstGeom>
          <a:solidFill>
            <a:srgbClr val="EEF3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Oval 6">
            <a:extLst>
              <a:ext uri="{FF2B5EF4-FFF2-40B4-BE49-F238E27FC236}">
                <a16:creationId xmlns:a16="http://schemas.microsoft.com/office/drawing/2014/main" id="{34DE0178-9C8F-5652-280B-0F1932138EAB}"/>
              </a:ext>
            </a:extLst>
          </p:cNvPr>
          <p:cNvSpPr/>
          <p:nvPr/>
        </p:nvSpPr>
        <p:spPr>
          <a:xfrm>
            <a:off x="812800" y="3860801"/>
            <a:ext cx="508000" cy="508000"/>
          </a:xfrm>
          <a:prstGeom prst="ellipse">
            <a:avLst/>
          </a:prstGeom>
          <a:solidFill>
            <a:srgbClr val="115E8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Montserrat"/>
              </a:rPr>
              <a:t>1</a:t>
            </a:r>
          </a:p>
        </p:txBody>
      </p:sp>
      <p:sp>
        <p:nvSpPr>
          <p:cNvPr id="8" name="TextBox 7">
            <a:extLst>
              <a:ext uri="{FF2B5EF4-FFF2-40B4-BE49-F238E27FC236}">
                <a16:creationId xmlns:a16="http://schemas.microsoft.com/office/drawing/2014/main" id="{AD787AE2-3628-FF91-F83B-0999A4DFDEAA}"/>
              </a:ext>
            </a:extLst>
          </p:cNvPr>
          <p:cNvSpPr txBox="1"/>
          <p:nvPr/>
        </p:nvSpPr>
        <p:spPr>
          <a:xfrm>
            <a:off x="1422400" y="3759201"/>
            <a:ext cx="2235200" cy="762000"/>
          </a:xfrm>
          <a:prstGeom prst="rect">
            <a:avLst/>
          </a:prstGeom>
          <a:noFill/>
        </p:spPr>
        <p:txBody>
          <a:bodyPr vertOverflow="overflow" vert="horz" wrap="square" rtlCol="0" anchor="ctr" anchorCtr="0">
            <a:spAutoFit/>
          </a:bodyPr>
          <a:lstStyle/>
          <a:p>
            <a:pPr algn="l"/>
            <a:r>
              <a:rPr lang="en-US" sz="1550" b="1">
                <a:solidFill>
                  <a:srgbClr val="16263A"/>
                </a:solidFill>
                <a:latin typeface="Open Sans"/>
                <a:ea typeface="Open Sans"/>
                <a:cs typeface="Open Sans"/>
              </a:rPr>
              <a:t>Kim doğrular?</a:t>
            </a:r>
          </a:p>
        </p:txBody>
      </p:sp>
      <p:sp>
        <p:nvSpPr>
          <p:cNvPr id="9" name="Rectangle: Rounded Corners 8">
            <a:extLst>
              <a:ext uri="{FF2B5EF4-FFF2-40B4-BE49-F238E27FC236}">
                <a16:creationId xmlns:a16="http://schemas.microsoft.com/office/drawing/2014/main" id="{4377DA74-2ECE-F058-CCF1-4E0A55840E9C}"/>
              </a:ext>
            </a:extLst>
          </p:cNvPr>
          <p:cNvSpPr/>
          <p:nvPr/>
        </p:nvSpPr>
        <p:spPr>
          <a:xfrm>
            <a:off x="3937000" y="3581401"/>
            <a:ext cx="3175000" cy="1066800"/>
          </a:xfrm>
          <a:prstGeom prst="roundRect">
            <a:avLst/>
          </a:prstGeom>
          <a:solidFill>
            <a:srgbClr val="EEF3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Oval 9">
            <a:extLst>
              <a:ext uri="{FF2B5EF4-FFF2-40B4-BE49-F238E27FC236}">
                <a16:creationId xmlns:a16="http://schemas.microsoft.com/office/drawing/2014/main" id="{2D774EEB-AE65-ED7B-1602-E524388B90B6}"/>
              </a:ext>
            </a:extLst>
          </p:cNvPr>
          <p:cNvSpPr/>
          <p:nvPr/>
        </p:nvSpPr>
        <p:spPr>
          <a:xfrm>
            <a:off x="4114800" y="3860801"/>
            <a:ext cx="508000" cy="508000"/>
          </a:xfrm>
          <a:prstGeom prst="ellipse">
            <a:avLst/>
          </a:prstGeom>
          <a:solidFill>
            <a:srgbClr val="115E8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Montserrat"/>
              </a:rPr>
              <a:t>2</a:t>
            </a:r>
          </a:p>
        </p:txBody>
      </p:sp>
      <p:sp>
        <p:nvSpPr>
          <p:cNvPr id="11" name="TextBox 10">
            <a:extLst>
              <a:ext uri="{FF2B5EF4-FFF2-40B4-BE49-F238E27FC236}">
                <a16:creationId xmlns:a16="http://schemas.microsoft.com/office/drawing/2014/main" id="{A99727EC-6BF5-F1B3-23F5-593653F99F3A}"/>
              </a:ext>
            </a:extLst>
          </p:cNvPr>
          <p:cNvSpPr txBox="1"/>
          <p:nvPr/>
        </p:nvSpPr>
        <p:spPr>
          <a:xfrm>
            <a:off x="4724400" y="3759201"/>
            <a:ext cx="2235200" cy="762000"/>
          </a:xfrm>
          <a:prstGeom prst="rect">
            <a:avLst/>
          </a:prstGeom>
          <a:noFill/>
        </p:spPr>
        <p:txBody>
          <a:bodyPr vertOverflow="overflow" vert="horz" wrap="square" rtlCol="0" anchor="ctr" anchorCtr="0">
            <a:spAutoFit/>
          </a:bodyPr>
          <a:lstStyle/>
          <a:p>
            <a:pPr algn="l"/>
            <a:r>
              <a:rPr lang="en-US" sz="1550" b="1">
                <a:solidFill>
                  <a:srgbClr val="16263A"/>
                </a:solidFill>
                <a:latin typeface="Open Sans"/>
                <a:ea typeface="Open Sans"/>
                <a:cs typeface="Open Sans"/>
              </a:rPr>
              <a:t>Kararın sahibi kim?</a:t>
            </a:r>
          </a:p>
        </p:txBody>
      </p:sp>
      <p:sp>
        <p:nvSpPr>
          <p:cNvPr id="12" name="Rectangle: Rounded Corners 11">
            <a:extLst>
              <a:ext uri="{FF2B5EF4-FFF2-40B4-BE49-F238E27FC236}">
                <a16:creationId xmlns:a16="http://schemas.microsoft.com/office/drawing/2014/main" id="{5CD938D3-571D-8A00-82F3-C484D448AA73}"/>
              </a:ext>
            </a:extLst>
          </p:cNvPr>
          <p:cNvSpPr/>
          <p:nvPr/>
        </p:nvSpPr>
        <p:spPr>
          <a:xfrm>
            <a:off x="7434385" y="3556001"/>
            <a:ext cx="3175000" cy="1066800"/>
          </a:xfrm>
          <a:prstGeom prst="roundRect">
            <a:avLst/>
          </a:prstGeom>
          <a:solidFill>
            <a:srgbClr val="EEF3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Oval 12">
            <a:extLst>
              <a:ext uri="{FF2B5EF4-FFF2-40B4-BE49-F238E27FC236}">
                <a16:creationId xmlns:a16="http://schemas.microsoft.com/office/drawing/2014/main" id="{2B2BE08A-C372-8092-0A7F-B9BEE87EA376}"/>
              </a:ext>
            </a:extLst>
          </p:cNvPr>
          <p:cNvSpPr/>
          <p:nvPr/>
        </p:nvSpPr>
        <p:spPr>
          <a:xfrm>
            <a:off x="7612185" y="3835401"/>
            <a:ext cx="508000" cy="508000"/>
          </a:xfrm>
          <a:prstGeom prst="ellipse">
            <a:avLst/>
          </a:prstGeom>
          <a:solidFill>
            <a:srgbClr val="115E8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Montserrat"/>
              </a:rPr>
              <a:t>3</a:t>
            </a:r>
          </a:p>
        </p:txBody>
      </p:sp>
      <p:sp>
        <p:nvSpPr>
          <p:cNvPr id="14" name="TextBox 13">
            <a:extLst>
              <a:ext uri="{FF2B5EF4-FFF2-40B4-BE49-F238E27FC236}">
                <a16:creationId xmlns:a16="http://schemas.microsoft.com/office/drawing/2014/main" id="{40B46EA7-0566-0AF9-66CC-C17460BA57CA}"/>
              </a:ext>
            </a:extLst>
          </p:cNvPr>
          <p:cNvSpPr txBox="1"/>
          <p:nvPr/>
        </p:nvSpPr>
        <p:spPr>
          <a:xfrm>
            <a:off x="8221785" y="3733801"/>
            <a:ext cx="2235200" cy="762000"/>
          </a:xfrm>
          <a:prstGeom prst="rect">
            <a:avLst/>
          </a:prstGeom>
          <a:noFill/>
        </p:spPr>
        <p:txBody>
          <a:bodyPr vertOverflow="overflow" vert="horz" wrap="square" rtlCol="0" anchor="ctr" anchorCtr="0">
            <a:spAutoFit/>
          </a:bodyPr>
          <a:lstStyle/>
          <a:p>
            <a:pPr algn="l"/>
            <a:r>
              <a:rPr lang="en-US" sz="1550" b="1">
                <a:solidFill>
                  <a:srgbClr val="16263A"/>
                </a:solidFill>
                <a:latin typeface="Open Sans"/>
                <a:ea typeface="Open Sans"/>
                <a:cs typeface="Open Sans"/>
              </a:rPr>
              <a:t>"Bilmiyorum" diyebilir miyiz?</a:t>
            </a:r>
          </a:p>
        </p:txBody>
      </p:sp>
      <p:sp>
        <p:nvSpPr>
          <p:cNvPr id="15" name="Rectangle: Rounded Corners 14">
            <a:extLst>
              <a:ext uri="{FF2B5EF4-FFF2-40B4-BE49-F238E27FC236}">
                <a16:creationId xmlns:a16="http://schemas.microsoft.com/office/drawing/2014/main" id="{64BD4439-AE90-08A5-4DB1-FDAFED7E7353}"/>
              </a:ext>
            </a:extLst>
          </p:cNvPr>
          <p:cNvSpPr/>
          <p:nvPr/>
        </p:nvSpPr>
        <p:spPr>
          <a:xfrm>
            <a:off x="660400" y="4749801"/>
            <a:ext cx="3175000" cy="1066800"/>
          </a:xfrm>
          <a:prstGeom prst="roundRect">
            <a:avLst/>
          </a:prstGeom>
          <a:solidFill>
            <a:srgbClr val="EEF3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Oval 15">
            <a:extLst>
              <a:ext uri="{FF2B5EF4-FFF2-40B4-BE49-F238E27FC236}">
                <a16:creationId xmlns:a16="http://schemas.microsoft.com/office/drawing/2014/main" id="{6A6BE501-686D-3286-05FD-F7AF8155919B}"/>
              </a:ext>
            </a:extLst>
          </p:cNvPr>
          <p:cNvSpPr/>
          <p:nvPr/>
        </p:nvSpPr>
        <p:spPr>
          <a:xfrm>
            <a:off x="838200" y="5029201"/>
            <a:ext cx="508000" cy="508000"/>
          </a:xfrm>
          <a:prstGeom prst="ellipse">
            <a:avLst/>
          </a:prstGeom>
          <a:solidFill>
            <a:srgbClr val="115E8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dirty="0">
                <a:solidFill>
                  <a:srgbClr val="FFFFFF"/>
                </a:solidFill>
                <a:latin typeface="Montserrat"/>
              </a:rPr>
              <a:t>4</a:t>
            </a:r>
          </a:p>
        </p:txBody>
      </p:sp>
      <p:sp>
        <p:nvSpPr>
          <p:cNvPr id="17" name="TextBox 16">
            <a:extLst>
              <a:ext uri="{FF2B5EF4-FFF2-40B4-BE49-F238E27FC236}">
                <a16:creationId xmlns:a16="http://schemas.microsoft.com/office/drawing/2014/main" id="{15EB2D89-0C99-419A-D0E3-363264F755C2}"/>
              </a:ext>
            </a:extLst>
          </p:cNvPr>
          <p:cNvSpPr txBox="1"/>
          <p:nvPr/>
        </p:nvSpPr>
        <p:spPr>
          <a:xfrm>
            <a:off x="1447800" y="4927601"/>
            <a:ext cx="2235200" cy="762000"/>
          </a:xfrm>
          <a:prstGeom prst="rect">
            <a:avLst/>
          </a:prstGeom>
          <a:noFill/>
        </p:spPr>
        <p:txBody>
          <a:bodyPr vertOverflow="overflow" vert="horz" wrap="square" rtlCol="0" anchor="ctr" anchorCtr="0">
            <a:spAutoFit/>
          </a:bodyPr>
          <a:lstStyle/>
          <a:p>
            <a:pPr algn="l"/>
            <a:r>
              <a:rPr lang="en-US" sz="1550" b="1" dirty="0" err="1">
                <a:solidFill>
                  <a:srgbClr val="16263A"/>
                </a:solidFill>
                <a:latin typeface="Open Sans"/>
                <a:ea typeface="Open Sans"/>
                <a:cs typeface="Open Sans"/>
              </a:rPr>
              <a:t>Sızıntı</a:t>
            </a:r>
            <a:r>
              <a:rPr lang="en-US" sz="1550" b="1" dirty="0">
                <a:solidFill>
                  <a:srgbClr val="16263A"/>
                </a:solidFill>
                <a:latin typeface="Open Sans"/>
                <a:ea typeface="Open Sans"/>
                <a:cs typeface="Open Sans"/>
              </a:rPr>
              <a:t> </a:t>
            </a:r>
            <a:r>
              <a:rPr lang="en-US" sz="1550" b="1" dirty="0" err="1">
                <a:solidFill>
                  <a:srgbClr val="16263A"/>
                </a:solidFill>
                <a:latin typeface="Open Sans"/>
                <a:ea typeface="Open Sans"/>
                <a:cs typeface="Open Sans"/>
              </a:rPr>
              <a:t>olursa</a:t>
            </a:r>
            <a:r>
              <a:rPr lang="en-US" sz="1550" b="1" dirty="0">
                <a:solidFill>
                  <a:srgbClr val="16263A"/>
                </a:solidFill>
                <a:latin typeface="Open Sans"/>
                <a:ea typeface="Open Sans"/>
                <a:cs typeface="Open Sans"/>
              </a:rPr>
              <a:t> </a:t>
            </a:r>
            <a:r>
              <a:rPr lang="en-US" sz="1550" b="1" dirty="0" err="1">
                <a:solidFill>
                  <a:srgbClr val="16263A"/>
                </a:solidFill>
                <a:latin typeface="Open Sans"/>
                <a:ea typeface="Open Sans"/>
                <a:cs typeface="Open Sans"/>
              </a:rPr>
              <a:t>kim</a:t>
            </a:r>
            <a:r>
              <a:rPr lang="en-US" sz="1550" b="1" dirty="0">
                <a:solidFill>
                  <a:srgbClr val="16263A"/>
                </a:solidFill>
                <a:latin typeface="Open Sans"/>
                <a:ea typeface="Open Sans"/>
                <a:cs typeface="Open Sans"/>
              </a:rPr>
              <a:t> </a:t>
            </a:r>
            <a:r>
              <a:rPr lang="en-US" sz="1550" b="1" dirty="0" err="1">
                <a:solidFill>
                  <a:srgbClr val="16263A"/>
                </a:solidFill>
                <a:latin typeface="Open Sans"/>
                <a:ea typeface="Open Sans"/>
                <a:cs typeface="Open Sans"/>
              </a:rPr>
              <a:t>sorumlu</a:t>
            </a:r>
            <a:r>
              <a:rPr lang="en-US" sz="1550" b="1" dirty="0">
                <a:solidFill>
                  <a:srgbClr val="16263A"/>
                </a:solidFill>
                <a:latin typeface="Open Sans"/>
                <a:ea typeface="Open Sans"/>
                <a:cs typeface="Open Sans"/>
              </a:rPr>
              <a:t>?</a:t>
            </a:r>
          </a:p>
        </p:txBody>
      </p:sp>
      <p:sp>
        <p:nvSpPr>
          <p:cNvPr id="18" name="Rectangle: Rounded Corners 17">
            <a:extLst>
              <a:ext uri="{FF2B5EF4-FFF2-40B4-BE49-F238E27FC236}">
                <a16:creationId xmlns:a16="http://schemas.microsoft.com/office/drawing/2014/main" id="{A8CB9CF1-AFF1-361C-8DA3-620982DB9BBA}"/>
              </a:ext>
            </a:extLst>
          </p:cNvPr>
          <p:cNvSpPr/>
          <p:nvPr/>
        </p:nvSpPr>
        <p:spPr>
          <a:xfrm>
            <a:off x="4013200" y="4762501"/>
            <a:ext cx="3175000" cy="1066800"/>
          </a:xfrm>
          <a:prstGeom prst="roundRect">
            <a:avLst/>
          </a:prstGeom>
          <a:solidFill>
            <a:srgbClr val="EEF3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Oval 18">
            <a:extLst>
              <a:ext uri="{FF2B5EF4-FFF2-40B4-BE49-F238E27FC236}">
                <a16:creationId xmlns:a16="http://schemas.microsoft.com/office/drawing/2014/main" id="{55F955C9-7592-82DD-F606-1F477837A5C3}"/>
              </a:ext>
            </a:extLst>
          </p:cNvPr>
          <p:cNvSpPr/>
          <p:nvPr/>
        </p:nvSpPr>
        <p:spPr>
          <a:xfrm>
            <a:off x="4191000" y="5041901"/>
            <a:ext cx="508000" cy="508000"/>
          </a:xfrm>
          <a:prstGeom prst="ellipse">
            <a:avLst/>
          </a:prstGeom>
          <a:solidFill>
            <a:srgbClr val="115E8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Montserrat"/>
              </a:rPr>
              <a:t>5</a:t>
            </a:r>
          </a:p>
        </p:txBody>
      </p:sp>
      <p:sp>
        <p:nvSpPr>
          <p:cNvPr id="20" name="TextBox 19">
            <a:extLst>
              <a:ext uri="{FF2B5EF4-FFF2-40B4-BE49-F238E27FC236}">
                <a16:creationId xmlns:a16="http://schemas.microsoft.com/office/drawing/2014/main" id="{CBCAE5F1-B03B-43DA-69B9-B0F916BADBF2}"/>
              </a:ext>
            </a:extLst>
          </p:cNvPr>
          <p:cNvSpPr txBox="1"/>
          <p:nvPr/>
        </p:nvSpPr>
        <p:spPr>
          <a:xfrm>
            <a:off x="4800600" y="4940301"/>
            <a:ext cx="2235200" cy="762000"/>
          </a:xfrm>
          <a:prstGeom prst="rect">
            <a:avLst/>
          </a:prstGeom>
          <a:noFill/>
        </p:spPr>
        <p:txBody>
          <a:bodyPr vertOverflow="overflow" vert="horz" wrap="square" rtlCol="0" anchor="ctr" anchorCtr="0">
            <a:spAutoFit/>
          </a:bodyPr>
          <a:lstStyle/>
          <a:p>
            <a:pPr algn="l"/>
            <a:r>
              <a:rPr lang="en-US" sz="1550" b="1" dirty="0" err="1">
                <a:solidFill>
                  <a:srgbClr val="16263A"/>
                </a:solidFill>
                <a:latin typeface="Open Sans"/>
                <a:ea typeface="Open Sans"/>
                <a:cs typeface="Open Sans"/>
              </a:rPr>
              <a:t>Mimariye</a:t>
            </a:r>
            <a:r>
              <a:rPr lang="en-US" sz="1550" b="1" dirty="0">
                <a:solidFill>
                  <a:srgbClr val="16263A"/>
                </a:solidFill>
                <a:latin typeface="Open Sans"/>
                <a:ea typeface="Open Sans"/>
                <a:cs typeface="Open Sans"/>
              </a:rPr>
              <a:t> nasıl </a:t>
            </a:r>
            <a:r>
              <a:rPr lang="en-US" sz="1550" b="1" dirty="0" err="1">
                <a:solidFill>
                  <a:srgbClr val="16263A"/>
                </a:solidFill>
                <a:latin typeface="Open Sans"/>
                <a:ea typeface="Open Sans"/>
                <a:cs typeface="Open Sans"/>
              </a:rPr>
              <a:t>oturur</a:t>
            </a:r>
            <a:r>
              <a:rPr lang="en-US" sz="1550" b="1" dirty="0">
                <a:solidFill>
                  <a:srgbClr val="16263A"/>
                </a:solidFill>
                <a:latin typeface="Open Sans"/>
                <a:ea typeface="Open Sans"/>
                <a:cs typeface="Open Sans"/>
              </a:rPr>
              <a:t>?</a:t>
            </a:r>
          </a:p>
        </p:txBody>
      </p:sp>
      <p:sp>
        <p:nvSpPr>
          <p:cNvPr id="21" name="Rectangle: Rounded Corners 20">
            <a:extLst>
              <a:ext uri="{FF2B5EF4-FFF2-40B4-BE49-F238E27FC236}">
                <a16:creationId xmlns:a16="http://schemas.microsoft.com/office/drawing/2014/main" id="{E478A4C7-DFB7-D162-307C-3B3420A9B9B9}"/>
              </a:ext>
            </a:extLst>
          </p:cNvPr>
          <p:cNvSpPr/>
          <p:nvPr/>
        </p:nvSpPr>
        <p:spPr>
          <a:xfrm>
            <a:off x="7434385" y="4749801"/>
            <a:ext cx="3175000" cy="1066800"/>
          </a:xfrm>
          <a:prstGeom prst="roundRect">
            <a:avLst/>
          </a:prstGeom>
          <a:solidFill>
            <a:srgbClr val="EEF3F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Oval 21">
            <a:extLst>
              <a:ext uri="{FF2B5EF4-FFF2-40B4-BE49-F238E27FC236}">
                <a16:creationId xmlns:a16="http://schemas.microsoft.com/office/drawing/2014/main" id="{0B233ED8-6DD3-BFC0-091B-0A773F5C698E}"/>
              </a:ext>
            </a:extLst>
          </p:cNvPr>
          <p:cNvSpPr/>
          <p:nvPr/>
        </p:nvSpPr>
        <p:spPr>
          <a:xfrm>
            <a:off x="7612185" y="5029201"/>
            <a:ext cx="508000" cy="508000"/>
          </a:xfrm>
          <a:prstGeom prst="ellipse">
            <a:avLst/>
          </a:prstGeom>
          <a:solidFill>
            <a:srgbClr val="115E8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Montserrat"/>
              </a:rPr>
              <a:t>6</a:t>
            </a:r>
          </a:p>
        </p:txBody>
      </p:sp>
      <p:sp>
        <p:nvSpPr>
          <p:cNvPr id="23" name="TextBox 22">
            <a:extLst>
              <a:ext uri="{FF2B5EF4-FFF2-40B4-BE49-F238E27FC236}">
                <a16:creationId xmlns:a16="http://schemas.microsoft.com/office/drawing/2014/main" id="{FD927D5D-A7E4-328C-CE10-DF066C06E4E1}"/>
              </a:ext>
            </a:extLst>
          </p:cNvPr>
          <p:cNvSpPr txBox="1"/>
          <p:nvPr/>
        </p:nvSpPr>
        <p:spPr>
          <a:xfrm>
            <a:off x="8221785" y="4927601"/>
            <a:ext cx="2235200" cy="762000"/>
          </a:xfrm>
          <a:prstGeom prst="rect">
            <a:avLst/>
          </a:prstGeom>
          <a:noFill/>
        </p:spPr>
        <p:txBody>
          <a:bodyPr vertOverflow="overflow" vert="horz" wrap="square" rtlCol="0" anchor="ctr" anchorCtr="0">
            <a:spAutoFit/>
          </a:bodyPr>
          <a:lstStyle/>
          <a:p>
            <a:pPr algn="l"/>
            <a:r>
              <a:rPr lang="it-IT" sz="1550" b="1" dirty="0">
                <a:solidFill>
                  <a:srgbClr val="16263A"/>
                </a:solidFill>
                <a:latin typeface="Open Sans"/>
                <a:ea typeface="Open Sans"/>
                <a:cs typeface="Open Sans"/>
              </a:rPr>
              <a:t>İş değeri mi, 5 dakikalık gösteri mi?</a:t>
            </a:r>
            <a:endParaRPr lang="en-US" sz="1550" b="1" dirty="0">
              <a:solidFill>
                <a:srgbClr val="16263A"/>
              </a:solidFill>
              <a:latin typeface="Open Sans"/>
              <a:ea typeface="Open Sans"/>
              <a:cs typeface="Open Sans"/>
            </a:endParaRPr>
          </a:p>
        </p:txBody>
      </p:sp>
    </p:spTree>
    <p:extLst>
      <p:ext uri="{BB962C8B-B14F-4D97-AF65-F5344CB8AC3E}">
        <p14:creationId xmlns:p14="http://schemas.microsoft.com/office/powerpoint/2010/main" val="22615314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55850759-BBA2-4FBA-923D-9F35896B41A9}"/>
              </a:ext>
            </a:extLst>
          </p:cNvPr>
          <p:cNvSpPr txBox="1"/>
          <p:nvPr/>
        </p:nvSpPr>
        <p:spPr>
          <a:xfrm>
            <a:off x="10312176" y="1747702"/>
            <a:ext cx="1879821" cy="2862322"/>
          </a:xfrm>
          <a:prstGeom prst="rect">
            <a:avLst/>
          </a:prstGeom>
          <a:noFill/>
        </p:spPr>
        <p:txBody>
          <a:bodyPr vertOverflow="overflow" vert="horz" wrap="square" rtlCol="0" anchor="ctr" anchorCtr="0">
            <a:spAutoFit/>
          </a:bodyPr>
          <a:lstStyle/>
          <a:p>
            <a:pPr algn="l"/>
            <a:r>
              <a:rPr lang="en-US" b="1" dirty="0">
                <a:solidFill>
                  <a:srgbClr val="FFFFFF"/>
                </a:solidFill>
                <a:latin typeface="Open Sans"/>
                <a:ea typeface="Open Sans"/>
                <a:cs typeface="Open Sans"/>
              </a:rPr>
              <a:t>AI ne </a:t>
            </a:r>
            <a:r>
              <a:rPr lang="en-US" b="1" dirty="0" err="1">
                <a:solidFill>
                  <a:srgbClr val="FFFFFF"/>
                </a:solidFill>
                <a:latin typeface="Open Sans"/>
                <a:ea typeface="Open Sans"/>
                <a:cs typeface="Open Sans"/>
              </a:rPr>
              <a:t>bir</a:t>
            </a:r>
            <a:r>
              <a:rPr lang="en-US" b="1" dirty="0">
                <a:solidFill>
                  <a:srgbClr val="FFFFFF"/>
                </a:solidFill>
                <a:latin typeface="Open Sans"/>
                <a:ea typeface="Open Sans"/>
                <a:cs typeface="Open Sans"/>
              </a:rPr>
              <a:t> </a:t>
            </a:r>
            <a:r>
              <a:rPr lang="en-US" b="1" dirty="0" err="1">
                <a:solidFill>
                  <a:srgbClr val="FFFFFF"/>
                </a:solidFill>
                <a:latin typeface="Open Sans"/>
                <a:ea typeface="Open Sans"/>
                <a:cs typeface="Open Sans"/>
              </a:rPr>
              <a:t>insan</a:t>
            </a:r>
            <a:r>
              <a:rPr lang="en-US" b="1" dirty="0">
                <a:solidFill>
                  <a:srgbClr val="FFFFFF"/>
                </a:solidFill>
                <a:latin typeface="Open Sans"/>
                <a:ea typeface="Open Sans"/>
                <a:cs typeface="Open Sans"/>
              </a:rPr>
              <a:t> </a:t>
            </a:r>
            <a:r>
              <a:rPr lang="en-US" b="1" dirty="0" err="1">
                <a:solidFill>
                  <a:srgbClr val="FFFFFF"/>
                </a:solidFill>
                <a:latin typeface="Open Sans"/>
                <a:ea typeface="Open Sans"/>
                <a:cs typeface="Open Sans"/>
              </a:rPr>
              <a:t>çalışan</a:t>
            </a:r>
            <a:r>
              <a:rPr lang="en-US" b="1" dirty="0">
                <a:solidFill>
                  <a:srgbClr val="FFFFFF"/>
                </a:solidFill>
                <a:latin typeface="Open Sans"/>
                <a:ea typeface="Open Sans"/>
                <a:cs typeface="Open Sans"/>
              </a:rPr>
              <a:t> gibi </a:t>
            </a:r>
            <a:r>
              <a:rPr lang="en-US" b="1" dirty="0" err="1">
                <a:solidFill>
                  <a:srgbClr val="FFFFFF"/>
                </a:solidFill>
                <a:latin typeface="Open Sans"/>
                <a:ea typeface="Open Sans"/>
                <a:cs typeface="Open Sans"/>
              </a:rPr>
              <a:t>görülmeli</a:t>
            </a:r>
            <a:r>
              <a:rPr lang="en-US" b="1" dirty="0">
                <a:solidFill>
                  <a:srgbClr val="FFFFFF"/>
                </a:solidFill>
                <a:latin typeface="Open Sans"/>
                <a:ea typeface="Open Sans"/>
                <a:cs typeface="Open Sans"/>
              </a:rPr>
              <a:t> </a:t>
            </a:r>
            <a:br>
              <a:rPr lang="en-US" b="1" dirty="0">
                <a:solidFill>
                  <a:srgbClr val="FFFFFF"/>
                </a:solidFill>
                <a:latin typeface="Open Sans"/>
                <a:ea typeface="Open Sans"/>
                <a:cs typeface="Open Sans"/>
              </a:rPr>
            </a:br>
            <a:r>
              <a:rPr lang="en-US" b="1" dirty="0">
                <a:solidFill>
                  <a:srgbClr val="FFFFFF"/>
                </a:solidFill>
                <a:latin typeface="Open Sans"/>
                <a:ea typeface="Open Sans"/>
                <a:cs typeface="Open Sans"/>
              </a:rPr>
              <a:t>ne de </a:t>
            </a:r>
            <a:r>
              <a:rPr lang="en-US" b="1" dirty="0" err="1">
                <a:solidFill>
                  <a:srgbClr val="FFFFFF"/>
                </a:solidFill>
                <a:latin typeface="Open Sans"/>
                <a:ea typeface="Open Sans"/>
                <a:cs typeface="Open Sans"/>
              </a:rPr>
              <a:t>küçümsenmeli</a:t>
            </a:r>
            <a:br>
              <a:rPr lang="en-US" b="1" dirty="0">
                <a:solidFill>
                  <a:srgbClr val="FFFFFF"/>
                </a:solidFill>
                <a:latin typeface="Open Sans"/>
                <a:ea typeface="Open Sans"/>
                <a:cs typeface="Open Sans"/>
              </a:rPr>
            </a:br>
            <a:endParaRPr lang="en-US" b="1" dirty="0">
              <a:solidFill>
                <a:srgbClr val="FFFFFF"/>
              </a:solidFill>
              <a:latin typeface="Open Sans"/>
              <a:ea typeface="Open Sans"/>
              <a:cs typeface="Open Sans"/>
            </a:endParaRPr>
          </a:p>
          <a:p>
            <a:pPr algn="l"/>
            <a:r>
              <a:rPr lang="en-US" b="1" dirty="0" err="1">
                <a:solidFill>
                  <a:srgbClr val="FFFFFF"/>
                </a:solidFill>
                <a:latin typeface="Open Sans"/>
                <a:ea typeface="Open Sans"/>
                <a:cs typeface="Open Sans"/>
              </a:rPr>
              <a:t>güven</a:t>
            </a:r>
            <a:r>
              <a:rPr lang="en-US" b="1" dirty="0">
                <a:solidFill>
                  <a:srgbClr val="FFFFFF"/>
                </a:solidFill>
                <a:latin typeface="Open Sans"/>
                <a:ea typeface="Open Sans"/>
                <a:cs typeface="Open Sans"/>
              </a:rPr>
              <a:t>, </a:t>
            </a:r>
            <a:r>
              <a:rPr lang="en-US" b="1" dirty="0" err="1">
                <a:solidFill>
                  <a:srgbClr val="FFFFFF"/>
                </a:solidFill>
                <a:latin typeface="Open Sans"/>
                <a:ea typeface="Open Sans"/>
                <a:cs typeface="Open Sans"/>
              </a:rPr>
              <a:t>hesap</a:t>
            </a:r>
            <a:r>
              <a:rPr lang="en-US" b="1" dirty="0">
                <a:solidFill>
                  <a:srgbClr val="FFFFFF"/>
                </a:solidFill>
                <a:latin typeface="Open Sans"/>
                <a:ea typeface="Open Sans"/>
                <a:cs typeface="Open Sans"/>
              </a:rPr>
              <a:t> </a:t>
            </a:r>
            <a:r>
              <a:rPr lang="en-US" b="1" dirty="0" err="1">
                <a:solidFill>
                  <a:srgbClr val="FFFFFF"/>
                </a:solidFill>
                <a:latin typeface="Open Sans"/>
                <a:ea typeface="Open Sans"/>
                <a:cs typeface="Open Sans"/>
              </a:rPr>
              <a:t>verebilirlik</a:t>
            </a:r>
            <a:r>
              <a:rPr lang="en-US" b="1" dirty="0">
                <a:solidFill>
                  <a:srgbClr val="FFFFFF"/>
                </a:solidFill>
                <a:latin typeface="Open Sans"/>
                <a:ea typeface="Open Sans"/>
                <a:cs typeface="Open Sans"/>
              </a:rPr>
              <a:t> ve </a:t>
            </a:r>
            <a:r>
              <a:rPr lang="en-US" b="1" dirty="0" err="1">
                <a:solidFill>
                  <a:srgbClr val="FFFFFF"/>
                </a:solidFill>
                <a:latin typeface="Open Sans"/>
                <a:ea typeface="Open Sans"/>
                <a:cs typeface="Open Sans"/>
              </a:rPr>
              <a:t>yargı</a:t>
            </a:r>
            <a:r>
              <a:rPr lang="en-US" b="1" dirty="0">
                <a:solidFill>
                  <a:srgbClr val="FFFFFF"/>
                </a:solidFill>
                <a:latin typeface="Open Sans"/>
                <a:ea typeface="Open Sans"/>
                <a:cs typeface="Open Sans"/>
              </a:rPr>
              <a:t> </a:t>
            </a:r>
            <a:r>
              <a:rPr lang="en-US" b="1" dirty="0" err="1">
                <a:solidFill>
                  <a:srgbClr val="FFFFFF"/>
                </a:solidFill>
                <a:latin typeface="Open Sans"/>
                <a:ea typeface="Open Sans"/>
                <a:cs typeface="Open Sans"/>
              </a:rPr>
              <a:t>hâlâ</a:t>
            </a:r>
            <a:r>
              <a:rPr lang="en-US" b="1" dirty="0">
                <a:solidFill>
                  <a:srgbClr val="FFFFFF"/>
                </a:solidFill>
                <a:latin typeface="Open Sans"/>
                <a:ea typeface="Open Sans"/>
                <a:cs typeface="Open Sans"/>
              </a:rPr>
              <a:t> </a:t>
            </a:r>
            <a:r>
              <a:rPr lang="en-US" b="1" dirty="0" err="1">
                <a:solidFill>
                  <a:srgbClr val="FFFFFF"/>
                </a:solidFill>
                <a:latin typeface="Open Sans"/>
                <a:ea typeface="Open Sans"/>
                <a:cs typeface="Open Sans"/>
              </a:rPr>
              <a:t>insanlarda</a:t>
            </a:r>
            <a:endParaRPr lang="en-US" b="1" dirty="0">
              <a:solidFill>
                <a:srgbClr val="FFFFFF"/>
              </a:solidFill>
              <a:latin typeface="Open Sans"/>
              <a:ea typeface="Open Sans"/>
              <a:cs typeface="Open Sans"/>
            </a:endParaRPr>
          </a:p>
        </p:txBody>
      </p:sp>
      <p:sp>
        <p:nvSpPr>
          <p:cNvPr id="2" name="Title 1">
            <a:extLst>
              <a:ext uri="{FF2B5EF4-FFF2-40B4-BE49-F238E27FC236}">
                <a16:creationId xmlns:a16="http://schemas.microsoft.com/office/drawing/2014/main" id="{97BF535A-52A9-BA3F-95CB-E087F0AA3953}"/>
              </a:ext>
            </a:extLst>
          </p:cNvPr>
          <p:cNvSpPr>
            <a:spLocks noGrp="1"/>
          </p:cNvSpPr>
          <p:nvPr>
            <p:ph type="title"/>
          </p:nvPr>
        </p:nvSpPr>
        <p:spPr>
          <a:xfrm>
            <a:off x="330200" y="0"/>
            <a:ext cx="10922000" cy="762000"/>
          </a:xfrm>
        </p:spPr>
        <p:txBody>
          <a:bodyPr>
            <a:normAutofit/>
          </a:bodyPr>
          <a:lstStyle/>
          <a:p>
            <a:r>
              <a:rPr lang="fr-FR" sz="2800" b="1" dirty="0">
                <a:solidFill>
                  <a:schemeClr val="bg1"/>
                </a:solidFill>
                <a:latin typeface="Montserrat"/>
              </a:rPr>
              <a:t>AI </a:t>
            </a:r>
            <a:r>
              <a:rPr lang="fr-FR" sz="2800" b="1" dirty="0" err="1">
                <a:solidFill>
                  <a:schemeClr val="bg1"/>
                </a:solidFill>
                <a:latin typeface="Montserrat"/>
              </a:rPr>
              <a:t>Ajanları</a:t>
            </a:r>
            <a:r>
              <a:rPr lang="fr-FR" sz="2800" b="1" dirty="0">
                <a:solidFill>
                  <a:schemeClr val="bg1"/>
                </a:solidFill>
                <a:latin typeface="Montserrat"/>
              </a:rPr>
              <a:t> Ne </a:t>
            </a:r>
            <a:r>
              <a:rPr lang="fr-FR" sz="2800" b="1" dirty="0" err="1">
                <a:solidFill>
                  <a:schemeClr val="bg1"/>
                </a:solidFill>
                <a:latin typeface="Montserrat"/>
              </a:rPr>
              <a:t>Yapabilir</a:t>
            </a:r>
            <a:r>
              <a:rPr lang="fr-FR" sz="2800" b="1" dirty="0">
                <a:solidFill>
                  <a:schemeClr val="bg1"/>
                </a:solidFill>
                <a:latin typeface="Montserrat"/>
              </a:rPr>
              <a:t>, Ne </a:t>
            </a:r>
            <a:r>
              <a:rPr lang="fr-FR" sz="2800" b="1" dirty="0" err="1">
                <a:solidFill>
                  <a:schemeClr val="bg1"/>
                </a:solidFill>
                <a:latin typeface="Montserrat"/>
              </a:rPr>
              <a:t>Yapamaz</a:t>
            </a:r>
            <a:r>
              <a:rPr lang="fr-FR" sz="2800" b="1" dirty="0">
                <a:solidFill>
                  <a:schemeClr val="bg1"/>
                </a:solidFill>
                <a:latin typeface="Montserrat"/>
              </a:rPr>
              <a:t>? </a:t>
            </a:r>
            <a:endParaRPr lang="en-US" sz="2800" b="1" dirty="0">
              <a:solidFill>
                <a:schemeClr val="bg1"/>
              </a:solidFill>
              <a:latin typeface="Montserrat"/>
            </a:endParaRPr>
          </a:p>
        </p:txBody>
      </p:sp>
      <p:pic>
        <p:nvPicPr>
          <p:cNvPr id="4" name="Picture 3">
            <a:extLst>
              <a:ext uri="{FF2B5EF4-FFF2-40B4-BE49-F238E27FC236}">
                <a16:creationId xmlns:a16="http://schemas.microsoft.com/office/drawing/2014/main" id="{45B66259-8720-CA0D-2315-651102505676}"/>
              </a:ext>
            </a:extLst>
          </p:cNvPr>
          <p:cNvPicPr>
            <a:picLocks noChangeAspect="1"/>
          </p:cNvPicPr>
          <p:nvPr/>
        </p:nvPicPr>
        <p:blipFill>
          <a:blip r:embed="rId3"/>
          <a:stretch>
            <a:fillRect/>
          </a:stretch>
        </p:blipFill>
        <p:spPr>
          <a:xfrm>
            <a:off x="-56107" y="0"/>
            <a:ext cx="12248104" cy="8201855"/>
          </a:xfrm>
          <a:prstGeom prst="rect">
            <a:avLst/>
          </a:prstGeom>
        </p:spPr>
      </p:pic>
    </p:spTree>
    <p:extLst>
      <p:ext uri="{BB962C8B-B14F-4D97-AF65-F5344CB8AC3E}">
        <p14:creationId xmlns:p14="http://schemas.microsoft.com/office/powerpoint/2010/main" val="22295417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01E8B-675B-9B2B-48CF-B0F576C27921}"/>
            </a:ext>
          </a:extLst>
        </p:cNvPr>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D8E774B2-7047-9DC1-2372-E6FA19CBB97C}"/>
              </a:ext>
            </a:extLst>
          </p:cNvPr>
          <p:cNvSpPr/>
          <p:nvPr/>
        </p:nvSpPr>
        <p:spPr>
          <a:xfrm>
            <a:off x="9800496" y="0"/>
            <a:ext cx="2391504" cy="6858000"/>
          </a:xfrm>
          <a:prstGeom prst="roundRect">
            <a:avLst/>
          </a:prstGeom>
          <a:solidFill>
            <a:srgbClr val="115E8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TextBox 16">
            <a:extLst>
              <a:ext uri="{FF2B5EF4-FFF2-40B4-BE49-F238E27FC236}">
                <a16:creationId xmlns:a16="http://schemas.microsoft.com/office/drawing/2014/main" id="{D96534D4-5403-FD34-71DB-928883CC2F9A}"/>
              </a:ext>
            </a:extLst>
          </p:cNvPr>
          <p:cNvSpPr txBox="1"/>
          <p:nvPr/>
        </p:nvSpPr>
        <p:spPr>
          <a:xfrm>
            <a:off x="10312176" y="1747702"/>
            <a:ext cx="1879821" cy="2862322"/>
          </a:xfrm>
          <a:prstGeom prst="rect">
            <a:avLst/>
          </a:prstGeom>
          <a:noFill/>
        </p:spPr>
        <p:txBody>
          <a:bodyPr vertOverflow="overflow" vert="horz" wrap="square" rtlCol="0" anchor="ctr" anchorCtr="0">
            <a:spAutoFit/>
          </a:bodyPr>
          <a:lstStyle/>
          <a:p>
            <a:pPr algn="l"/>
            <a:r>
              <a:rPr lang="en-US" b="1" dirty="0">
                <a:solidFill>
                  <a:srgbClr val="FFFFFF"/>
                </a:solidFill>
                <a:latin typeface="Open Sans"/>
                <a:ea typeface="Open Sans"/>
                <a:cs typeface="Open Sans"/>
              </a:rPr>
              <a:t>AI ne </a:t>
            </a:r>
            <a:r>
              <a:rPr lang="en-US" b="1" dirty="0" err="1">
                <a:solidFill>
                  <a:srgbClr val="FFFFFF"/>
                </a:solidFill>
                <a:latin typeface="Open Sans"/>
                <a:ea typeface="Open Sans"/>
                <a:cs typeface="Open Sans"/>
              </a:rPr>
              <a:t>bir</a:t>
            </a:r>
            <a:r>
              <a:rPr lang="en-US" b="1" dirty="0">
                <a:solidFill>
                  <a:srgbClr val="FFFFFF"/>
                </a:solidFill>
                <a:latin typeface="Open Sans"/>
                <a:ea typeface="Open Sans"/>
                <a:cs typeface="Open Sans"/>
              </a:rPr>
              <a:t> </a:t>
            </a:r>
            <a:r>
              <a:rPr lang="en-US" b="1" dirty="0" err="1">
                <a:solidFill>
                  <a:srgbClr val="FFFFFF"/>
                </a:solidFill>
                <a:latin typeface="Open Sans"/>
                <a:ea typeface="Open Sans"/>
                <a:cs typeface="Open Sans"/>
              </a:rPr>
              <a:t>insan</a:t>
            </a:r>
            <a:r>
              <a:rPr lang="en-US" b="1" dirty="0">
                <a:solidFill>
                  <a:srgbClr val="FFFFFF"/>
                </a:solidFill>
                <a:latin typeface="Open Sans"/>
                <a:ea typeface="Open Sans"/>
                <a:cs typeface="Open Sans"/>
              </a:rPr>
              <a:t> </a:t>
            </a:r>
            <a:r>
              <a:rPr lang="en-US" b="1" dirty="0" err="1">
                <a:solidFill>
                  <a:srgbClr val="FFFFFF"/>
                </a:solidFill>
                <a:latin typeface="Open Sans"/>
                <a:ea typeface="Open Sans"/>
                <a:cs typeface="Open Sans"/>
              </a:rPr>
              <a:t>çalışan</a:t>
            </a:r>
            <a:r>
              <a:rPr lang="en-US" b="1" dirty="0">
                <a:solidFill>
                  <a:srgbClr val="FFFFFF"/>
                </a:solidFill>
                <a:latin typeface="Open Sans"/>
                <a:ea typeface="Open Sans"/>
                <a:cs typeface="Open Sans"/>
              </a:rPr>
              <a:t> gibi </a:t>
            </a:r>
            <a:r>
              <a:rPr lang="en-US" b="1" dirty="0" err="1">
                <a:solidFill>
                  <a:srgbClr val="FFFFFF"/>
                </a:solidFill>
                <a:latin typeface="Open Sans"/>
                <a:ea typeface="Open Sans"/>
                <a:cs typeface="Open Sans"/>
              </a:rPr>
              <a:t>görülmeli</a:t>
            </a:r>
            <a:r>
              <a:rPr lang="en-US" b="1" dirty="0">
                <a:solidFill>
                  <a:srgbClr val="FFFFFF"/>
                </a:solidFill>
                <a:latin typeface="Open Sans"/>
                <a:ea typeface="Open Sans"/>
                <a:cs typeface="Open Sans"/>
              </a:rPr>
              <a:t> </a:t>
            </a:r>
            <a:br>
              <a:rPr lang="en-US" b="1" dirty="0">
                <a:solidFill>
                  <a:srgbClr val="FFFFFF"/>
                </a:solidFill>
                <a:latin typeface="Open Sans"/>
                <a:ea typeface="Open Sans"/>
                <a:cs typeface="Open Sans"/>
              </a:rPr>
            </a:br>
            <a:r>
              <a:rPr lang="en-US" b="1" dirty="0">
                <a:solidFill>
                  <a:srgbClr val="FFFFFF"/>
                </a:solidFill>
                <a:latin typeface="Open Sans"/>
                <a:ea typeface="Open Sans"/>
                <a:cs typeface="Open Sans"/>
              </a:rPr>
              <a:t>ne de </a:t>
            </a:r>
            <a:r>
              <a:rPr lang="en-US" b="1" dirty="0" err="1">
                <a:solidFill>
                  <a:srgbClr val="FFFFFF"/>
                </a:solidFill>
                <a:latin typeface="Open Sans"/>
                <a:ea typeface="Open Sans"/>
                <a:cs typeface="Open Sans"/>
              </a:rPr>
              <a:t>küçümsenmeli</a:t>
            </a:r>
            <a:br>
              <a:rPr lang="en-US" b="1" dirty="0">
                <a:solidFill>
                  <a:srgbClr val="FFFFFF"/>
                </a:solidFill>
                <a:latin typeface="Open Sans"/>
                <a:ea typeface="Open Sans"/>
                <a:cs typeface="Open Sans"/>
              </a:rPr>
            </a:br>
            <a:endParaRPr lang="en-US" b="1" dirty="0">
              <a:solidFill>
                <a:srgbClr val="FFFFFF"/>
              </a:solidFill>
              <a:latin typeface="Open Sans"/>
              <a:ea typeface="Open Sans"/>
              <a:cs typeface="Open Sans"/>
            </a:endParaRPr>
          </a:p>
          <a:p>
            <a:pPr algn="l"/>
            <a:r>
              <a:rPr lang="en-US" b="1" dirty="0" err="1">
                <a:solidFill>
                  <a:srgbClr val="FFFFFF"/>
                </a:solidFill>
                <a:latin typeface="Open Sans"/>
                <a:ea typeface="Open Sans"/>
                <a:cs typeface="Open Sans"/>
              </a:rPr>
              <a:t>güven</a:t>
            </a:r>
            <a:r>
              <a:rPr lang="en-US" b="1" dirty="0">
                <a:solidFill>
                  <a:srgbClr val="FFFFFF"/>
                </a:solidFill>
                <a:latin typeface="Open Sans"/>
                <a:ea typeface="Open Sans"/>
                <a:cs typeface="Open Sans"/>
              </a:rPr>
              <a:t>, </a:t>
            </a:r>
            <a:r>
              <a:rPr lang="en-US" b="1" dirty="0" err="1">
                <a:solidFill>
                  <a:srgbClr val="FFFFFF"/>
                </a:solidFill>
                <a:latin typeface="Open Sans"/>
                <a:ea typeface="Open Sans"/>
                <a:cs typeface="Open Sans"/>
              </a:rPr>
              <a:t>hesap</a:t>
            </a:r>
            <a:r>
              <a:rPr lang="en-US" b="1" dirty="0">
                <a:solidFill>
                  <a:srgbClr val="FFFFFF"/>
                </a:solidFill>
                <a:latin typeface="Open Sans"/>
                <a:ea typeface="Open Sans"/>
                <a:cs typeface="Open Sans"/>
              </a:rPr>
              <a:t> </a:t>
            </a:r>
            <a:r>
              <a:rPr lang="en-US" b="1" dirty="0" err="1">
                <a:solidFill>
                  <a:srgbClr val="FFFFFF"/>
                </a:solidFill>
                <a:latin typeface="Open Sans"/>
                <a:ea typeface="Open Sans"/>
                <a:cs typeface="Open Sans"/>
              </a:rPr>
              <a:t>verebilirlik</a:t>
            </a:r>
            <a:r>
              <a:rPr lang="en-US" b="1" dirty="0">
                <a:solidFill>
                  <a:srgbClr val="FFFFFF"/>
                </a:solidFill>
                <a:latin typeface="Open Sans"/>
                <a:ea typeface="Open Sans"/>
                <a:cs typeface="Open Sans"/>
              </a:rPr>
              <a:t> ve </a:t>
            </a:r>
            <a:r>
              <a:rPr lang="en-US" b="1" dirty="0" err="1">
                <a:solidFill>
                  <a:srgbClr val="FFFFFF"/>
                </a:solidFill>
                <a:latin typeface="Open Sans"/>
                <a:ea typeface="Open Sans"/>
                <a:cs typeface="Open Sans"/>
              </a:rPr>
              <a:t>yargı</a:t>
            </a:r>
            <a:r>
              <a:rPr lang="en-US" b="1" dirty="0">
                <a:solidFill>
                  <a:srgbClr val="FFFFFF"/>
                </a:solidFill>
                <a:latin typeface="Open Sans"/>
                <a:ea typeface="Open Sans"/>
                <a:cs typeface="Open Sans"/>
              </a:rPr>
              <a:t> </a:t>
            </a:r>
            <a:r>
              <a:rPr lang="en-US" b="1" dirty="0" err="1">
                <a:solidFill>
                  <a:srgbClr val="FFFFFF"/>
                </a:solidFill>
                <a:latin typeface="Open Sans"/>
                <a:ea typeface="Open Sans"/>
                <a:cs typeface="Open Sans"/>
              </a:rPr>
              <a:t>hâlâ</a:t>
            </a:r>
            <a:r>
              <a:rPr lang="en-US" b="1" dirty="0">
                <a:solidFill>
                  <a:srgbClr val="FFFFFF"/>
                </a:solidFill>
                <a:latin typeface="Open Sans"/>
                <a:ea typeface="Open Sans"/>
                <a:cs typeface="Open Sans"/>
              </a:rPr>
              <a:t> </a:t>
            </a:r>
            <a:r>
              <a:rPr lang="en-US" b="1" dirty="0" err="1">
                <a:solidFill>
                  <a:srgbClr val="FFFFFF"/>
                </a:solidFill>
                <a:latin typeface="Open Sans"/>
                <a:ea typeface="Open Sans"/>
                <a:cs typeface="Open Sans"/>
              </a:rPr>
              <a:t>insanlarda</a:t>
            </a:r>
            <a:endParaRPr lang="en-US" b="1" dirty="0">
              <a:solidFill>
                <a:srgbClr val="FFFFFF"/>
              </a:solidFill>
              <a:latin typeface="Open Sans"/>
              <a:ea typeface="Open Sans"/>
              <a:cs typeface="Open Sans"/>
            </a:endParaRPr>
          </a:p>
        </p:txBody>
      </p:sp>
      <p:pic>
        <p:nvPicPr>
          <p:cNvPr id="19" name="Picture 18">
            <a:extLst>
              <a:ext uri="{FF2B5EF4-FFF2-40B4-BE49-F238E27FC236}">
                <a16:creationId xmlns:a16="http://schemas.microsoft.com/office/drawing/2014/main" id="{82E13E25-707C-D323-7F49-FCB67B1F088A}"/>
              </a:ext>
            </a:extLst>
          </p:cNvPr>
          <p:cNvPicPr>
            <a:picLocks noChangeAspect="1"/>
          </p:cNvPicPr>
          <p:nvPr/>
        </p:nvPicPr>
        <p:blipFill>
          <a:blip r:embed="rId3"/>
          <a:stretch>
            <a:fillRect/>
          </a:stretch>
        </p:blipFill>
        <p:spPr>
          <a:xfrm>
            <a:off x="0" y="0"/>
            <a:ext cx="10312176" cy="6858000"/>
          </a:xfrm>
          <a:prstGeom prst="rect">
            <a:avLst/>
          </a:prstGeom>
        </p:spPr>
      </p:pic>
      <p:sp>
        <p:nvSpPr>
          <p:cNvPr id="2" name="Title 1">
            <a:extLst>
              <a:ext uri="{FF2B5EF4-FFF2-40B4-BE49-F238E27FC236}">
                <a16:creationId xmlns:a16="http://schemas.microsoft.com/office/drawing/2014/main" id="{0AD25520-0692-E0DE-3366-9C96E6DC1A39}"/>
              </a:ext>
            </a:extLst>
          </p:cNvPr>
          <p:cNvSpPr>
            <a:spLocks noGrp="1"/>
          </p:cNvSpPr>
          <p:nvPr>
            <p:ph type="title"/>
          </p:nvPr>
        </p:nvSpPr>
        <p:spPr>
          <a:xfrm>
            <a:off x="330200" y="0"/>
            <a:ext cx="10922000" cy="762000"/>
          </a:xfrm>
        </p:spPr>
        <p:txBody>
          <a:bodyPr>
            <a:normAutofit/>
          </a:bodyPr>
          <a:lstStyle/>
          <a:p>
            <a:r>
              <a:rPr lang="fr-FR" sz="2800" b="1" dirty="0">
                <a:solidFill>
                  <a:schemeClr val="bg1"/>
                </a:solidFill>
                <a:latin typeface="Montserrat"/>
              </a:rPr>
              <a:t>AI </a:t>
            </a:r>
            <a:r>
              <a:rPr lang="fr-FR" sz="2800" b="1" dirty="0" err="1">
                <a:solidFill>
                  <a:schemeClr val="bg1"/>
                </a:solidFill>
                <a:latin typeface="Montserrat"/>
              </a:rPr>
              <a:t>Ajanları</a:t>
            </a:r>
            <a:r>
              <a:rPr lang="fr-FR" sz="2800" b="1" dirty="0">
                <a:solidFill>
                  <a:schemeClr val="bg1"/>
                </a:solidFill>
                <a:latin typeface="Montserrat"/>
              </a:rPr>
              <a:t> Ne </a:t>
            </a:r>
            <a:r>
              <a:rPr lang="fr-FR" sz="2800" b="1" dirty="0" err="1">
                <a:solidFill>
                  <a:schemeClr val="bg1"/>
                </a:solidFill>
                <a:latin typeface="Montserrat"/>
              </a:rPr>
              <a:t>Yapabilir</a:t>
            </a:r>
            <a:r>
              <a:rPr lang="fr-FR" sz="2800" b="1" dirty="0">
                <a:solidFill>
                  <a:schemeClr val="bg1"/>
                </a:solidFill>
                <a:latin typeface="Montserrat"/>
              </a:rPr>
              <a:t>, Ne </a:t>
            </a:r>
            <a:r>
              <a:rPr lang="fr-FR" sz="2800" b="1" dirty="0" err="1">
                <a:solidFill>
                  <a:schemeClr val="bg1"/>
                </a:solidFill>
                <a:latin typeface="Montserrat"/>
              </a:rPr>
              <a:t>Yapamaz</a:t>
            </a:r>
            <a:r>
              <a:rPr lang="fr-FR" sz="2800" b="1" dirty="0">
                <a:solidFill>
                  <a:schemeClr val="bg1"/>
                </a:solidFill>
                <a:latin typeface="Montserrat"/>
              </a:rPr>
              <a:t>? </a:t>
            </a:r>
            <a:endParaRPr lang="en-US" sz="2800" b="1" dirty="0">
              <a:solidFill>
                <a:schemeClr val="bg1"/>
              </a:solidFill>
              <a:latin typeface="Montserrat"/>
            </a:endParaRPr>
          </a:p>
        </p:txBody>
      </p:sp>
    </p:spTree>
    <p:extLst>
      <p:ext uri="{BB962C8B-B14F-4D97-AF65-F5344CB8AC3E}">
        <p14:creationId xmlns:p14="http://schemas.microsoft.com/office/powerpoint/2010/main" val="6896685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E7E5A-6F65-0591-7795-6E97E4CA5329}"/>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13F37BA4-6F2D-91B1-0366-C0F8DDB44B35}"/>
              </a:ext>
            </a:extLst>
          </p:cNvPr>
          <p:cNvSpPr txBox="1"/>
          <p:nvPr/>
        </p:nvSpPr>
        <p:spPr>
          <a:xfrm>
            <a:off x="10312176" y="1747702"/>
            <a:ext cx="1879821" cy="2862322"/>
          </a:xfrm>
          <a:prstGeom prst="rect">
            <a:avLst/>
          </a:prstGeom>
          <a:noFill/>
        </p:spPr>
        <p:txBody>
          <a:bodyPr vertOverflow="overflow" vert="horz" wrap="square" rtlCol="0" anchor="ctr" anchorCtr="0">
            <a:spAutoFit/>
          </a:bodyPr>
          <a:lstStyle/>
          <a:p>
            <a:pPr algn="l"/>
            <a:r>
              <a:rPr lang="en-US" b="1" dirty="0">
                <a:solidFill>
                  <a:srgbClr val="FFFFFF"/>
                </a:solidFill>
                <a:latin typeface="Open Sans"/>
                <a:ea typeface="Open Sans"/>
                <a:cs typeface="Open Sans"/>
              </a:rPr>
              <a:t>AI ne </a:t>
            </a:r>
            <a:r>
              <a:rPr lang="en-US" b="1" dirty="0" err="1">
                <a:solidFill>
                  <a:srgbClr val="FFFFFF"/>
                </a:solidFill>
                <a:latin typeface="Open Sans"/>
                <a:ea typeface="Open Sans"/>
                <a:cs typeface="Open Sans"/>
              </a:rPr>
              <a:t>bir</a:t>
            </a:r>
            <a:r>
              <a:rPr lang="en-US" b="1" dirty="0">
                <a:solidFill>
                  <a:srgbClr val="FFFFFF"/>
                </a:solidFill>
                <a:latin typeface="Open Sans"/>
                <a:ea typeface="Open Sans"/>
                <a:cs typeface="Open Sans"/>
              </a:rPr>
              <a:t> </a:t>
            </a:r>
            <a:r>
              <a:rPr lang="en-US" b="1" dirty="0" err="1">
                <a:solidFill>
                  <a:srgbClr val="FFFFFF"/>
                </a:solidFill>
                <a:latin typeface="Open Sans"/>
                <a:ea typeface="Open Sans"/>
                <a:cs typeface="Open Sans"/>
              </a:rPr>
              <a:t>insan</a:t>
            </a:r>
            <a:r>
              <a:rPr lang="en-US" b="1" dirty="0">
                <a:solidFill>
                  <a:srgbClr val="FFFFFF"/>
                </a:solidFill>
                <a:latin typeface="Open Sans"/>
                <a:ea typeface="Open Sans"/>
                <a:cs typeface="Open Sans"/>
              </a:rPr>
              <a:t> </a:t>
            </a:r>
            <a:r>
              <a:rPr lang="en-US" b="1" dirty="0" err="1">
                <a:solidFill>
                  <a:srgbClr val="FFFFFF"/>
                </a:solidFill>
                <a:latin typeface="Open Sans"/>
                <a:ea typeface="Open Sans"/>
                <a:cs typeface="Open Sans"/>
              </a:rPr>
              <a:t>çalışan</a:t>
            </a:r>
            <a:r>
              <a:rPr lang="en-US" b="1" dirty="0">
                <a:solidFill>
                  <a:srgbClr val="FFFFFF"/>
                </a:solidFill>
                <a:latin typeface="Open Sans"/>
                <a:ea typeface="Open Sans"/>
                <a:cs typeface="Open Sans"/>
              </a:rPr>
              <a:t> gibi </a:t>
            </a:r>
            <a:r>
              <a:rPr lang="en-US" b="1" dirty="0" err="1">
                <a:solidFill>
                  <a:srgbClr val="FFFFFF"/>
                </a:solidFill>
                <a:latin typeface="Open Sans"/>
                <a:ea typeface="Open Sans"/>
                <a:cs typeface="Open Sans"/>
              </a:rPr>
              <a:t>görülmeli</a:t>
            </a:r>
            <a:r>
              <a:rPr lang="en-US" b="1" dirty="0">
                <a:solidFill>
                  <a:srgbClr val="FFFFFF"/>
                </a:solidFill>
                <a:latin typeface="Open Sans"/>
                <a:ea typeface="Open Sans"/>
                <a:cs typeface="Open Sans"/>
              </a:rPr>
              <a:t> </a:t>
            </a:r>
            <a:br>
              <a:rPr lang="en-US" b="1" dirty="0">
                <a:solidFill>
                  <a:srgbClr val="FFFFFF"/>
                </a:solidFill>
                <a:latin typeface="Open Sans"/>
                <a:ea typeface="Open Sans"/>
                <a:cs typeface="Open Sans"/>
              </a:rPr>
            </a:br>
            <a:r>
              <a:rPr lang="en-US" b="1" dirty="0">
                <a:solidFill>
                  <a:srgbClr val="FFFFFF"/>
                </a:solidFill>
                <a:latin typeface="Open Sans"/>
                <a:ea typeface="Open Sans"/>
                <a:cs typeface="Open Sans"/>
              </a:rPr>
              <a:t>ne de </a:t>
            </a:r>
            <a:r>
              <a:rPr lang="en-US" b="1" dirty="0" err="1">
                <a:solidFill>
                  <a:srgbClr val="FFFFFF"/>
                </a:solidFill>
                <a:latin typeface="Open Sans"/>
                <a:ea typeface="Open Sans"/>
                <a:cs typeface="Open Sans"/>
              </a:rPr>
              <a:t>küçümsenmeli</a:t>
            </a:r>
            <a:br>
              <a:rPr lang="en-US" b="1" dirty="0">
                <a:solidFill>
                  <a:srgbClr val="FFFFFF"/>
                </a:solidFill>
                <a:latin typeface="Open Sans"/>
                <a:ea typeface="Open Sans"/>
                <a:cs typeface="Open Sans"/>
              </a:rPr>
            </a:br>
            <a:endParaRPr lang="en-US" b="1" dirty="0">
              <a:solidFill>
                <a:srgbClr val="FFFFFF"/>
              </a:solidFill>
              <a:latin typeface="Open Sans"/>
              <a:ea typeface="Open Sans"/>
              <a:cs typeface="Open Sans"/>
            </a:endParaRPr>
          </a:p>
          <a:p>
            <a:pPr algn="l"/>
            <a:r>
              <a:rPr lang="en-US" b="1" dirty="0" err="1">
                <a:solidFill>
                  <a:srgbClr val="FFFFFF"/>
                </a:solidFill>
                <a:latin typeface="Open Sans"/>
                <a:ea typeface="Open Sans"/>
                <a:cs typeface="Open Sans"/>
              </a:rPr>
              <a:t>güven</a:t>
            </a:r>
            <a:r>
              <a:rPr lang="en-US" b="1" dirty="0">
                <a:solidFill>
                  <a:srgbClr val="FFFFFF"/>
                </a:solidFill>
                <a:latin typeface="Open Sans"/>
                <a:ea typeface="Open Sans"/>
                <a:cs typeface="Open Sans"/>
              </a:rPr>
              <a:t>, </a:t>
            </a:r>
            <a:r>
              <a:rPr lang="en-US" b="1" dirty="0" err="1">
                <a:solidFill>
                  <a:srgbClr val="FFFFFF"/>
                </a:solidFill>
                <a:latin typeface="Open Sans"/>
                <a:ea typeface="Open Sans"/>
                <a:cs typeface="Open Sans"/>
              </a:rPr>
              <a:t>hesap</a:t>
            </a:r>
            <a:r>
              <a:rPr lang="en-US" b="1" dirty="0">
                <a:solidFill>
                  <a:srgbClr val="FFFFFF"/>
                </a:solidFill>
                <a:latin typeface="Open Sans"/>
                <a:ea typeface="Open Sans"/>
                <a:cs typeface="Open Sans"/>
              </a:rPr>
              <a:t> </a:t>
            </a:r>
            <a:r>
              <a:rPr lang="en-US" b="1" dirty="0" err="1">
                <a:solidFill>
                  <a:srgbClr val="FFFFFF"/>
                </a:solidFill>
                <a:latin typeface="Open Sans"/>
                <a:ea typeface="Open Sans"/>
                <a:cs typeface="Open Sans"/>
              </a:rPr>
              <a:t>verebilirlik</a:t>
            </a:r>
            <a:r>
              <a:rPr lang="en-US" b="1" dirty="0">
                <a:solidFill>
                  <a:srgbClr val="FFFFFF"/>
                </a:solidFill>
                <a:latin typeface="Open Sans"/>
                <a:ea typeface="Open Sans"/>
                <a:cs typeface="Open Sans"/>
              </a:rPr>
              <a:t> ve </a:t>
            </a:r>
            <a:r>
              <a:rPr lang="en-US" b="1" dirty="0" err="1">
                <a:solidFill>
                  <a:srgbClr val="FFFFFF"/>
                </a:solidFill>
                <a:latin typeface="Open Sans"/>
                <a:ea typeface="Open Sans"/>
                <a:cs typeface="Open Sans"/>
              </a:rPr>
              <a:t>yargı</a:t>
            </a:r>
            <a:r>
              <a:rPr lang="en-US" b="1" dirty="0">
                <a:solidFill>
                  <a:srgbClr val="FFFFFF"/>
                </a:solidFill>
                <a:latin typeface="Open Sans"/>
                <a:ea typeface="Open Sans"/>
                <a:cs typeface="Open Sans"/>
              </a:rPr>
              <a:t> </a:t>
            </a:r>
            <a:r>
              <a:rPr lang="en-US" b="1" dirty="0" err="1">
                <a:solidFill>
                  <a:srgbClr val="FFFFFF"/>
                </a:solidFill>
                <a:latin typeface="Open Sans"/>
                <a:ea typeface="Open Sans"/>
                <a:cs typeface="Open Sans"/>
              </a:rPr>
              <a:t>hâlâ</a:t>
            </a:r>
            <a:r>
              <a:rPr lang="en-US" b="1" dirty="0">
                <a:solidFill>
                  <a:srgbClr val="FFFFFF"/>
                </a:solidFill>
                <a:latin typeface="Open Sans"/>
                <a:ea typeface="Open Sans"/>
                <a:cs typeface="Open Sans"/>
              </a:rPr>
              <a:t> </a:t>
            </a:r>
            <a:r>
              <a:rPr lang="en-US" b="1" dirty="0" err="1">
                <a:solidFill>
                  <a:srgbClr val="FFFFFF"/>
                </a:solidFill>
                <a:latin typeface="Open Sans"/>
                <a:ea typeface="Open Sans"/>
                <a:cs typeface="Open Sans"/>
              </a:rPr>
              <a:t>insanlarda</a:t>
            </a:r>
            <a:endParaRPr lang="en-US" b="1" dirty="0">
              <a:solidFill>
                <a:srgbClr val="FFFFFF"/>
              </a:solidFill>
              <a:latin typeface="Open Sans"/>
              <a:ea typeface="Open Sans"/>
              <a:cs typeface="Open Sans"/>
            </a:endParaRPr>
          </a:p>
        </p:txBody>
      </p:sp>
      <p:sp>
        <p:nvSpPr>
          <p:cNvPr id="2" name="Title 1">
            <a:extLst>
              <a:ext uri="{FF2B5EF4-FFF2-40B4-BE49-F238E27FC236}">
                <a16:creationId xmlns:a16="http://schemas.microsoft.com/office/drawing/2014/main" id="{06A9DC1A-BD41-BACA-4A84-4F4EC19AECEF}"/>
              </a:ext>
            </a:extLst>
          </p:cNvPr>
          <p:cNvSpPr>
            <a:spLocks noGrp="1"/>
          </p:cNvSpPr>
          <p:nvPr>
            <p:ph type="title"/>
          </p:nvPr>
        </p:nvSpPr>
        <p:spPr>
          <a:xfrm>
            <a:off x="330200" y="0"/>
            <a:ext cx="10922000" cy="762000"/>
          </a:xfrm>
        </p:spPr>
        <p:txBody>
          <a:bodyPr>
            <a:normAutofit/>
          </a:bodyPr>
          <a:lstStyle/>
          <a:p>
            <a:r>
              <a:rPr lang="fr-FR" sz="2800" b="1" dirty="0">
                <a:solidFill>
                  <a:schemeClr val="bg1"/>
                </a:solidFill>
                <a:latin typeface="Montserrat"/>
              </a:rPr>
              <a:t>AI </a:t>
            </a:r>
            <a:r>
              <a:rPr lang="fr-FR" sz="2800" b="1" dirty="0" err="1">
                <a:solidFill>
                  <a:schemeClr val="bg1"/>
                </a:solidFill>
                <a:latin typeface="Montserrat"/>
              </a:rPr>
              <a:t>Ajanları</a:t>
            </a:r>
            <a:r>
              <a:rPr lang="fr-FR" sz="2800" b="1" dirty="0">
                <a:solidFill>
                  <a:schemeClr val="bg1"/>
                </a:solidFill>
                <a:latin typeface="Montserrat"/>
              </a:rPr>
              <a:t> Ne </a:t>
            </a:r>
            <a:r>
              <a:rPr lang="fr-FR" sz="2800" b="1" dirty="0" err="1">
                <a:solidFill>
                  <a:schemeClr val="bg1"/>
                </a:solidFill>
                <a:latin typeface="Montserrat"/>
              </a:rPr>
              <a:t>Yapabilir</a:t>
            </a:r>
            <a:r>
              <a:rPr lang="fr-FR" sz="2800" b="1" dirty="0">
                <a:solidFill>
                  <a:schemeClr val="bg1"/>
                </a:solidFill>
                <a:latin typeface="Montserrat"/>
              </a:rPr>
              <a:t>, Ne </a:t>
            </a:r>
            <a:r>
              <a:rPr lang="fr-FR" sz="2800" b="1" dirty="0" err="1">
                <a:solidFill>
                  <a:schemeClr val="bg1"/>
                </a:solidFill>
                <a:latin typeface="Montserrat"/>
              </a:rPr>
              <a:t>Yapamaz</a:t>
            </a:r>
            <a:r>
              <a:rPr lang="fr-FR" sz="2800" b="1" dirty="0">
                <a:solidFill>
                  <a:schemeClr val="bg1"/>
                </a:solidFill>
                <a:latin typeface="Montserrat"/>
              </a:rPr>
              <a:t>? </a:t>
            </a:r>
            <a:endParaRPr lang="en-US" sz="2800" b="1" dirty="0">
              <a:solidFill>
                <a:schemeClr val="bg1"/>
              </a:solidFill>
              <a:latin typeface="Montserrat"/>
            </a:endParaRPr>
          </a:p>
        </p:txBody>
      </p:sp>
      <p:pic>
        <p:nvPicPr>
          <p:cNvPr id="7" name="Picture 6">
            <a:extLst>
              <a:ext uri="{FF2B5EF4-FFF2-40B4-BE49-F238E27FC236}">
                <a16:creationId xmlns:a16="http://schemas.microsoft.com/office/drawing/2014/main" id="{CEE3B4C0-6DD6-152E-FA14-24BC6D0E1AEE}"/>
              </a:ext>
            </a:extLst>
          </p:cNvPr>
          <p:cNvPicPr>
            <a:picLocks noChangeAspect="1"/>
          </p:cNvPicPr>
          <p:nvPr/>
        </p:nvPicPr>
        <p:blipFill>
          <a:blip r:embed="rId3"/>
          <a:stretch>
            <a:fillRect/>
          </a:stretch>
        </p:blipFill>
        <p:spPr>
          <a:xfrm>
            <a:off x="129209" y="-3251602"/>
            <a:ext cx="12191997" cy="13361204"/>
          </a:xfrm>
          <a:prstGeom prst="rect">
            <a:avLst/>
          </a:prstGeom>
        </p:spPr>
      </p:pic>
    </p:spTree>
    <p:extLst>
      <p:ext uri="{BB962C8B-B14F-4D97-AF65-F5344CB8AC3E}">
        <p14:creationId xmlns:p14="http://schemas.microsoft.com/office/powerpoint/2010/main" val="15995896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394B2CA-C6BB-459E-AC50-6010654B63B7}"/>
              </a:ext>
            </a:extLst>
          </p:cNvPr>
          <p:cNvSpPr/>
          <p:nvPr/>
        </p:nvSpPr>
        <p:spPr>
          <a:xfrm>
            <a:off x="166245" y="259862"/>
            <a:ext cx="3581400" cy="1930400"/>
          </a:xfrm>
          <a:prstGeom prst="roundRect">
            <a:avLst/>
          </a:prstGeom>
          <a:solidFill>
            <a:srgbClr val="F4F8F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789C29BB-CD3F-48D7-B408-ED9B4C16D9FA}"/>
              </a:ext>
            </a:extLst>
          </p:cNvPr>
          <p:cNvSpPr txBox="1"/>
          <p:nvPr/>
        </p:nvSpPr>
        <p:spPr>
          <a:xfrm>
            <a:off x="166245" y="552314"/>
            <a:ext cx="3098800" cy="355600"/>
          </a:xfrm>
          <a:prstGeom prst="rect">
            <a:avLst/>
          </a:prstGeom>
          <a:noFill/>
        </p:spPr>
        <p:txBody>
          <a:bodyPr vertOverflow="overflow" vert="horz" wrap="square" rtlCol="0" anchor="t">
            <a:spAutoFit/>
          </a:bodyPr>
          <a:lstStyle/>
          <a:p>
            <a:pPr algn="l"/>
            <a:r>
              <a:rPr lang="en-US" sz="1700" b="1" dirty="0" err="1">
                <a:solidFill>
                  <a:srgbClr val="1C7FB8"/>
                </a:solidFill>
                <a:latin typeface="Montserrat"/>
              </a:rPr>
              <a:t>İlkeler</a:t>
            </a:r>
            <a:endParaRPr lang="en-US" sz="1700" b="1" dirty="0">
              <a:solidFill>
                <a:srgbClr val="1C7FB8"/>
              </a:solidFill>
              <a:latin typeface="Montserrat"/>
            </a:endParaRPr>
          </a:p>
        </p:txBody>
      </p:sp>
      <p:sp>
        <p:nvSpPr>
          <p:cNvPr id="7" name="TextBox 6">
            <a:extLst>
              <a:ext uri="{FF2B5EF4-FFF2-40B4-BE49-F238E27FC236}">
                <a16:creationId xmlns:a16="http://schemas.microsoft.com/office/drawing/2014/main" id="{22651D8F-528B-44A9-B5EC-4F8CE3078C61}"/>
              </a:ext>
            </a:extLst>
          </p:cNvPr>
          <p:cNvSpPr txBox="1"/>
          <p:nvPr/>
        </p:nvSpPr>
        <p:spPr>
          <a:xfrm>
            <a:off x="101599" y="1037845"/>
            <a:ext cx="3786891" cy="677108"/>
          </a:xfrm>
          <a:prstGeom prst="rect">
            <a:avLst/>
          </a:prstGeom>
          <a:noFill/>
        </p:spPr>
        <p:txBody>
          <a:bodyPr vertOverflow="overflow" vert="horz" wrap="square" rtlCol="0" anchor="t">
            <a:spAutoFit/>
          </a:bodyPr>
          <a:lstStyle/>
          <a:p>
            <a:r>
              <a:rPr lang="en-US" sz="1300" dirty="0">
                <a:solidFill>
                  <a:srgbClr val="24364A"/>
                </a:solidFill>
                <a:ea typeface="Open Sans"/>
                <a:cs typeface="Open Sans"/>
              </a:rPr>
              <a:t>• </a:t>
            </a:r>
            <a:r>
              <a:rPr lang="en-US" sz="1300" dirty="0" err="1">
                <a:solidFill>
                  <a:srgbClr val="24364A"/>
                </a:solidFill>
                <a:ea typeface="Open Sans"/>
                <a:cs typeface="Open Sans"/>
              </a:rPr>
              <a:t>Öncelikler</a:t>
            </a:r>
            <a:r>
              <a:rPr lang="en-US" sz="1300" dirty="0">
                <a:solidFill>
                  <a:srgbClr val="24364A"/>
                </a:solidFill>
                <a:ea typeface="Open Sans"/>
                <a:cs typeface="Open Sans"/>
              </a:rPr>
              <a:t> ve </a:t>
            </a:r>
            <a:r>
              <a:rPr lang="en-US" sz="1300" dirty="0" err="1">
                <a:solidFill>
                  <a:srgbClr val="24364A"/>
                </a:solidFill>
                <a:ea typeface="Open Sans"/>
                <a:cs typeface="Open Sans"/>
              </a:rPr>
              <a:t>inandığımız</a:t>
            </a:r>
            <a:r>
              <a:rPr lang="en-US" sz="1300" dirty="0">
                <a:solidFill>
                  <a:srgbClr val="24364A"/>
                </a:solidFill>
                <a:ea typeface="Open Sans"/>
                <a:cs typeface="Open Sans"/>
              </a:rPr>
              <a:t> </a:t>
            </a:r>
            <a:r>
              <a:rPr lang="en-US" sz="1300" dirty="0" err="1">
                <a:solidFill>
                  <a:srgbClr val="24364A"/>
                </a:solidFill>
                <a:ea typeface="Open Sans"/>
                <a:cs typeface="Open Sans"/>
              </a:rPr>
              <a:t>ilkeler</a:t>
            </a:r>
            <a:r>
              <a:rPr lang="en-US" sz="1300" dirty="0">
                <a:solidFill>
                  <a:srgbClr val="24364A"/>
                </a:solidFill>
                <a:ea typeface="Open Sans"/>
                <a:cs typeface="Open Sans"/>
              </a:rPr>
              <a:t>(belief)</a:t>
            </a:r>
            <a:br>
              <a:rPr lang="en-US" sz="1300" dirty="0">
                <a:solidFill>
                  <a:srgbClr val="24364A"/>
                </a:solidFill>
                <a:ea typeface="Open Sans"/>
                <a:cs typeface="Open Sans"/>
              </a:rPr>
            </a:br>
            <a:r>
              <a:rPr lang="en-US" sz="1300" dirty="0">
                <a:solidFill>
                  <a:srgbClr val="24364A"/>
                </a:solidFill>
                <a:ea typeface="Open Sans"/>
                <a:cs typeface="Open Sans"/>
              </a:rPr>
              <a:t>• </a:t>
            </a:r>
            <a:r>
              <a:rPr lang="en-US" sz="1200" dirty="0"/>
              <a:t>Karar </a:t>
            </a:r>
            <a:r>
              <a:rPr lang="en-US" sz="1200" dirty="0" err="1"/>
              <a:t>verirken</a:t>
            </a:r>
            <a:r>
              <a:rPr lang="en-US" sz="1200" dirty="0"/>
              <a:t> </a:t>
            </a:r>
            <a:r>
              <a:rPr lang="en-US" sz="1200" dirty="0" err="1"/>
              <a:t>bizi</a:t>
            </a:r>
            <a:r>
              <a:rPr lang="en-US" sz="1200" dirty="0"/>
              <a:t> </a:t>
            </a:r>
            <a:r>
              <a:rPr lang="en-US" sz="1200" dirty="0" err="1"/>
              <a:t>yönlendiren</a:t>
            </a:r>
            <a:r>
              <a:rPr lang="en-US" sz="1200" dirty="0"/>
              <a:t> </a:t>
            </a:r>
            <a:r>
              <a:rPr lang="en-US" sz="1200" dirty="0" err="1"/>
              <a:t>sınırlar</a:t>
            </a:r>
            <a:r>
              <a:rPr lang="en-US" sz="1200" dirty="0"/>
              <a:t>. </a:t>
            </a:r>
            <a:r>
              <a:rPr lang="en-US" sz="1300" dirty="0">
                <a:solidFill>
                  <a:srgbClr val="24364A"/>
                </a:solidFill>
                <a:ea typeface="Open Sans"/>
                <a:cs typeface="Open Sans"/>
              </a:rPr>
              <a:t>
</a:t>
            </a:r>
            <a:r>
              <a:rPr lang="en-US" sz="1200" dirty="0"/>
              <a:t>• </a:t>
            </a:r>
            <a:r>
              <a:rPr lang="en-US" sz="1200" dirty="0" err="1"/>
              <a:t>Gereksinimlerle</a:t>
            </a:r>
            <a:r>
              <a:rPr lang="en-US" sz="1200" dirty="0"/>
              <a:t> </a:t>
            </a:r>
            <a:r>
              <a:rPr lang="en-US" sz="1200" dirty="0" err="1"/>
              <a:t>mimari</a:t>
            </a:r>
            <a:r>
              <a:rPr lang="en-US" sz="1200" dirty="0"/>
              <a:t> </a:t>
            </a:r>
            <a:r>
              <a:rPr lang="en-US" sz="1200" dirty="0" err="1"/>
              <a:t>kararlar</a:t>
            </a:r>
            <a:r>
              <a:rPr lang="en-US" sz="1200" dirty="0"/>
              <a:t> </a:t>
            </a:r>
            <a:r>
              <a:rPr lang="en-US" sz="1200" dirty="0" err="1"/>
              <a:t>arasında</a:t>
            </a:r>
            <a:r>
              <a:rPr lang="en-US" sz="1200" dirty="0"/>
              <a:t> </a:t>
            </a:r>
            <a:r>
              <a:rPr lang="en-US" sz="1200" dirty="0" err="1"/>
              <a:t>köprü</a:t>
            </a:r>
            <a:endParaRPr lang="en-US" sz="1200" dirty="0"/>
          </a:p>
        </p:txBody>
      </p:sp>
      <p:sp>
        <p:nvSpPr>
          <p:cNvPr id="8" name="Rectangle: Rounded Corners 7">
            <a:extLst>
              <a:ext uri="{FF2B5EF4-FFF2-40B4-BE49-F238E27FC236}">
                <a16:creationId xmlns:a16="http://schemas.microsoft.com/office/drawing/2014/main" id="{DD2D44F9-4562-4878-AE01-0384698D0CFD}"/>
              </a:ext>
            </a:extLst>
          </p:cNvPr>
          <p:cNvSpPr/>
          <p:nvPr/>
        </p:nvSpPr>
        <p:spPr>
          <a:xfrm>
            <a:off x="166245" y="3247123"/>
            <a:ext cx="3581400" cy="1930400"/>
          </a:xfrm>
          <a:prstGeom prst="roundRect">
            <a:avLst/>
          </a:prstGeom>
          <a:solidFill>
            <a:srgbClr val="F4F8F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6FF13991-725C-4EB5-93AB-2B849295EDA8}"/>
              </a:ext>
            </a:extLst>
          </p:cNvPr>
          <p:cNvSpPr txBox="1"/>
          <p:nvPr/>
        </p:nvSpPr>
        <p:spPr>
          <a:xfrm>
            <a:off x="420245" y="3663292"/>
            <a:ext cx="3098800" cy="355600"/>
          </a:xfrm>
          <a:prstGeom prst="rect">
            <a:avLst/>
          </a:prstGeom>
          <a:noFill/>
        </p:spPr>
        <p:txBody>
          <a:bodyPr vertOverflow="overflow" vert="horz" wrap="square" rtlCol="0" anchor="t">
            <a:spAutoFit/>
          </a:bodyPr>
          <a:lstStyle/>
          <a:p>
            <a:pPr algn="l"/>
            <a:r>
              <a:rPr lang="en-US" sz="1700" b="1" dirty="0" err="1">
                <a:solidFill>
                  <a:srgbClr val="2BA39A"/>
                </a:solidFill>
                <a:latin typeface="Montserrat"/>
              </a:rPr>
              <a:t>Kararlar</a:t>
            </a:r>
            <a:endParaRPr lang="en-US" sz="1700" b="1" dirty="0">
              <a:solidFill>
                <a:srgbClr val="2BA39A"/>
              </a:solidFill>
              <a:latin typeface="Montserrat"/>
            </a:endParaRPr>
          </a:p>
        </p:txBody>
      </p:sp>
      <p:sp>
        <p:nvSpPr>
          <p:cNvPr id="11" name="TextBox 10">
            <a:extLst>
              <a:ext uri="{FF2B5EF4-FFF2-40B4-BE49-F238E27FC236}">
                <a16:creationId xmlns:a16="http://schemas.microsoft.com/office/drawing/2014/main" id="{E865C209-ECDA-4CBA-B8C0-882A5B582E90}"/>
              </a:ext>
            </a:extLst>
          </p:cNvPr>
          <p:cNvSpPr txBox="1"/>
          <p:nvPr/>
        </p:nvSpPr>
        <p:spPr>
          <a:xfrm>
            <a:off x="420245" y="4120492"/>
            <a:ext cx="3149600" cy="1193800"/>
          </a:xfrm>
          <a:prstGeom prst="rect">
            <a:avLst/>
          </a:prstGeom>
          <a:noFill/>
        </p:spPr>
        <p:txBody>
          <a:bodyPr vertOverflow="overflow" vert="horz" wrap="square" rtlCol="0" anchor="t">
            <a:spAutoFit/>
          </a:bodyPr>
          <a:lstStyle/>
          <a:p>
            <a:pPr algn="l"/>
            <a:r>
              <a:rPr lang="en-US" sz="1300" dirty="0">
                <a:solidFill>
                  <a:srgbClr val="24364A"/>
                </a:solidFill>
                <a:latin typeface="Open Sans"/>
                <a:ea typeface="Open Sans"/>
                <a:cs typeface="Open Sans"/>
              </a:rPr>
              <a:t>•  </a:t>
            </a:r>
            <a:r>
              <a:rPr lang="en-US" sz="1300" dirty="0" err="1">
                <a:solidFill>
                  <a:srgbClr val="24364A"/>
                </a:solidFill>
                <a:latin typeface="Open Sans"/>
                <a:ea typeface="Open Sans"/>
                <a:cs typeface="Open Sans"/>
              </a:rPr>
              <a:t>Sistem</a:t>
            </a:r>
            <a:r>
              <a:rPr lang="en-US" sz="1300" dirty="0">
                <a:solidFill>
                  <a:srgbClr val="24364A"/>
                </a:solidFill>
                <a:latin typeface="Open Sans"/>
                <a:ea typeface="Open Sans"/>
                <a:cs typeface="Open Sans"/>
              </a:rPr>
              <a:t> nasıl ve </a:t>
            </a:r>
            <a:r>
              <a:rPr lang="en-US" sz="1300" dirty="0" err="1">
                <a:solidFill>
                  <a:srgbClr val="24364A"/>
                </a:solidFill>
                <a:latin typeface="Open Sans"/>
                <a:ea typeface="Open Sans"/>
                <a:cs typeface="Open Sans"/>
              </a:rPr>
              <a:t>neden</a:t>
            </a:r>
            <a:r>
              <a:rPr lang="en-US" sz="1300" dirty="0">
                <a:solidFill>
                  <a:srgbClr val="24364A"/>
                </a:solidFill>
                <a:latin typeface="Open Sans"/>
                <a:ea typeface="Open Sans"/>
                <a:cs typeface="Open Sans"/>
              </a:rPr>
              <a:t> </a:t>
            </a:r>
            <a:r>
              <a:rPr lang="en-US" sz="1300" dirty="0" err="1">
                <a:solidFill>
                  <a:srgbClr val="24364A"/>
                </a:solidFill>
                <a:latin typeface="Open Sans"/>
                <a:ea typeface="Open Sans"/>
                <a:cs typeface="Open Sans"/>
              </a:rPr>
              <a:t>çalışır</a:t>
            </a:r>
            <a:r>
              <a:rPr lang="en-US" sz="1300" dirty="0">
                <a:solidFill>
                  <a:srgbClr val="24364A"/>
                </a:solidFill>
                <a:latin typeface="Open Sans"/>
                <a:ea typeface="Open Sans"/>
                <a:cs typeface="Open Sans"/>
              </a:rPr>
              <a:t>
•  Mimari </a:t>
            </a:r>
            <a:r>
              <a:rPr lang="en-US" sz="1300" dirty="0" err="1">
                <a:solidFill>
                  <a:srgbClr val="24364A"/>
                </a:solidFill>
                <a:latin typeface="Open Sans"/>
                <a:ea typeface="Open Sans"/>
                <a:cs typeface="Open Sans"/>
              </a:rPr>
              <a:t>yolculuk</a:t>
            </a:r>
            <a:r>
              <a:rPr lang="en-US" sz="1300" dirty="0">
                <a:solidFill>
                  <a:srgbClr val="24364A"/>
                </a:solidFill>
                <a:latin typeface="Open Sans"/>
                <a:ea typeface="Open Sans"/>
                <a:cs typeface="Open Sans"/>
              </a:rPr>
              <a:t> ve </a:t>
            </a:r>
            <a:r>
              <a:rPr lang="en-US" sz="1300" dirty="0" err="1">
                <a:solidFill>
                  <a:srgbClr val="24364A"/>
                </a:solidFill>
                <a:latin typeface="Open Sans"/>
                <a:ea typeface="Open Sans"/>
                <a:cs typeface="Open Sans"/>
              </a:rPr>
              <a:t>ödünleşimler</a:t>
            </a:r>
            <a:r>
              <a:rPr lang="en-US" sz="1300" dirty="0">
                <a:solidFill>
                  <a:srgbClr val="24364A"/>
                </a:solidFill>
                <a:latin typeface="Open Sans"/>
                <a:ea typeface="Open Sans"/>
                <a:cs typeface="Open Sans"/>
              </a:rPr>
              <a:t>
•  </a:t>
            </a:r>
            <a:r>
              <a:rPr lang="en-US" sz="1300" dirty="0" err="1">
                <a:solidFill>
                  <a:srgbClr val="24364A"/>
                </a:solidFill>
                <a:latin typeface="Open Sans"/>
                <a:ea typeface="Open Sans"/>
                <a:cs typeface="Open Sans"/>
              </a:rPr>
              <a:t>Sistemi</a:t>
            </a:r>
            <a:r>
              <a:rPr lang="en-US" sz="1300" dirty="0">
                <a:solidFill>
                  <a:srgbClr val="24364A"/>
                </a:solidFill>
                <a:latin typeface="Open Sans"/>
                <a:ea typeface="Open Sans"/>
                <a:cs typeface="Open Sans"/>
              </a:rPr>
              <a:t> </a:t>
            </a:r>
            <a:r>
              <a:rPr lang="en-US" sz="1300" dirty="0" err="1">
                <a:solidFill>
                  <a:srgbClr val="24364A"/>
                </a:solidFill>
                <a:latin typeface="Open Sans"/>
                <a:ea typeface="Open Sans"/>
                <a:cs typeface="Open Sans"/>
              </a:rPr>
              <a:t>sürdürme</a:t>
            </a:r>
            <a:r>
              <a:rPr lang="en-US" sz="1300" dirty="0">
                <a:solidFill>
                  <a:srgbClr val="24364A"/>
                </a:solidFill>
                <a:latin typeface="Open Sans"/>
                <a:ea typeface="Open Sans"/>
                <a:cs typeface="Open Sans"/>
              </a:rPr>
              <a:t> </a:t>
            </a:r>
            <a:r>
              <a:rPr lang="en-US" sz="1300" dirty="0" err="1">
                <a:solidFill>
                  <a:srgbClr val="24364A"/>
                </a:solidFill>
                <a:latin typeface="Open Sans"/>
                <a:ea typeface="Open Sans"/>
                <a:cs typeface="Open Sans"/>
              </a:rPr>
              <a:t>rehberi</a:t>
            </a:r>
            <a:endParaRPr lang="en-US" sz="1300" dirty="0">
              <a:solidFill>
                <a:srgbClr val="24364A"/>
              </a:solidFill>
              <a:latin typeface="Open Sans"/>
              <a:ea typeface="Open Sans"/>
              <a:cs typeface="Open Sans"/>
            </a:endParaRPr>
          </a:p>
        </p:txBody>
      </p:sp>
      <p:pic>
        <p:nvPicPr>
          <p:cNvPr id="18" name="Picture 17">
            <a:extLst>
              <a:ext uri="{FF2B5EF4-FFF2-40B4-BE49-F238E27FC236}">
                <a16:creationId xmlns:a16="http://schemas.microsoft.com/office/drawing/2014/main" id="{56537055-10E7-A227-F41E-CF1E6179A9BD}"/>
              </a:ext>
            </a:extLst>
          </p:cNvPr>
          <p:cNvPicPr>
            <a:picLocks noChangeAspect="1"/>
          </p:cNvPicPr>
          <p:nvPr/>
        </p:nvPicPr>
        <p:blipFill>
          <a:blip r:embed="rId3"/>
          <a:srcRect l="6728" t="25982" r="8965" b="22653"/>
          <a:stretch>
            <a:fillRect/>
          </a:stretch>
        </p:blipFill>
        <p:spPr>
          <a:xfrm>
            <a:off x="3747645" y="0"/>
            <a:ext cx="8444355" cy="6858000"/>
          </a:xfrm>
          <a:prstGeom prst="rect">
            <a:avLst/>
          </a:prstGeom>
        </p:spPr>
      </p:pic>
      <p:cxnSp>
        <p:nvCxnSpPr>
          <p:cNvPr id="16" name="Connector: Curved 15">
            <a:extLst>
              <a:ext uri="{FF2B5EF4-FFF2-40B4-BE49-F238E27FC236}">
                <a16:creationId xmlns:a16="http://schemas.microsoft.com/office/drawing/2014/main" id="{FC195010-7344-0CCB-90DB-5269ADD34AF7}"/>
              </a:ext>
            </a:extLst>
          </p:cNvPr>
          <p:cNvCxnSpPr>
            <a:cxnSpLocks/>
            <a:stCxn id="4" idx="2"/>
          </p:cNvCxnSpPr>
          <p:nvPr/>
        </p:nvCxnSpPr>
        <p:spPr>
          <a:xfrm rot="5400000" flipH="1" flipV="1">
            <a:off x="3243351" y="530146"/>
            <a:ext cx="373709" cy="2946523"/>
          </a:xfrm>
          <a:prstGeom prst="curvedConnector4">
            <a:avLst>
              <a:gd name="adj1" fmla="val -61171"/>
              <a:gd name="adj2" fmla="val 80387"/>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Connector: Curved 18">
            <a:extLst>
              <a:ext uri="{FF2B5EF4-FFF2-40B4-BE49-F238E27FC236}">
                <a16:creationId xmlns:a16="http://schemas.microsoft.com/office/drawing/2014/main" id="{49C5FDBC-2927-4E48-69E2-665C13F3DB09}"/>
              </a:ext>
            </a:extLst>
          </p:cNvPr>
          <p:cNvCxnSpPr>
            <a:cxnSpLocks/>
            <a:stCxn id="11" idx="2"/>
          </p:cNvCxnSpPr>
          <p:nvPr/>
        </p:nvCxnSpPr>
        <p:spPr>
          <a:xfrm rot="5400000" flipH="1" flipV="1">
            <a:off x="5492687" y="165649"/>
            <a:ext cx="1651000" cy="8646285"/>
          </a:xfrm>
          <a:prstGeom prst="curvedConnector4">
            <a:avLst>
              <a:gd name="adj1" fmla="val -13846"/>
              <a:gd name="adj2" fmla="val 99955"/>
            </a:avLst>
          </a:prstGeom>
          <a:ln w="190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3488876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66AFB-2939-0798-7653-C18291AEE458}"/>
              </a:ext>
            </a:extLst>
          </p:cNvPr>
          <p:cNvSpPr>
            <a:spLocks noGrp="1"/>
          </p:cNvSpPr>
          <p:nvPr>
            <p:ph type="title"/>
          </p:nvPr>
        </p:nvSpPr>
        <p:spPr>
          <a:xfrm>
            <a:off x="635000" y="508000"/>
            <a:ext cx="10922000" cy="762000"/>
          </a:xfrm>
        </p:spPr>
        <p:txBody>
          <a:bodyPr>
            <a:normAutofit/>
          </a:bodyPr>
          <a:lstStyle/>
          <a:p>
            <a:r>
              <a:rPr lang="en-US" sz="3000" b="1">
                <a:latin typeface="Montserrat"/>
              </a:rPr>
              <a:t>ADR — Mimari Karar Kaydı</a:t>
            </a:r>
          </a:p>
        </p:txBody>
      </p:sp>
      <p:sp>
        <p:nvSpPr>
          <p:cNvPr id="3" name="Rectangle 2">
            <a:extLst>
              <a:ext uri="{FF2B5EF4-FFF2-40B4-BE49-F238E27FC236}">
                <a16:creationId xmlns:a16="http://schemas.microsoft.com/office/drawing/2014/main" id="{4FDF91C9-5797-442E-988A-644C333451AB}"/>
              </a:ext>
            </a:extLst>
          </p:cNvPr>
          <p:cNvSpPr/>
          <p:nvPr/>
        </p:nvSpPr>
        <p:spPr>
          <a:xfrm>
            <a:off x="660400" y="1346200"/>
            <a:ext cx="889000" cy="63500"/>
          </a:xfrm>
          <a:prstGeom prst="rect">
            <a:avLst/>
          </a:prstGeom>
          <a:solidFill>
            <a:srgbClr val="E08A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Rectangle: Rounded Corners 3">
            <a:extLst>
              <a:ext uri="{FF2B5EF4-FFF2-40B4-BE49-F238E27FC236}">
                <a16:creationId xmlns:a16="http://schemas.microsoft.com/office/drawing/2014/main" id="{1A985C34-F84A-4F70-82E1-FB908AE0834B}"/>
              </a:ext>
            </a:extLst>
          </p:cNvPr>
          <p:cNvSpPr/>
          <p:nvPr/>
        </p:nvSpPr>
        <p:spPr>
          <a:xfrm>
            <a:off x="635000" y="1625600"/>
            <a:ext cx="7366000" cy="1168400"/>
          </a:xfrm>
          <a:prstGeom prst="roundRect">
            <a:avLst/>
          </a:prstGeom>
          <a:solidFill>
            <a:srgbClr val="F4F8F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B5F87F5C-408A-4333-9735-CCA7CDAE6F02}"/>
              </a:ext>
            </a:extLst>
          </p:cNvPr>
          <p:cNvSpPr txBox="1"/>
          <p:nvPr/>
        </p:nvSpPr>
        <p:spPr>
          <a:xfrm>
            <a:off x="889000" y="1752600"/>
            <a:ext cx="6858000" cy="939800"/>
          </a:xfrm>
          <a:prstGeom prst="rect">
            <a:avLst/>
          </a:prstGeom>
          <a:noFill/>
        </p:spPr>
        <p:txBody>
          <a:bodyPr vertOverflow="overflow" vert="horz" wrap="square" rtlCol="0" anchor="ctr" anchorCtr="0">
            <a:spAutoFit/>
          </a:bodyPr>
          <a:lstStyle/>
          <a:p>
            <a:pPr algn="l"/>
            <a:r>
              <a:rPr lang="en-US" sz="1450">
                <a:solidFill>
                  <a:srgbClr val="24364A"/>
                </a:solidFill>
                <a:latin typeface="Open Sans"/>
                <a:ea typeface="Open Sans"/>
                <a:cs typeface="Open Sans"/>
              </a:rPr>
              <a:t>ADR (Architecture Decision Record): önemli bir teknik kararı, neden alındığını ve sonuçlarını açıklayan kısa bir dokümandır.</a:t>
            </a:r>
          </a:p>
        </p:txBody>
      </p:sp>
      <p:sp>
        <p:nvSpPr>
          <p:cNvPr id="6" name="TextBox 5">
            <a:extLst>
              <a:ext uri="{FF2B5EF4-FFF2-40B4-BE49-F238E27FC236}">
                <a16:creationId xmlns:a16="http://schemas.microsoft.com/office/drawing/2014/main" id="{6A63B512-D3D8-4C49-8120-9F9326E1F24E}"/>
              </a:ext>
            </a:extLst>
          </p:cNvPr>
          <p:cNvSpPr txBox="1"/>
          <p:nvPr/>
        </p:nvSpPr>
        <p:spPr>
          <a:xfrm>
            <a:off x="635000" y="2921000"/>
            <a:ext cx="7366000" cy="279400"/>
          </a:xfrm>
          <a:prstGeom prst="rect">
            <a:avLst/>
          </a:prstGeom>
          <a:noFill/>
        </p:spPr>
        <p:txBody>
          <a:bodyPr vertOverflow="overflow" vert="horz" wrap="square" rtlCol="0" anchor="t">
            <a:spAutoFit/>
          </a:bodyPr>
          <a:lstStyle/>
          <a:p>
            <a:pPr algn="l"/>
            <a:r>
              <a:rPr lang="en-US" sz="1300" b="1">
                <a:solidFill>
                  <a:srgbClr val="5B6B7B"/>
                </a:solidFill>
                <a:latin typeface="Montserrat"/>
              </a:rPr>
              <a:t>Minimal ADR (Michael Nygard):</a:t>
            </a:r>
          </a:p>
        </p:txBody>
      </p:sp>
      <p:sp>
        <p:nvSpPr>
          <p:cNvPr id="7" name="Rectangle: Rounded Corners 6">
            <a:extLst>
              <a:ext uri="{FF2B5EF4-FFF2-40B4-BE49-F238E27FC236}">
                <a16:creationId xmlns:a16="http://schemas.microsoft.com/office/drawing/2014/main" id="{4D08435A-AFBD-48FB-AB94-68ADD85970BB}"/>
              </a:ext>
            </a:extLst>
          </p:cNvPr>
          <p:cNvSpPr/>
          <p:nvPr/>
        </p:nvSpPr>
        <p:spPr>
          <a:xfrm>
            <a:off x="635000" y="3276600"/>
            <a:ext cx="1371600" cy="609600"/>
          </a:xfrm>
          <a:prstGeom prst="roundRect">
            <a:avLst/>
          </a:prstGeom>
          <a:solidFill>
            <a:srgbClr val="115E8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300" b="1">
                <a:solidFill>
                  <a:srgbClr val="FFFFFF"/>
                </a:solidFill>
                <a:latin typeface="Montserrat"/>
              </a:rPr>
              <a:t>Ad</a:t>
            </a:r>
          </a:p>
        </p:txBody>
      </p:sp>
      <p:sp>
        <p:nvSpPr>
          <p:cNvPr id="8" name="Rectangle: Rounded Corners 7">
            <a:extLst>
              <a:ext uri="{FF2B5EF4-FFF2-40B4-BE49-F238E27FC236}">
                <a16:creationId xmlns:a16="http://schemas.microsoft.com/office/drawing/2014/main" id="{18276005-A3AE-4DA0-9C32-C340B43B02D3}"/>
              </a:ext>
            </a:extLst>
          </p:cNvPr>
          <p:cNvSpPr/>
          <p:nvPr/>
        </p:nvSpPr>
        <p:spPr>
          <a:xfrm>
            <a:off x="2133600" y="3276600"/>
            <a:ext cx="1371600" cy="609600"/>
          </a:xfrm>
          <a:prstGeom prst="roundRect">
            <a:avLst/>
          </a:prstGeom>
          <a:solidFill>
            <a:srgbClr val="115E8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300" b="1">
                <a:solidFill>
                  <a:srgbClr val="FFFFFF"/>
                </a:solidFill>
                <a:latin typeface="Montserrat"/>
              </a:rPr>
              <a:t>Durum</a:t>
            </a:r>
          </a:p>
        </p:txBody>
      </p:sp>
      <p:sp>
        <p:nvSpPr>
          <p:cNvPr id="9" name="Rectangle: Rounded Corners 8">
            <a:extLst>
              <a:ext uri="{FF2B5EF4-FFF2-40B4-BE49-F238E27FC236}">
                <a16:creationId xmlns:a16="http://schemas.microsoft.com/office/drawing/2014/main" id="{C5BDE32A-E723-4E3B-AC68-E3A9291EC5BB}"/>
              </a:ext>
            </a:extLst>
          </p:cNvPr>
          <p:cNvSpPr/>
          <p:nvPr/>
        </p:nvSpPr>
        <p:spPr>
          <a:xfrm>
            <a:off x="3632200" y="3276600"/>
            <a:ext cx="1371600" cy="609600"/>
          </a:xfrm>
          <a:prstGeom prst="roundRect">
            <a:avLst/>
          </a:prstGeom>
          <a:solidFill>
            <a:srgbClr val="115E8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300" b="1">
                <a:solidFill>
                  <a:srgbClr val="FFFFFF"/>
                </a:solidFill>
                <a:latin typeface="Montserrat"/>
              </a:rPr>
              <a:t>Bağlam</a:t>
            </a:r>
          </a:p>
        </p:txBody>
      </p:sp>
      <p:sp>
        <p:nvSpPr>
          <p:cNvPr id="10" name="Rectangle: Rounded Corners 9">
            <a:extLst>
              <a:ext uri="{FF2B5EF4-FFF2-40B4-BE49-F238E27FC236}">
                <a16:creationId xmlns:a16="http://schemas.microsoft.com/office/drawing/2014/main" id="{A1253A28-702F-4160-A2E5-A3A865420CE4}"/>
              </a:ext>
            </a:extLst>
          </p:cNvPr>
          <p:cNvSpPr/>
          <p:nvPr/>
        </p:nvSpPr>
        <p:spPr>
          <a:xfrm>
            <a:off x="5130800" y="3276600"/>
            <a:ext cx="1371600" cy="609600"/>
          </a:xfrm>
          <a:prstGeom prst="roundRect">
            <a:avLst/>
          </a:prstGeom>
          <a:solidFill>
            <a:srgbClr val="115E8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300" b="1">
                <a:solidFill>
                  <a:srgbClr val="FFFFFF"/>
                </a:solidFill>
                <a:latin typeface="Montserrat"/>
              </a:rPr>
              <a:t>Karar</a:t>
            </a:r>
          </a:p>
        </p:txBody>
      </p:sp>
      <p:sp>
        <p:nvSpPr>
          <p:cNvPr id="11" name="Rectangle: Rounded Corners 10">
            <a:extLst>
              <a:ext uri="{FF2B5EF4-FFF2-40B4-BE49-F238E27FC236}">
                <a16:creationId xmlns:a16="http://schemas.microsoft.com/office/drawing/2014/main" id="{C1C19A5D-17C1-403C-BB64-CFCCBBB95056}"/>
              </a:ext>
            </a:extLst>
          </p:cNvPr>
          <p:cNvSpPr/>
          <p:nvPr/>
        </p:nvSpPr>
        <p:spPr>
          <a:xfrm>
            <a:off x="6629400" y="3276600"/>
            <a:ext cx="1371600" cy="609600"/>
          </a:xfrm>
          <a:prstGeom prst="roundRect">
            <a:avLst/>
          </a:prstGeom>
          <a:solidFill>
            <a:srgbClr val="115E8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300" b="1">
                <a:solidFill>
                  <a:srgbClr val="FFFFFF"/>
                </a:solidFill>
                <a:latin typeface="Montserrat"/>
              </a:rPr>
              <a:t>Sonuçlar</a:t>
            </a:r>
          </a:p>
        </p:txBody>
      </p:sp>
      <p:sp>
        <p:nvSpPr>
          <p:cNvPr id="12" name="Rectangle: Rounded Corners 11">
            <a:extLst>
              <a:ext uri="{FF2B5EF4-FFF2-40B4-BE49-F238E27FC236}">
                <a16:creationId xmlns:a16="http://schemas.microsoft.com/office/drawing/2014/main" id="{FFEE8E1D-3DEA-4472-98F8-A330A945BF7A}"/>
              </a:ext>
            </a:extLst>
          </p:cNvPr>
          <p:cNvSpPr/>
          <p:nvPr/>
        </p:nvSpPr>
        <p:spPr>
          <a:xfrm>
            <a:off x="635000" y="4089400"/>
            <a:ext cx="7366000" cy="939800"/>
          </a:xfrm>
          <a:prstGeom prst="roundRect">
            <a:avLst/>
          </a:prstGeom>
          <a:solidFill>
            <a:srgbClr val="FDF1E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Rectangle 12">
            <a:extLst>
              <a:ext uri="{FF2B5EF4-FFF2-40B4-BE49-F238E27FC236}">
                <a16:creationId xmlns:a16="http://schemas.microsoft.com/office/drawing/2014/main" id="{3A8346F5-F228-4136-A305-36AACC4DA004}"/>
              </a:ext>
            </a:extLst>
          </p:cNvPr>
          <p:cNvSpPr/>
          <p:nvPr/>
        </p:nvSpPr>
        <p:spPr>
          <a:xfrm>
            <a:off x="635000" y="4267200"/>
            <a:ext cx="88900" cy="584200"/>
          </a:xfrm>
          <a:prstGeom prst="rect">
            <a:avLst/>
          </a:prstGeom>
          <a:solidFill>
            <a:srgbClr val="E08A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8394F9FD-E8EE-4990-B011-0656A686145B}"/>
              </a:ext>
            </a:extLst>
          </p:cNvPr>
          <p:cNvSpPr txBox="1"/>
          <p:nvPr/>
        </p:nvSpPr>
        <p:spPr>
          <a:xfrm>
            <a:off x="914400" y="4165600"/>
            <a:ext cx="6934200" cy="787400"/>
          </a:xfrm>
          <a:prstGeom prst="rect">
            <a:avLst/>
          </a:prstGeom>
          <a:noFill/>
        </p:spPr>
        <p:txBody>
          <a:bodyPr vertOverflow="overflow" vert="horz" wrap="square" rtlCol="0" anchor="ctr" anchorCtr="0">
            <a:spAutoFit/>
          </a:bodyPr>
          <a:lstStyle/>
          <a:p>
            <a:pPr algn="l"/>
            <a:r>
              <a:rPr lang="en-US" sz="1300" b="1">
                <a:solidFill>
                  <a:srgbClr val="B5651A"/>
                </a:solidFill>
                <a:latin typeface="Open Sans"/>
                <a:ea typeface="Open Sans"/>
                <a:cs typeface="Open Sans"/>
              </a:rPr>
              <a:t>Kapsamlı ADR ayrıca: ilgili gereksinimler, varsayımlar, kısıtlar, seçenekler, gerekçe ve ödünleşimleri de içerir.</a:t>
            </a:r>
          </a:p>
        </p:txBody>
      </p:sp>
      <p:sp>
        <p:nvSpPr>
          <p:cNvPr id="15" name="Rectangle: Rounded Corners 14">
            <a:extLst>
              <a:ext uri="{FF2B5EF4-FFF2-40B4-BE49-F238E27FC236}">
                <a16:creationId xmlns:a16="http://schemas.microsoft.com/office/drawing/2014/main" id="{3D69FC9C-4AC0-4057-9881-EF25A8BDA682}"/>
              </a:ext>
            </a:extLst>
          </p:cNvPr>
          <p:cNvSpPr/>
          <p:nvPr/>
        </p:nvSpPr>
        <p:spPr>
          <a:xfrm>
            <a:off x="635000" y="5232400"/>
            <a:ext cx="7366000" cy="1295400"/>
          </a:xfrm>
          <a:prstGeom prst="roundRect">
            <a:avLst/>
          </a:prstGeom>
          <a:solidFill>
            <a:srgbClr val="115E8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928DDFA9-0571-4110-900F-B2A8EA8F2864}"/>
              </a:ext>
            </a:extLst>
          </p:cNvPr>
          <p:cNvSpPr txBox="1"/>
          <p:nvPr/>
        </p:nvSpPr>
        <p:spPr>
          <a:xfrm>
            <a:off x="939800" y="5308600"/>
            <a:ext cx="6781800" cy="1143000"/>
          </a:xfrm>
          <a:prstGeom prst="rect">
            <a:avLst/>
          </a:prstGeom>
          <a:noFill/>
        </p:spPr>
        <p:txBody>
          <a:bodyPr vertOverflow="overflow" vert="horz" wrap="square" rtlCol="0" anchor="ctr" anchorCtr="0">
            <a:spAutoFit/>
          </a:bodyPr>
          <a:lstStyle/>
          <a:p>
            <a:pPr algn="l"/>
            <a:r>
              <a:rPr lang="en-US" sz="1600" b="1">
                <a:solidFill>
                  <a:srgbClr val="FFFFFF"/>
                </a:solidFill>
                <a:latin typeface="Open Sans"/>
                <a:ea typeface="Open Sans"/>
                <a:cs typeface="Open Sans"/>
              </a:rPr>
              <a:t>Kod ne yaptığını söyler; ADR neden öyle tasarlandığını söyler.</a:t>
            </a:r>
          </a:p>
        </p:txBody>
      </p:sp>
      <p:sp>
        <p:nvSpPr>
          <p:cNvPr id="17" name="Rectangle 16">
            <a:extLst>
              <a:ext uri="{FF2B5EF4-FFF2-40B4-BE49-F238E27FC236}">
                <a16:creationId xmlns:a16="http://schemas.microsoft.com/office/drawing/2014/main" id="{C2C3FE9F-D266-4C8E-B98A-6EFDD4C2E8B4}"/>
              </a:ext>
            </a:extLst>
          </p:cNvPr>
          <p:cNvSpPr/>
          <p:nvPr/>
        </p:nvSpPr>
        <p:spPr>
          <a:xfrm>
            <a:off x="8305800" y="1676400"/>
            <a:ext cx="3327400" cy="4318000"/>
          </a:xfrm>
          <a:prstGeom prst="rect">
            <a:avLst/>
          </a:prstGeom>
          <a:solidFill>
            <a:srgbClr val="EEF3F8"/>
          </a:solidFill>
          <a:ln w="12700" cap="flat" cmpd="sng" algn="ctr">
            <a:solidFill>
              <a:srgbClr val="D5DEE7"/>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pic>
        <p:nvPicPr>
          <p:cNvPr id="18" name="Picture 17">
            <a:extLst>
              <a:ext uri="{FF2B5EF4-FFF2-40B4-BE49-F238E27FC236}">
                <a16:creationId xmlns:a16="http://schemas.microsoft.com/office/drawing/2014/main" id="{F7E6BEC1-9AA1-EA64-26AA-91F4BA850BF1}"/>
              </a:ext>
            </a:extLst>
          </p:cNvPr>
          <p:cNvPicPr>
            <a:picLocks noChangeAspect="1"/>
          </p:cNvPicPr>
          <p:nvPr/>
        </p:nvPicPr>
        <p:blipFill>
          <a:blip r:embed="rId3"/>
          <a:stretch>
            <a:fillRect/>
          </a:stretch>
        </p:blipFill>
        <p:spPr>
          <a:xfrm>
            <a:off x="8407400" y="1778000"/>
            <a:ext cx="3124200" cy="4164583"/>
          </a:xfrm>
          <a:prstGeom prst="rect">
            <a:avLst/>
          </a:prstGeom>
        </p:spPr>
      </p:pic>
    </p:spTree>
    <p:extLst>
      <p:ext uri="{BB962C8B-B14F-4D97-AF65-F5344CB8AC3E}">
        <p14:creationId xmlns:p14="http://schemas.microsoft.com/office/powerpoint/2010/main" val="37213946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2F4D5-8462-8410-AB95-5997392E98AF}"/>
            </a:ext>
          </a:extLst>
        </p:cNvPr>
        <p:cNvGrpSpPr/>
        <p:nvPr/>
      </p:nvGrpSpPr>
      <p:grpSpPr>
        <a:xfrm>
          <a:off x="0" y="0"/>
          <a:ext cx="0" cy="0"/>
          <a:chOff x="0" y="0"/>
          <a:chExt cx="0" cy="0"/>
        </a:xfrm>
      </p:grpSpPr>
      <p:pic>
        <p:nvPicPr>
          <p:cNvPr id="20" name="Picture 19">
            <a:extLst>
              <a:ext uri="{FF2B5EF4-FFF2-40B4-BE49-F238E27FC236}">
                <a16:creationId xmlns:a16="http://schemas.microsoft.com/office/drawing/2014/main" id="{538C38AC-BFAE-423E-6E2C-BE7E487BA207}"/>
              </a:ext>
            </a:extLst>
          </p:cNvPr>
          <p:cNvPicPr>
            <a:picLocks noChangeAspect="1"/>
          </p:cNvPicPr>
          <p:nvPr/>
        </p:nvPicPr>
        <p:blipFill>
          <a:blip r:embed="rId3"/>
          <a:stretch>
            <a:fillRect/>
          </a:stretch>
        </p:blipFill>
        <p:spPr>
          <a:xfrm>
            <a:off x="-172825" y="-121024"/>
            <a:ext cx="12364825" cy="7100048"/>
          </a:xfrm>
          <a:prstGeom prst="rect">
            <a:avLst/>
          </a:prstGeom>
        </p:spPr>
      </p:pic>
    </p:spTree>
    <p:extLst>
      <p:ext uri="{BB962C8B-B14F-4D97-AF65-F5344CB8AC3E}">
        <p14:creationId xmlns:p14="http://schemas.microsoft.com/office/powerpoint/2010/main" val="6735510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CDB01-10B2-0148-FBB3-2D3DBE08F6D9}"/>
              </a:ext>
            </a:extLst>
          </p:cNvPr>
          <p:cNvSpPr>
            <a:spLocks noGrp="1"/>
          </p:cNvSpPr>
          <p:nvPr>
            <p:ph type="title"/>
          </p:nvPr>
        </p:nvSpPr>
        <p:spPr>
          <a:xfrm>
            <a:off x="635000" y="508000"/>
            <a:ext cx="10922000" cy="762000"/>
          </a:xfrm>
        </p:spPr>
        <p:txBody>
          <a:bodyPr>
            <a:normAutofit/>
          </a:bodyPr>
          <a:lstStyle/>
          <a:p>
            <a:r>
              <a:rPr lang="en-US" sz="2900" b="1">
                <a:latin typeface="Montserrat"/>
              </a:rPr>
              <a:t>Konferans Deneyimi ve Networking</a:t>
            </a:r>
          </a:p>
        </p:txBody>
      </p:sp>
      <p:sp>
        <p:nvSpPr>
          <p:cNvPr id="3" name="Rectangle 2">
            <a:extLst>
              <a:ext uri="{FF2B5EF4-FFF2-40B4-BE49-F238E27FC236}">
                <a16:creationId xmlns:a16="http://schemas.microsoft.com/office/drawing/2014/main" id="{2B539439-77CD-44B4-AE8D-3B4B45E0AE9D}"/>
              </a:ext>
            </a:extLst>
          </p:cNvPr>
          <p:cNvSpPr/>
          <p:nvPr/>
        </p:nvSpPr>
        <p:spPr>
          <a:xfrm>
            <a:off x="660400" y="1346200"/>
            <a:ext cx="889000" cy="63500"/>
          </a:xfrm>
          <a:prstGeom prst="rect">
            <a:avLst/>
          </a:prstGeom>
          <a:solidFill>
            <a:srgbClr val="E08A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Rectangle 3">
            <a:extLst>
              <a:ext uri="{FF2B5EF4-FFF2-40B4-BE49-F238E27FC236}">
                <a16:creationId xmlns:a16="http://schemas.microsoft.com/office/drawing/2014/main" id="{3FA84542-3870-482D-BE24-5C946CDE8F38}"/>
              </a:ext>
            </a:extLst>
          </p:cNvPr>
          <p:cNvSpPr/>
          <p:nvPr/>
        </p:nvSpPr>
        <p:spPr>
          <a:xfrm>
            <a:off x="584200" y="1625600"/>
            <a:ext cx="4724400" cy="4724400"/>
          </a:xfrm>
          <a:prstGeom prst="rect">
            <a:avLst/>
          </a:prstGeom>
          <a:solidFill>
            <a:srgbClr val="EEF3F8"/>
          </a:solidFill>
          <a:ln w="12700" cap="flat" cmpd="sng" algn="ctr">
            <a:solidFill>
              <a:srgbClr val="D5DEE7"/>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013A4167-F2CE-46A3-8B76-0F671C7DDD50}"/>
              </a:ext>
            </a:extLst>
          </p:cNvPr>
          <p:cNvSpPr txBox="1"/>
          <p:nvPr/>
        </p:nvSpPr>
        <p:spPr>
          <a:xfrm>
            <a:off x="5562600" y="1701800"/>
            <a:ext cx="6070600" cy="1015663"/>
          </a:xfrm>
          <a:prstGeom prst="rect">
            <a:avLst/>
          </a:prstGeom>
          <a:noFill/>
        </p:spPr>
        <p:txBody>
          <a:bodyPr vertOverflow="overflow" vert="horz" wrap="square" rtlCol="0" anchor="t">
            <a:spAutoFit/>
          </a:bodyPr>
          <a:lstStyle/>
          <a:p>
            <a:r>
              <a:rPr lang="en-US" sz="1500" dirty="0">
                <a:solidFill>
                  <a:srgbClr val="24364A"/>
                </a:solidFill>
                <a:latin typeface="Open Sans"/>
                <a:ea typeface="Open Sans"/>
                <a:cs typeface="Open Sans"/>
              </a:rPr>
              <a:t>•  Bosch ve </a:t>
            </a:r>
            <a:r>
              <a:rPr lang="en-US" sz="1500" dirty="0" err="1">
                <a:solidFill>
                  <a:srgbClr val="24364A"/>
                </a:solidFill>
                <a:latin typeface="Open Sans"/>
                <a:ea typeface="Open Sans"/>
                <a:cs typeface="Open Sans"/>
              </a:rPr>
              <a:t>Aselsan'dan</a:t>
            </a:r>
            <a:r>
              <a:rPr lang="en-US" sz="1500" dirty="0">
                <a:solidFill>
                  <a:srgbClr val="24364A"/>
                </a:solidFill>
                <a:latin typeface="Open Sans"/>
                <a:ea typeface="Open Sans"/>
                <a:cs typeface="Open Sans"/>
              </a:rPr>
              <a:t> Türk </a:t>
            </a:r>
            <a:r>
              <a:rPr lang="en-US" sz="1500" dirty="0" err="1">
                <a:solidFill>
                  <a:srgbClr val="24364A"/>
                </a:solidFill>
                <a:latin typeface="Open Sans"/>
                <a:ea typeface="Open Sans"/>
                <a:cs typeface="Open Sans"/>
              </a:rPr>
              <a:t>meslektaşlarla</a:t>
            </a:r>
            <a:r>
              <a:rPr lang="en-US" sz="1500" dirty="0">
                <a:solidFill>
                  <a:srgbClr val="24364A"/>
                </a:solidFill>
                <a:latin typeface="Open Sans"/>
                <a:ea typeface="Open Sans"/>
                <a:cs typeface="Open Sans"/>
              </a:rPr>
              <a:t> </a:t>
            </a:r>
            <a:r>
              <a:rPr lang="en-US" sz="1500" dirty="0" err="1">
                <a:solidFill>
                  <a:srgbClr val="24364A"/>
                </a:solidFill>
                <a:latin typeface="Open Sans"/>
                <a:ea typeface="Open Sans"/>
                <a:cs typeface="Open Sans"/>
              </a:rPr>
              <a:t>tanıştım</a:t>
            </a:r>
            <a:r>
              <a:rPr lang="en-US" sz="1500" dirty="0">
                <a:solidFill>
                  <a:srgbClr val="24364A"/>
                </a:solidFill>
                <a:latin typeface="Open Sans"/>
                <a:ea typeface="Open Sans"/>
                <a:cs typeface="Open Sans"/>
              </a:rPr>
              <a:t>
</a:t>
            </a:r>
            <a:r>
              <a:rPr lang="en-US" sz="1500" dirty="0">
                <a:solidFill>
                  <a:srgbClr val="24364A"/>
                </a:solidFill>
                <a:ea typeface="Open Sans"/>
                <a:cs typeface="Open Sans"/>
              </a:rPr>
              <a:t>•  </a:t>
            </a:r>
            <a:r>
              <a:rPr lang="en-US" sz="1500" dirty="0" err="1">
                <a:solidFill>
                  <a:srgbClr val="24364A"/>
                </a:solidFill>
                <a:ea typeface="Open Sans"/>
                <a:cs typeface="Open Sans"/>
              </a:rPr>
              <a:t>İspanyol’ların</a:t>
            </a:r>
            <a:r>
              <a:rPr lang="en-US" sz="1500" dirty="0">
                <a:solidFill>
                  <a:srgbClr val="24364A"/>
                </a:solidFill>
                <a:ea typeface="Open Sans"/>
                <a:cs typeface="Open Sans"/>
              </a:rPr>
              <a:t> </a:t>
            </a:r>
            <a:r>
              <a:rPr lang="en-US" sz="1500" dirty="0" err="1">
                <a:solidFill>
                  <a:srgbClr val="24364A"/>
                </a:solidFill>
                <a:ea typeface="Open Sans"/>
                <a:cs typeface="Open Sans"/>
              </a:rPr>
              <a:t>İngilizce’yi</a:t>
            </a:r>
            <a:r>
              <a:rPr lang="en-US" sz="1500" dirty="0">
                <a:solidFill>
                  <a:srgbClr val="24364A"/>
                </a:solidFill>
                <a:ea typeface="Open Sans"/>
                <a:cs typeface="Open Sans"/>
              </a:rPr>
              <a:t> </a:t>
            </a:r>
            <a:r>
              <a:rPr lang="en-US" sz="1500" dirty="0" err="1">
                <a:solidFill>
                  <a:srgbClr val="24364A"/>
                </a:solidFill>
                <a:ea typeface="Open Sans"/>
                <a:cs typeface="Open Sans"/>
              </a:rPr>
              <a:t>az</a:t>
            </a:r>
            <a:r>
              <a:rPr lang="en-US" sz="1500" dirty="0">
                <a:solidFill>
                  <a:srgbClr val="24364A"/>
                </a:solidFill>
                <a:ea typeface="Open Sans"/>
                <a:cs typeface="Open Sans"/>
              </a:rPr>
              <a:t> </a:t>
            </a:r>
            <a:r>
              <a:rPr lang="en-US" sz="1500" dirty="0" err="1">
                <a:solidFill>
                  <a:srgbClr val="24364A"/>
                </a:solidFill>
                <a:ea typeface="Open Sans"/>
                <a:cs typeface="Open Sans"/>
              </a:rPr>
              <a:t>bilmesi</a:t>
            </a:r>
            <a:r>
              <a:rPr lang="en-US" sz="1500" dirty="0">
                <a:solidFill>
                  <a:srgbClr val="24364A"/>
                </a:solidFill>
                <a:ea typeface="Open Sans"/>
                <a:cs typeface="Open Sans"/>
              </a:rPr>
              <a:t> </a:t>
            </a:r>
            <a:r>
              <a:rPr lang="en-US" sz="1500" dirty="0" err="1">
                <a:solidFill>
                  <a:srgbClr val="24364A"/>
                </a:solidFill>
                <a:ea typeface="Open Sans"/>
                <a:cs typeface="Open Sans"/>
              </a:rPr>
              <a:t>şaşırttı</a:t>
            </a:r>
            <a:endParaRPr lang="en-US" sz="1500" dirty="0">
              <a:solidFill>
                <a:srgbClr val="24364A"/>
              </a:solidFill>
              <a:ea typeface="Open Sans"/>
              <a:cs typeface="Open Sans"/>
            </a:endParaRPr>
          </a:p>
          <a:p>
            <a:endParaRPr lang="en-US" sz="1500" dirty="0">
              <a:solidFill>
                <a:srgbClr val="24364A"/>
              </a:solidFill>
              <a:ea typeface="Open Sans"/>
              <a:cs typeface="Open Sans"/>
            </a:endParaRPr>
          </a:p>
          <a:p>
            <a:pPr algn="l"/>
            <a:endParaRPr lang="en-US" sz="1500" dirty="0">
              <a:solidFill>
                <a:srgbClr val="24364A"/>
              </a:solidFill>
              <a:latin typeface="Open Sans"/>
              <a:ea typeface="Open Sans"/>
              <a:cs typeface="Open Sans"/>
            </a:endParaRPr>
          </a:p>
        </p:txBody>
      </p:sp>
      <p:sp>
        <p:nvSpPr>
          <p:cNvPr id="6" name="Rectangle: Rounded Corners 5">
            <a:extLst>
              <a:ext uri="{FF2B5EF4-FFF2-40B4-BE49-F238E27FC236}">
                <a16:creationId xmlns:a16="http://schemas.microsoft.com/office/drawing/2014/main" id="{B0A5631C-25E0-4465-B987-A947314A3D49}"/>
              </a:ext>
            </a:extLst>
          </p:cNvPr>
          <p:cNvSpPr/>
          <p:nvPr/>
        </p:nvSpPr>
        <p:spPr>
          <a:xfrm>
            <a:off x="5562600" y="5257800"/>
            <a:ext cx="6070600" cy="1168400"/>
          </a:xfrm>
          <a:prstGeom prst="roundRect">
            <a:avLst/>
          </a:prstGeom>
          <a:solidFill>
            <a:srgbClr val="FDF1E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ectangle 6">
            <a:extLst>
              <a:ext uri="{FF2B5EF4-FFF2-40B4-BE49-F238E27FC236}">
                <a16:creationId xmlns:a16="http://schemas.microsoft.com/office/drawing/2014/main" id="{65F1AD92-D2C9-483D-A20F-5D23B7E39C36}"/>
              </a:ext>
            </a:extLst>
          </p:cNvPr>
          <p:cNvSpPr/>
          <p:nvPr/>
        </p:nvSpPr>
        <p:spPr>
          <a:xfrm>
            <a:off x="5562600" y="5461000"/>
            <a:ext cx="88900" cy="762000"/>
          </a:xfrm>
          <a:prstGeom prst="rect">
            <a:avLst/>
          </a:prstGeom>
          <a:solidFill>
            <a:srgbClr val="E08A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40464BF6-A037-44DE-8568-69FE775CB8DA}"/>
              </a:ext>
            </a:extLst>
          </p:cNvPr>
          <p:cNvSpPr txBox="1"/>
          <p:nvPr/>
        </p:nvSpPr>
        <p:spPr>
          <a:xfrm>
            <a:off x="5842000" y="5334000"/>
            <a:ext cx="5664200" cy="1016000"/>
          </a:xfrm>
          <a:prstGeom prst="rect">
            <a:avLst/>
          </a:prstGeom>
          <a:noFill/>
        </p:spPr>
        <p:txBody>
          <a:bodyPr vertOverflow="overflow" vert="horz" wrap="square" rtlCol="0" anchor="ctr" anchorCtr="0">
            <a:spAutoFit/>
          </a:bodyPr>
          <a:lstStyle/>
          <a:p>
            <a:pPr algn="l"/>
            <a:r>
              <a:rPr lang="en-US" sz="1450" b="1" i="1">
                <a:solidFill>
                  <a:srgbClr val="B5651A"/>
                </a:solidFill>
                <a:latin typeface="Open Sans"/>
                <a:ea typeface="Open Sans"/>
                <a:cs typeface="Open Sans"/>
              </a:rPr>
              <a:t>Bir koridor sohbeti, bazen koca bir makaleden daha çok şey öğretiyor.</a:t>
            </a:r>
          </a:p>
        </p:txBody>
      </p:sp>
      <p:pic>
        <p:nvPicPr>
          <p:cNvPr id="9" name="Picture 8">
            <a:extLst>
              <a:ext uri="{FF2B5EF4-FFF2-40B4-BE49-F238E27FC236}">
                <a16:creationId xmlns:a16="http://schemas.microsoft.com/office/drawing/2014/main" id="{7035D5E4-99BD-63FE-AFFC-EE77DFC5EA7E}"/>
              </a:ext>
            </a:extLst>
          </p:cNvPr>
          <p:cNvPicPr>
            <a:picLocks noChangeAspect="1"/>
          </p:cNvPicPr>
          <p:nvPr/>
        </p:nvPicPr>
        <p:blipFill>
          <a:blip r:embed="rId3"/>
          <a:stretch>
            <a:fillRect/>
          </a:stretch>
        </p:blipFill>
        <p:spPr>
          <a:xfrm>
            <a:off x="685800" y="1727200"/>
            <a:ext cx="4521200" cy="4521200"/>
          </a:xfrm>
          <a:prstGeom prst="rect">
            <a:avLst/>
          </a:prstGeom>
        </p:spPr>
      </p:pic>
    </p:spTree>
    <p:extLst>
      <p:ext uri="{BB962C8B-B14F-4D97-AF65-F5344CB8AC3E}">
        <p14:creationId xmlns:p14="http://schemas.microsoft.com/office/powerpoint/2010/main" val="35875310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6C33A-CA5A-D31A-58FA-430C4C0BB7CA}"/>
              </a:ext>
            </a:extLst>
          </p:cNvPr>
          <p:cNvSpPr>
            <a:spLocks noGrp="1"/>
          </p:cNvSpPr>
          <p:nvPr>
            <p:ph type="title"/>
          </p:nvPr>
        </p:nvSpPr>
        <p:spPr>
          <a:xfrm>
            <a:off x="635000" y="508000"/>
            <a:ext cx="10922000" cy="762000"/>
          </a:xfrm>
        </p:spPr>
        <p:txBody>
          <a:bodyPr>
            <a:normAutofit/>
          </a:bodyPr>
          <a:lstStyle/>
          <a:p>
            <a:r>
              <a:rPr lang="en-US" sz="3000" b="1">
                <a:latin typeface="Montserrat"/>
              </a:rPr>
              <a:t>Temel Çıkarımlarım</a:t>
            </a:r>
          </a:p>
        </p:txBody>
      </p:sp>
      <p:sp>
        <p:nvSpPr>
          <p:cNvPr id="4" name="Rectangle: Rounded Corners 3">
            <a:extLst>
              <a:ext uri="{FF2B5EF4-FFF2-40B4-BE49-F238E27FC236}">
                <a16:creationId xmlns:a16="http://schemas.microsoft.com/office/drawing/2014/main" id="{56624E02-6EA7-4FB1-876E-2E7B9DD97C74}"/>
              </a:ext>
            </a:extLst>
          </p:cNvPr>
          <p:cNvSpPr/>
          <p:nvPr/>
        </p:nvSpPr>
        <p:spPr>
          <a:xfrm>
            <a:off x="635000" y="1373094"/>
            <a:ext cx="10922000" cy="914400"/>
          </a:xfrm>
          <a:prstGeom prst="roundRect">
            <a:avLst/>
          </a:prstGeom>
          <a:solidFill>
            <a:srgbClr val="F4F8FB"/>
          </a:solidFill>
          <a:ln w="12700" cap="flat" cmpd="sng" algn="ctr">
            <a:solidFill>
              <a:srgbClr val="E2EAF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Oval 4">
            <a:extLst>
              <a:ext uri="{FF2B5EF4-FFF2-40B4-BE49-F238E27FC236}">
                <a16:creationId xmlns:a16="http://schemas.microsoft.com/office/drawing/2014/main" id="{3327DE69-9863-45F5-8EE9-DA7872D87A3B}"/>
              </a:ext>
            </a:extLst>
          </p:cNvPr>
          <p:cNvSpPr/>
          <p:nvPr/>
        </p:nvSpPr>
        <p:spPr>
          <a:xfrm>
            <a:off x="838200" y="1550894"/>
            <a:ext cx="558800" cy="558800"/>
          </a:xfrm>
          <a:prstGeom prst="ellipse">
            <a:avLst/>
          </a:prstGeom>
          <a:solidFill>
            <a:srgbClr val="115E8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b="1">
                <a:solidFill>
                  <a:srgbClr val="FFFFFF"/>
                </a:solidFill>
                <a:latin typeface="Montserrat"/>
              </a:rPr>
              <a:t>1</a:t>
            </a:r>
          </a:p>
        </p:txBody>
      </p:sp>
      <p:sp>
        <p:nvSpPr>
          <p:cNvPr id="6" name="TextBox 5">
            <a:extLst>
              <a:ext uri="{FF2B5EF4-FFF2-40B4-BE49-F238E27FC236}">
                <a16:creationId xmlns:a16="http://schemas.microsoft.com/office/drawing/2014/main" id="{F8181C1C-DE58-4E35-B8F1-0C7ABB7DE30D}"/>
              </a:ext>
            </a:extLst>
          </p:cNvPr>
          <p:cNvSpPr txBox="1"/>
          <p:nvPr/>
        </p:nvSpPr>
        <p:spPr>
          <a:xfrm>
            <a:off x="1651000" y="1487394"/>
            <a:ext cx="9652000" cy="355600"/>
          </a:xfrm>
          <a:prstGeom prst="rect">
            <a:avLst/>
          </a:prstGeom>
          <a:noFill/>
        </p:spPr>
        <p:txBody>
          <a:bodyPr vertOverflow="overflow" vert="horz" wrap="square" rtlCol="0" anchor="t">
            <a:spAutoFit/>
          </a:bodyPr>
          <a:lstStyle/>
          <a:p>
            <a:pPr algn="l"/>
            <a:r>
              <a:rPr lang="en-US" sz="1650" b="1">
                <a:solidFill>
                  <a:srgbClr val="16263A"/>
                </a:solidFill>
                <a:latin typeface="Montserrat"/>
              </a:rPr>
              <a:t>AI özellikleri veri sınırlarına ihtiyaç duyar</a:t>
            </a:r>
          </a:p>
        </p:txBody>
      </p:sp>
      <p:sp>
        <p:nvSpPr>
          <p:cNvPr id="7" name="TextBox 6">
            <a:extLst>
              <a:ext uri="{FF2B5EF4-FFF2-40B4-BE49-F238E27FC236}">
                <a16:creationId xmlns:a16="http://schemas.microsoft.com/office/drawing/2014/main" id="{A94A96A0-B686-4375-BF17-D7BA0F5FB65C}"/>
              </a:ext>
            </a:extLst>
          </p:cNvPr>
          <p:cNvSpPr txBox="1"/>
          <p:nvPr/>
        </p:nvSpPr>
        <p:spPr>
          <a:xfrm>
            <a:off x="1651000" y="1868394"/>
            <a:ext cx="9652000" cy="330200"/>
          </a:xfrm>
          <a:prstGeom prst="rect">
            <a:avLst/>
          </a:prstGeom>
          <a:noFill/>
        </p:spPr>
        <p:txBody>
          <a:bodyPr vertOverflow="overflow" vert="horz" wrap="square" rtlCol="0" anchor="t">
            <a:spAutoFit/>
          </a:bodyPr>
          <a:lstStyle/>
          <a:p>
            <a:pPr algn="l"/>
            <a:r>
              <a:rPr lang="en-US" sz="1300">
                <a:solidFill>
                  <a:srgbClr val="5B6B7B"/>
                </a:solidFill>
                <a:latin typeface="Open Sans"/>
                <a:ea typeface="Open Sans"/>
                <a:cs typeface="Open Sans"/>
              </a:rPr>
              <a:t>Arayüz doğallaştıkça izinler, bağlam ve izin verilen eylemler daha da önemli olur.</a:t>
            </a:r>
          </a:p>
        </p:txBody>
      </p:sp>
      <p:sp>
        <p:nvSpPr>
          <p:cNvPr id="8" name="Rectangle: Rounded Corners 7">
            <a:extLst>
              <a:ext uri="{FF2B5EF4-FFF2-40B4-BE49-F238E27FC236}">
                <a16:creationId xmlns:a16="http://schemas.microsoft.com/office/drawing/2014/main" id="{FAB8012B-147B-4B3A-8D3C-014336C2A94D}"/>
              </a:ext>
            </a:extLst>
          </p:cNvPr>
          <p:cNvSpPr/>
          <p:nvPr/>
        </p:nvSpPr>
        <p:spPr>
          <a:xfrm>
            <a:off x="635000" y="2350994"/>
            <a:ext cx="10922000" cy="914400"/>
          </a:xfrm>
          <a:prstGeom prst="roundRect">
            <a:avLst/>
          </a:prstGeom>
          <a:solidFill>
            <a:srgbClr val="FFFFFF"/>
          </a:solidFill>
          <a:ln w="12700" cap="flat" cmpd="sng" algn="ctr">
            <a:solidFill>
              <a:srgbClr val="E2EAF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Oval 8">
            <a:extLst>
              <a:ext uri="{FF2B5EF4-FFF2-40B4-BE49-F238E27FC236}">
                <a16:creationId xmlns:a16="http://schemas.microsoft.com/office/drawing/2014/main" id="{29AA970A-4BF7-4FDA-B538-17024173BF75}"/>
              </a:ext>
            </a:extLst>
          </p:cNvPr>
          <p:cNvSpPr/>
          <p:nvPr/>
        </p:nvSpPr>
        <p:spPr>
          <a:xfrm>
            <a:off x="838200" y="2528794"/>
            <a:ext cx="558800" cy="558800"/>
          </a:xfrm>
          <a:prstGeom prst="ellipse">
            <a:avLst/>
          </a:prstGeom>
          <a:solidFill>
            <a:srgbClr val="115E8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b="1">
                <a:solidFill>
                  <a:srgbClr val="FFFFFF"/>
                </a:solidFill>
                <a:latin typeface="Montserrat"/>
              </a:rPr>
              <a:t>2</a:t>
            </a:r>
          </a:p>
        </p:txBody>
      </p:sp>
      <p:sp>
        <p:nvSpPr>
          <p:cNvPr id="10" name="TextBox 9">
            <a:extLst>
              <a:ext uri="{FF2B5EF4-FFF2-40B4-BE49-F238E27FC236}">
                <a16:creationId xmlns:a16="http://schemas.microsoft.com/office/drawing/2014/main" id="{6182008F-B149-4430-96FC-223E25171C23}"/>
              </a:ext>
            </a:extLst>
          </p:cNvPr>
          <p:cNvSpPr txBox="1"/>
          <p:nvPr/>
        </p:nvSpPr>
        <p:spPr>
          <a:xfrm>
            <a:off x="1651000" y="2465294"/>
            <a:ext cx="9652000" cy="355600"/>
          </a:xfrm>
          <a:prstGeom prst="rect">
            <a:avLst/>
          </a:prstGeom>
          <a:noFill/>
        </p:spPr>
        <p:txBody>
          <a:bodyPr vertOverflow="overflow" vert="horz" wrap="square" rtlCol="0" anchor="t">
            <a:spAutoFit/>
          </a:bodyPr>
          <a:lstStyle/>
          <a:p>
            <a:pPr algn="l"/>
            <a:r>
              <a:rPr lang="en-US" sz="1650" b="1">
                <a:solidFill>
                  <a:srgbClr val="16263A"/>
                </a:solidFill>
                <a:latin typeface="Montserrat"/>
              </a:rPr>
              <a:t>Doğal dil bir ürün arayüzü haline geliyor</a:t>
            </a:r>
          </a:p>
        </p:txBody>
      </p:sp>
      <p:sp>
        <p:nvSpPr>
          <p:cNvPr id="11" name="TextBox 10">
            <a:extLst>
              <a:ext uri="{FF2B5EF4-FFF2-40B4-BE49-F238E27FC236}">
                <a16:creationId xmlns:a16="http://schemas.microsoft.com/office/drawing/2014/main" id="{40A0E5A1-3FF5-459E-B6F9-52656CD04EF1}"/>
              </a:ext>
            </a:extLst>
          </p:cNvPr>
          <p:cNvSpPr txBox="1"/>
          <p:nvPr/>
        </p:nvSpPr>
        <p:spPr>
          <a:xfrm>
            <a:off x="1651000" y="2846294"/>
            <a:ext cx="9652000" cy="292388"/>
          </a:xfrm>
          <a:prstGeom prst="rect">
            <a:avLst/>
          </a:prstGeom>
          <a:noFill/>
        </p:spPr>
        <p:txBody>
          <a:bodyPr vertOverflow="overflow" vert="horz" wrap="square" rtlCol="0" anchor="t">
            <a:spAutoFit/>
          </a:bodyPr>
          <a:lstStyle/>
          <a:p>
            <a:pPr algn="l"/>
            <a:r>
              <a:rPr lang="en-US" sz="1300" dirty="0" err="1">
                <a:solidFill>
                  <a:srgbClr val="5B6B7B"/>
                </a:solidFill>
                <a:latin typeface="Open Sans"/>
                <a:ea typeface="Open Sans"/>
                <a:cs typeface="Open Sans"/>
              </a:rPr>
              <a:t>Kullanıcılar</a:t>
            </a:r>
            <a:r>
              <a:rPr lang="en-US" sz="1300" dirty="0">
                <a:solidFill>
                  <a:srgbClr val="5B6B7B"/>
                </a:solidFill>
                <a:latin typeface="Open Sans"/>
                <a:ea typeface="Open Sans"/>
                <a:cs typeface="Open Sans"/>
              </a:rPr>
              <a:t> </a:t>
            </a:r>
            <a:r>
              <a:rPr lang="en-US" sz="1300" dirty="0" err="1">
                <a:solidFill>
                  <a:srgbClr val="5B6B7B"/>
                </a:solidFill>
                <a:latin typeface="Open Sans"/>
                <a:ea typeface="Open Sans"/>
                <a:cs typeface="Open Sans"/>
              </a:rPr>
              <a:t>UI'da</a:t>
            </a:r>
            <a:r>
              <a:rPr lang="en-US" sz="1300" dirty="0">
                <a:solidFill>
                  <a:srgbClr val="5B6B7B"/>
                </a:solidFill>
                <a:latin typeface="Open Sans"/>
                <a:ea typeface="Open Sans"/>
                <a:cs typeface="Open Sans"/>
              </a:rPr>
              <a:t> </a:t>
            </a:r>
            <a:r>
              <a:rPr lang="en-US" sz="1300" dirty="0" err="1">
                <a:solidFill>
                  <a:srgbClr val="5B6B7B"/>
                </a:solidFill>
                <a:latin typeface="Open Sans"/>
                <a:ea typeface="Open Sans"/>
                <a:cs typeface="Open Sans"/>
              </a:rPr>
              <a:t>kaybolmak</a:t>
            </a:r>
            <a:r>
              <a:rPr lang="en-US" sz="1300" dirty="0">
                <a:solidFill>
                  <a:srgbClr val="5B6B7B"/>
                </a:solidFill>
                <a:latin typeface="Open Sans"/>
                <a:ea typeface="Open Sans"/>
                <a:cs typeface="Open Sans"/>
              </a:rPr>
              <a:t> değil, </a:t>
            </a:r>
            <a:r>
              <a:rPr lang="en-US" sz="1300" dirty="0" err="1">
                <a:solidFill>
                  <a:srgbClr val="5B6B7B"/>
                </a:solidFill>
                <a:latin typeface="Open Sans"/>
                <a:ea typeface="Open Sans"/>
                <a:cs typeface="Open Sans"/>
              </a:rPr>
              <a:t>doğrudan</a:t>
            </a:r>
            <a:r>
              <a:rPr lang="en-US" sz="1300" dirty="0">
                <a:solidFill>
                  <a:srgbClr val="5B6B7B"/>
                </a:solidFill>
                <a:latin typeface="Open Sans"/>
                <a:ea typeface="Open Sans"/>
                <a:cs typeface="Open Sans"/>
              </a:rPr>
              <a:t> </a:t>
            </a:r>
            <a:r>
              <a:rPr lang="en-US" sz="1300" dirty="0" err="1">
                <a:solidFill>
                  <a:srgbClr val="5B6B7B"/>
                </a:solidFill>
                <a:latin typeface="Open Sans"/>
                <a:ea typeface="Open Sans"/>
                <a:cs typeface="Open Sans"/>
              </a:rPr>
              <a:t>yanıt</a:t>
            </a:r>
            <a:r>
              <a:rPr lang="en-US" sz="1300" dirty="0">
                <a:solidFill>
                  <a:srgbClr val="5B6B7B"/>
                </a:solidFill>
                <a:latin typeface="Open Sans"/>
                <a:ea typeface="Open Sans"/>
                <a:cs typeface="Open Sans"/>
              </a:rPr>
              <a:t> </a:t>
            </a:r>
            <a:r>
              <a:rPr lang="en-US" sz="1300" dirty="0" err="1">
                <a:solidFill>
                  <a:srgbClr val="5B6B7B"/>
                </a:solidFill>
                <a:latin typeface="Open Sans"/>
                <a:ea typeface="Open Sans"/>
                <a:cs typeface="Open Sans"/>
              </a:rPr>
              <a:t>istiyor</a:t>
            </a:r>
            <a:r>
              <a:rPr lang="en-US" sz="1300" dirty="0">
                <a:solidFill>
                  <a:srgbClr val="5B6B7B"/>
                </a:solidFill>
                <a:latin typeface="Open Sans"/>
                <a:ea typeface="Open Sans"/>
                <a:cs typeface="Open Sans"/>
              </a:rPr>
              <a:t>. Kritik </a:t>
            </a:r>
            <a:r>
              <a:rPr lang="en-US" sz="1300" dirty="0" err="1">
                <a:solidFill>
                  <a:srgbClr val="5B6B7B"/>
                </a:solidFill>
                <a:latin typeface="Open Sans"/>
                <a:ea typeface="Open Sans"/>
                <a:cs typeface="Open Sans"/>
              </a:rPr>
              <a:t>nokta</a:t>
            </a:r>
            <a:r>
              <a:rPr lang="en-US" sz="1300" dirty="0">
                <a:solidFill>
                  <a:srgbClr val="5B6B7B"/>
                </a:solidFill>
                <a:latin typeface="Open Sans"/>
                <a:ea typeface="Open Sans"/>
                <a:cs typeface="Open Sans"/>
              </a:rPr>
              <a:t>: UI ne </a:t>
            </a:r>
            <a:r>
              <a:rPr lang="en-US" sz="1300" dirty="0" err="1">
                <a:solidFill>
                  <a:srgbClr val="5B6B7B"/>
                </a:solidFill>
                <a:latin typeface="Open Sans"/>
                <a:ea typeface="Open Sans"/>
                <a:cs typeface="Open Sans"/>
              </a:rPr>
              <a:t>kadar</a:t>
            </a:r>
            <a:r>
              <a:rPr lang="en-US" sz="1300" dirty="0">
                <a:solidFill>
                  <a:srgbClr val="5B6B7B"/>
                </a:solidFill>
                <a:latin typeface="Open Sans"/>
                <a:ea typeface="Open Sans"/>
                <a:cs typeface="Open Sans"/>
              </a:rPr>
              <a:t> </a:t>
            </a:r>
            <a:r>
              <a:rPr lang="en-US" sz="1300" dirty="0" err="1">
                <a:solidFill>
                  <a:srgbClr val="5B6B7B"/>
                </a:solidFill>
                <a:latin typeface="Open Sans"/>
                <a:ea typeface="Open Sans"/>
                <a:cs typeface="Open Sans"/>
              </a:rPr>
              <a:t>karmaşık</a:t>
            </a:r>
            <a:r>
              <a:rPr lang="en-US" sz="1300" dirty="0">
                <a:solidFill>
                  <a:srgbClr val="5B6B7B"/>
                </a:solidFill>
                <a:latin typeface="Open Sans"/>
                <a:ea typeface="Open Sans"/>
                <a:cs typeface="Open Sans"/>
              </a:rPr>
              <a:t> ve ne </a:t>
            </a:r>
            <a:r>
              <a:rPr lang="en-US" sz="1300" dirty="0" err="1">
                <a:solidFill>
                  <a:srgbClr val="5B6B7B"/>
                </a:solidFill>
                <a:latin typeface="Open Sans"/>
                <a:ea typeface="Open Sans"/>
                <a:cs typeface="Open Sans"/>
              </a:rPr>
              <a:t>kadar</a:t>
            </a:r>
            <a:r>
              <a:rPr lang="en-US" sz="1300" dirty="0">
                <a:solidFill>
                  <a:srgbClr val="5B6B7B"/>
                </a:solidFill>
                <a:latin typeface="Open Sans"/>
                <a:ea typeface="Open Sans"/>
                <a:cs typeface="Open Sans"/>
              </a:rPr>
              <a:t> </a:t>
            </a:r>
            <a:r>
              <a:rPr lang="en-US" sz="1300" dirty="0" err="1">
                <a:solidFill>
                  <a:srgbClr val="5B6B7B"/>
                </a:solidFill>
                <a:latin typeface="Open Sans"/>
                <a:ea typeface="Open Sans"/>
                <a:cs typeface="Open Sans"/>
              </a:rPr>
              <a:t>sık</a:t>
            </a:r>
            <a:r>
              <a:rPr lang="en-US" sz="1300" dirty="0">
                <a:solidFill>
                  <a:srgbClr val="5B6B7B"/>
                </a:solidFill>
                <a:latin typeface="Open Sans"/>
                <a:ea typeface="Open Sans"/>
                <a:cs typeface="Open Sans"/>
              </a:rPr>
              <a:t> </a:t>
            </a:r>
            <a:r>
              <a:rPr lang="en-US" sz="1300" dirty="0" err="1">
                <a:solidFill>
                  <a:srgbClr val="5B6B7B"/>
                </a:solidFill>
                <a:latin typeface="Open Sans"/>
                <a:ea typeface="Open Sans"/>
                <a:cs typeface="Open Sans"/>
              </a:rPr>
              <a:t>kullanılıyor</a:t>
            </a:r>
            <a:endParaRPr lang="en-US" sz="1300" dirty="0">
              <a:solidFill>
                <a:srgbClr val="5B6B7B"/>
              </a:solidFill>
              <a:latin typeface="Open Sans"/>
              <a:ea typeface="Open Sans"/>
              <a:cs typeface="Open Sans"/>
            </a:endParaRPr>
          </a:p>
        </p:txBody>
      </p:sp>
      <p:sp>
        <p:nvSpPr>
          <p:cNvPr id="12" name="Rectangle: Rounded Corners 11">
            <a:extLst>
              <a:ext uri="{FF2B5EF4-FFF2-40B4-BE49-F238E27FC236}">
                <a16:creationId xmlns:a16="http://schemas.microsoft.com/office/drawing/2014/main" id="{4A140A5E-92E2-4F3D-8642-492976BD733D}"/>
              </a:ext>
            </a:extLst>
          </p:cNvPr>
          <p:cNvSpPr/>
          <p:nvPr/>
        </p:nvSpPr>
        <p:spPr>
          <a:xfrm>
            <a:off x="635000" y="3328894"/>
            <a:ext cx="10922000" cy="914400"/>
          </a:xfrm>
          <a:prstGeom prst="roundRect">
            <a:avLst/>
          </a:prstGeom>
          <a:solidFill>
            <a:srgbClr val="F4F8FB"/>
          </a:solidFill>
          <a:ln w="12700" cap="flat" cmpd="sng" algn="ctr">
            <a:solidFill>
              <a:srgbClr val="E2EAF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Oval 12">
            <a:extLst>
              <a:ext uri="{FF2B5EF4-FFF2-40B4-BE49-F238E27FC236}">
                <a16:creationId xmlns:a16="http://schemas.microsoft.com/office/drawing/2014/main" id="{A3B1528E-2A4A-4849-9012-C5F2AB74EE91}"/>
              </a:ext>
            </a:extLst>
          </p:cNvPr>
          <p:cNvSpPr/>
          <p:nvPr/>
        </p:nvSpPr>
        <p:spPr>
          <a:xfrm>
            <a:off x="838200" y="3506694"/>
            <a:ext cx="558800" cy="558800"/>
          </a:xfrm>
          <a:prstGeom prst="ellipse">
            <a:avLst/>
          </a:prstGeom>
          <a:solidFill>
            <a:srgbClr val="115E8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b="1">
                <a:solidFill>
                  <a:srgbClr val="FFFFFF"/>
                </a:solidFill>
                <a:latin typeface="Montserrat"/>
              </a:rPr>
              <a:t>3</a:t>
            </a:r>
          </a:p>
        </p:txBody>
      </p:sp>
      <p:sp>
        <p:nvSpPr>
          <p:cNvPr id="14" name="TextBox 13">
            <a:extLst>
              <a:ext uri="{FF2B5EF4-FFF2-40B4-BE49-F238E27FC236}">
                <a16:creationId xmlns:a16="http://schemas.microsoft.com/office/drawing/2014/main" id="{109AD7E9-AFEB-48E4-B999-84BCDB743492}"/>
              </a:ext>
            </a:extLst>
          </p:cNvPr>
          <p:cNvSpPr txBox="1"/>
          <p:nvPr/>
        </p:nvSpPr>
        <p:spPr>
          <a:xfrm>
            <a:off x="1651000" y="3443194"/>
            <a:ext cx="9652000" cy="355600"/>
          </a:xfrm>
          <a:prstGeom prst="rect">
            <a:avLst/>
          </a:prstGeom>
          <a:noFill/>
        </p:spPr>
        <p:txBody>
          <a:bodyPr vertOverflow="overflow" vert="horz" wrap="square" rtlCol="0" anchor="t">
            <a:spAutoFit/>
          </a:bodyPr>
          <a:lstStyle/>
          <a:p>
            <a:pPr algn="l"/>
            <a:r>
              <a:rPr lang="en-US" sz="1650" b="1">
                <a:solidFill>
                  <a:srgbClr val="16263A"/>
                </a:solidFill>
                <a:latin typeface="Montserrat"/>
              </a:rPr>
              <a:t>Mimari daha önemli hale geliyor, daha az değil</a:t>
            </a:r>
          </a:p>
        </p:txBody>
      </p:sp>
      <p:sp>
        <p:nvSpPr>
          <p:cNvPr id="15" name="TextBox 14">
            <a:extLst>
              <a:ext uri="{FF2B5EF4-FFF2-40B4-BE49-F238E27FC236}">
                <a16:creationId xmlns:a16="http://schemas.microsoft.com/office/drawing/2014/main" id="{DE8D90B7-E7A2-4438-8492-8ACC071EAD8B}"/>
              </a:ext>
            </a:extLst>
          </p:cNvPr>
          <p:cNvSpPr txBox="1"/>
          <p:nvPr/>
        </p:nvSpPr>
        <p:spPr>
          <a:xfrm>
            <a:off x="1651000" y="3824194"/>
            <a:ext cx="9652000" cy="330200"/>
          </a:xfrm>
          <a:prstGeom prst="rect">
            <a:avLst/>
          </a:prstGeom>
          <a:noFill/>
        </p:spPr>
        <p:txBody>
          <a:bodyPr vertOverflow="overflow" vert="horz" wrap="square" rtlCol="0" anchor="t">
            <a:spAutoFit/>
          </a:bodyPr>
          <a:lstStyle/>
          <a:p>
            <a:pPr algn="l"/>
            <a:r>
              <a:rPr lang="en-US" sz="1300">
                <a:solidFill>
                  <a:srgbClr val="5B6B7B"/>
                </a:solidFill>
                <a:latin typeface="Open Sans"/>
                <a:ea typeface="Open Sans"/>
                <a:cs typeface="Open Sans"/>
              </a:rPr>
              <a:t>AI teslimatı hızlandırır; ama ürün kısıtlarını, güvenliği ve karmaşıklığı kaldırmaz.</a:t>
            </a:r>
          </a:p>
        </p:txBody>
      </p:sp>
      <p:sp>
        <p:nvSpPr>
          <p:cNvPr id="16" name="Rectangle: Rounded Corners 15">
            <a:extLst>
              <a:ext uri="{FF2B5EF4-FFF2-40B4-BE49-F238E27FC236}">
                <a16:creationId xmlns:a16="http://schemas.microsoft.com/office/drawing/2014/main" id="{61DEF881-C7EF-496E-B1B0-C657EF3A6797}"/>
              </a:ext>
            </a:extLst>
          </p:cNvPr>
          <p:cNvSpPr/>
          <p:nvPr/>
        </p:nvSpPr>
        <p:spPr>
          <a:xfrm>
            <a:off x="635000" y="4306794"/>
            <a:ext cx="10922000" cy="914400"/>
          </a:xfrm>
          <a:prstGeom prst="roundRect">
            <a:avLst/>
          </a:prstGeom>
          <a:solidFill>
            <a:srgbClr val="FFFFFF"/>
          </a:solidFill>
          <a:ln w="12700" cap="flat" cmpd="sng" algn="ctr">
            <a:solidFill>
              <a:srgbClr val="E2EAF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Oval 16">
            <a:extLst>
              <a:ext uri="{FF2B5EF4-FFF2-40B4-BE49-F238E27FC236}">
                <a16:creationId xmlns:a16="http://schemas.microsoft.com/office/drawing/2014/main" id="{6C75BEB9-00B5-493A-96A4-B2A0C6BB73BB}"/>
              </a:ext>
            </a:extLst>
          </p:cNvPr>
          <p:cNvSpPr/>
          <p:nvPr/>
        </p:nvSpPr>
        <p:spPr>
          <a:xfrm>
            <a:off x="838200" y="4484594"/>
            <a:ext cx="558800" cy="558800"/>
          </a:xfrm>
          <a:prstGeom prst="ellipse">
            <a:avLst/>
          </a:prstGeom>
          <a:solidFill>
            <a:srgbClr val="115E8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b="1">
                <a:solidFill>
                  <a:srgbClr val="FFFFFF"/>
                </a:solidFill>
                <a:latin typeface="Montserrat"/>
              </a:rPr>
              <a:t>4</a:t>
            </a:r>
          </a:p>
        </p:txBody>
      </p:sp>
      <p:sp>
        <p:nvSpPr>
          <p:cNvPr id="18" name="TextBox 17">
            <a:extLst>
              <a:ext uri="{FF2B5EF4-FFF2-40B4-BE49-F238E27FC236}">
                <a16:creationId xmlns:a16="http://schemas.microsoft.com/office/drawing/2014/main" id="{0FDA900C-94DB-4C4F-AE5E-DA614381EC80}"/>
              </a:ext>
            </a:extLst>
          </p:cNvPr>
          <p:cNvSpPr txBox="1"/>
          <p:nvPr/>
        </p:nvSpPr>
        <p:spPr>
          <a:xfrm>
            <a:off x="1651000" y="4421094"/>
            <a:ext cx="9652000" cy="355600"/>
          </a:xfrm>
          <a:prstGeom prst="rect">
            <a:avLst/>
          </a:prstGeom>
          <a:noFill/>
        </p:spPr>
        <p:txBody>
          <a:bodyPr vertOverflow="overflow" vert="horz" wrap="square" rtlCol="0" anchor="t">
            <a:spAutoFit/>
          </a:bodyPr>
          <a:lstStyle/>
          <a:p>
            <a:pPr algn="l"/>
            <a:r>
              <a:rPr lang="en-US" sz="1650" b="1">
                <a:solidFill>
                  <a:srgbClr val="16263A"/>
                </a:solidFill>
                <a:latin typeface="Montserrat"/>
              </a:rPr>
              <a:t>Kararların hafızaya ihtiyacı var</a:t>
            </a:r>
          </a:p>
        </p:txBody>
      </p:sp>
      <p:sp>
        <p:nvSpPr>
          <p:cNvPr id="19" name="TextBox 18">
            <a:extLst>
              <a:ext uri="{FF2B5EF4-FFF2-40B4-BE49-F238E27FC236}">
                <a16:creationId xmlns:a16="http://schemas.microsoft.com/office/drawing/2014/main" id="{AB1344FF-66C9-4653-B67B-661FDB949744}"/>
              </a:ext>
            </a:extLst>
          </p:cNvPr>
          <p:cNvSpPr txBox="1"/>
          <p:nvPr/>
        </p:nvSpPr>
        <p:spPr>
          <a:xfrm>
            <a:off x="1651000" y="4802094"/>
            <a:ext cx="9652000" cy="330200"/>
          </a:xfrm>
          <a:prstGeom prst="rect">
            <a:avLst/>
          </a:prstGeom>
          <a:noFill/>
        </p:spPr>
        <p:txBody>
          <a:bodyPr vertOverflow="overflow" vert="horz" wrap="square" rtlCol="0" anchor="t">
            <a:spAutoFit/>
          </a:bodyPr>
          <a:lstStyle/>
          <a:p>
            <a:pPr algn="l"/>
            <a:r>
              <a:rPr lang="en-US" sz="1300">
                <a:solidFill>
                  <a:srgbClr val="5B6B7B"/>
                </a:solidFill>
                <a:latin typeface="Open Sans"/>
                <a:ea typeface="Open Sans"/>
                <a:cs typeface="Open Sans"/>
              </a:rPr>
              <a:t>İlkeler, ADR'ler ve ödünleşimler ekibin gerekçesini korur.</a:t>
            </a:r>
          </a:p>
        </p:txBody>
      </p:sp>
      <p:sp>
        <p:nvSpPr>
          <p:cNvPr id="20" name="Rectangle: Rounded Corners 19">
            <a:extLst>
              <a:ext uri="{FF2B5EF4-FFF2-40B4-BE49-F238E27FC236}">
                <a16:creationId xmlns:a16="http://schemas.microsoft.com/office/drawing/2014/main" id="{4D36AB1C-5C18-404C-9E15-475DCF51A820}"/>
              </a:ext>
            </a:extLst>
          </p:cNvPr>
          <p:cNvSpPr/>
          <p:nvPr/>
        </p:nvSpPr>
        <p:spPr>
          <a:xfrm>
            <a:off x="635000" y="5284694"/>
            <a:ext cx="10922000" cy="914400"/>
          </a:xfrm>
          <a:prstGeom prst="roundRect">
            <a:avLst/>
          </a:prstGeom>
          <a:solidFill>
            <a:srgbClr val="F4F8FB"/>
          </a:solidFill>
          <a:ln w="12700" cap="flat" cmpd="sng" algn="ctr">
            <a:solidFill>
              <a:srgbClr val="E2EAF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Oval 20">
            <a:extLst>
              <a:ext uri="{FF2B5EF4-FFF2-40B4-BE49-F238E27FC236}">
                <a16:creationId xmlns:a16="http://schemas.microsoft.com/office/drawing/2014/main" id="{CA94C134-5C08-4EF3-A113-1A65316B8963}"/>
              </a:ext>
            </a:extLst>
          </p:cNvPr>
          <p:cNvSpPr/>
          <p:nvPr/>
        </p:nvSpPr>
        <p:spPr>
          <a:xfrm>
            <a:off x="838200" y="5462494"/>
            <a:ext cx="558800" cy="558800"/>
          </a:xfrm>
          <a:prstGeom prst="ellipse">
            <a:avLst/>
          </a:prstGeom>
          <a:solidFill>
            <a:srgbClr val="115E8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b="1">
                <a:solidFill>
                  <a:srgbClr val="FFFFFF"/>
                </a:solidFill>
                <a:latin typeface="Montserrat"/>
              </a:rPr>
              <a:t>5</a:t>
            </a:r>
          </a:p>
        </p:txBody>
      </p:sp>
      <p:sp>
        <p:nvSpPr>
          <p:cNvPr id="22" name="TextBox 21">
            <a:extLst>
              <a:ext uri="{FF2B5EF4-FFF2-40B4-BE49-F238E27FC236}">
                <a16:creationId xmlns:a16="http://schemas.microsoft.com/office/drawing/2014/main" id="{C1902420-D48F-49A7-BF5D-9D68EF8FE982}"/>
              </a:ext>
            </a:extLst>
          </p:cNvPr>
          <p:cNvSpPr txBox="1"/>
          <p:nvPr/>
        </p:nvSpPr>
        <p:spPr>
          <a:xfrm>
            <a:off x="1651000" y="5398994"/>
            <a:ext cx="9652000" cy="355600"/>
          </a:xfrm>
          <a:prstGeom prst="rect">
            <a:avLst/>
          </a:prstGeom>
          <a:noFill/>
        </p:spPr>
        <p:txBody>
          <a:bodyPr vertOverflow="overflow" vert="horz" wrap="square" rtlCol="0" anchor="t">
            <a:spAutoFit/>
          </a:bodyPr>
          <a:lstStyle/>
          <a:p>
            <a:pPr algn="l"/>
            <a:r>
              <a:rPr lang="en-US" sz="1650" b="1" dirty="0" err="1">
                <a:solidFill>
                  <a:srgbClr val="16263A"/>
                </a:solidFill>
                <a:latin typeface="Montserrat"/>
              </a:rPr>
              <a:t>Konferanslar</a:t>
            </a:r>
            <a:r>
              <a:rPr lang="en-US" sz="1650" b="1" dirty="0">
                <a:solidFill>
                  <a:srgbClr val="16263A"/>
                </a:solidFill>
                <a:latin typeface="Montserrat"/>
              </a:rPr>
              <a:t> </a:t>
            </a:r>
            <a:r>
              <a:rPr lang="en-US" sz="1650" b="1" dirty="0" err="1">
                <a:solidFill>
                  <a:srgbClr val="16263A"/>
                </a:solidFill>
                <a:latin typeface="Montserrat"/>
              </a:rPr>
              <a:t>ölmüyor</a:t>
            </a:r>
            <a:endParaRPr lang="en-US" sz="1650" b="1" dirty="0">
              <a:solidFill>
                <a:srgbClr val="16263A"/>
              </a:solidFill>
              <a:latin typeface="Montserrat"/>
            </a:endParaRPr>
          </a:p>
        </p:txBody>
      </p:sp>
      <p:sp>
        <p:nvSpPr>
          <p:cNvPr id="23" name="TextBox 22">
            <a:extLst>
              <a:ext uri="{FF2B5EF4-FFF2-40B4-BE49-F238E27FC236}">
                <a16:creationId xmlns:a16="http://schemas.microsoft.com/office/drawing/2014/main" id="{1EF81550-F5DE-490E-8DDF-8F497C3BD0C8}"/>
              </a:ext>
            </a:extLst>
          </p:cNvPr>
          <p:cNvSpPr txBox="1"/>
          <p:nvPr/>
        </p:nvSpPr>
        <p:spPr>
          <a:xfrm>
            <a:off x="1651000" y="5779994"/>
            <a:ext cx="9652000" cy="330200"/>
          </a:xfrm>
          <a:prstGeom prst="rect">
            <a:avLst/>
          </a:prstGeom>
          <a:noFill/>
        </p:spPr>
        <p:txBody>
          <a:bodyPr vertOverflow="overflow" vert="horz" wrap="square" rtlCol="0" anchor="t">
            <a:spAutoFit/>
          </a:bodyPr>
          <a:lstStyle/>
          <a:p>
            <a:pPr algn="l"/>
            <a:r>
              <a:rPr lang="en-US" sz="1300">
                <a:solidFill>
                  <a:srgbClr val="5B6B7B"/>
                </a:solidFill>
                <a:latin typeface="Open Sans"/>
                <a:ea typeface="Open Sans"/>
                <a:cs typeface="Open Sans"/>
              </a:rPr>
              <a:t>Bir koridor sohbeti motivasyon ve sosyalleşmedir; nerede olduğunu görürsün.</a:t>
            </a:r>
          </a:p>
        </p:txBody>
      </p:sp>
    </p:spTree>
    <p:extLst>
      <p:ext uri="{BB962C8B-B14F-4D97-AF65-F5344CB8AC3E}">
        <p14:creationId xmlns:p14="http://schemas.microsoft.com/office/powerpoint/2010/main" val="1989862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F159A75-1C1E-722B-7992-763AA234122B}"/>
              </a:ext>
            </a:extLst>
          </p:cNvPr>
          <p:cNvPicPr>
            <a:picLocks noChangeAspect="1"/>
          </p:cNvPicPr>
          <p:nvPr/>
        </p:nvPicPr>
        <p:blipFill>
          <a:blip r:embed="rId3"/>
          <a:stretch>
            <a:fillRect/>
          </a:stretch>
        </p:blipFill>
        <p:spPr>
          <a:xfrm>
            <a:off x="90640" y="941049"/>
            <a:ext cx="6561625" cy="5181600"/>
          </a:xfrm>
          <a:prstGeom prst="rect">
            <a:avLst/>
          </a:prstGeom>
        </p:spPr>
      </p:pic>
      <p:sp>
        <p:nvSpPr>
          <p:cNvPr id="2" name="Title 1">
            <a:extLst>
              <a:ext uri="{FF2B5EF4-FFF2-40B4-BE49-F238E27FC236}">
                <a16:creationId xmlns:a16="http://schemas.microsoft.com/office/drawing/2014/main" id="{A3CC2C93-6947-4B18-6FF4-494809275F54}"/>
              </a:ext>
            </a:extLst>
          </p:cNvPr>
          <p:cNvSpPr>
            <a:spLocks noGrp="1"/>
          </p:cNvSpPr>
          <p:nvPr>
            <p:ph type="title"/>
          </p:nvPr>
        </p:nvSpPr>
        <p:spPr>
          <a:xfrm>
            <a:off x="635000" y="193635"/>
            <a:ext cx="10922000" cy="762000"/>
          </a:xfrm>
        </p:spPr>
        <p:txBody>
          <a:bodyPr>
            <a:normAutofit/>
          </a:bodyPr>
          <a:lstStyle/>
          <a:p>
            <a:r>
              <a:rPr lang="en-US" sz="2700" b="1" dirty="0" err="1">
                <a:latin typeface="Montserrat"/>
              </a:rPr>
              <a:t>Kültürel</a:t>
            </a:r>
            <a:r>
              <a:rPr lang="en-US" sz="2700" b="1" dirty="0">
                <a:latin typeface="Montserrat"/>
              </a:rPr>
              <a:t> </a:t>
            </a:r>
            <a:r>
              <a:rPr lang="en-US" sz="2700" b="1" dirty="0" err="1">
                <a:latin typeface="Montserrat"/>
              </a:rPr>
              <a:t>Ziyaretler</a:t>
            </a:r>
            <a:r>
              <a:rPr lang="en-US" sz="2700" b="1" dirty="0">
                <a:latin typeface="Montserrat"/>
              </a:rPr>
              <a:t>: Lepanto Deniz </a:t>
            </a:r>
            <a:r>
              <a:rPr lang="en-US" sz="2700" b="1" dirty="0" err="1">
                <a:latin typeface="Montserrat"/>
              </a:rPr>
              <a:t>Savaşı</a:t>
            </a:r>
            <a:endParaRPr lang="en-US" sz="2700" b="1" dirty="0">
              <a:latin typeface="Montserrat"/>
            </a:endParaRPr>
          </a:p>
        </p:txBody>
      </p:sp>
      <p:sp>
        <p:nvSpPr>
          <p:cNvPr id="4" name="TextBox 3">
            <a:extLst>
              <a:ext uri="{FF2B5EF4-FFF2-40B4-BE49-F238E27FC236}">
                <a16:creationId xmlns:a16="http://schemas.microsoft.com/office/drawing/2014/main" id="{FF23434E-0239-4E29-B375-9A70A465B34E}"/>
              </a:ext>
            </a:extLst>
          </p:cNvPr>
          <p:cNvSpPr txBox="1"/>
          <p:nvPr/>
        </p:nvSpPr>
        <p:spPr>
          <a:xfrm>
            <a:off x="8572500" y="343802"/>
            <a:ext cx="5461000" cy="461665"/>
          </a:xfrm>
          <a:prstGeom prst="rect">
            <a:avLst/>
          </a:prstGeom>
          <a:noFill/>
        </p:spPr>
        <p:txBody>
          <a:bodyPr vertOverflow="overflow" vert="horz" wrap="square" rtlCol="0" anchor="t">
            <a:spAutoFit/>
          </a:bodyPr>
          <a:lstStyle/>
          <a:p>
            <a:r>
              <a:rPr lang="en-US" sz="2400" dirty="0">
                <a:solidFill>
                  <a:srgbClr val="24364A"/>
                </a:solidFill>
                <a:latin typeface="Open Sans"/>
                <a:ea typeface="Open Sans"/>
                <a:cs typeface="Open Sans"/>
              </a:rPr>
              <a:t>Madrid Royal Palace</a:t>
            </a:r>
          </a:p>
        </p:txBody>
      </p:sp>
      <p:sp>
        <p:nvSpPr>
          <p:cNvPr id="6" name="Rectangle: Rounded Corners 5">
            <a:extLst>
              <a:ext uri="{FF2B5EF4-FFF2-40B4-BE49-F238E27FC236}">
                <a16:creationId xmlns:a16="http://schemas.microsoft.com/office/drawing/2014/main" id="{DEFBACE6-5B4D-42FF-A483-53260F8873AC}"/>
              </a:ext>
            </a:extLst>
          </p:cNvPr>
          <p:cNvSpPr/>
          <p:nvPr/>
        </p:nvSpPr>
        <p:spPr>
          <a:xfrm>
            <a:off x="567764" y="6300539"/>
            <a:ext cx="10922000" cy="508000"/>
          </a:xfrm>
          <a:prstGeom prst="roundRect">
            <a:avLst/>
          </a:prstGeom>
          <a:solidFill>
            <a:srgbClr val="C0563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99332A8A-3AD9-47B8-8CC3-B9F1ABA694C4}"/>
              </a:ext>
            </a:extLst>
          </p:cNvPr>
          <p:cNvSpPr txBox="1"/>
          <p:nvPr/>
        </p:nvSpPr>
        <p:spPr>
          <a:xfrm>
            <a:off x="821764" y="6351339"/>
            <a:ext cx="10414000" cy="406400"/>
          </a:xfrm>
          <a:prstGeom prst="rect">
            <a:avLst/>
          </a:prstGeom>
          <a:noFill/>
        </p:spPr>
        <p:txBody>
          <a:bodyPr vertOverflow="overflow" vert="horz" wrap="square" rtlCol="0" anchor="ctr" anchorCtr="0">
            <a:spAutoFit/>
          </a:bodyPr>
          <a:lstStyle/>
          <a:p>
            <a:pPr algn="l"/>
            <a:r>
              <a:rPr lang="en-US" sz="1350" b="1" i="1" dirty="0">
                <a:solidFill>
                  <a:srgbClr val="FFFFFF"/>
                </a:solidFill>
                <a:latin typeface="Open Sans"/>
                <a:ea typeface="Open Sans"/>
                <a:cs typeface="Open Sans"/>
              </a:rPr>
              <a:t>"</a:t>
            </a:r>
            <a:r>
              <a:rPr lang="en-US" sz="1350" b="1" i="1" dirty="0" err="1">
                <a:solidFill>
                  <a:srgbClr val="FFFFFF"/>
                </a:solidFill>
                <a:latin typeface="Open Sans"/>
                <a:ea typeface="Open Sans"/>
                <a:cs typeface="Open Sans"/>
              </a:rPr>
              <a:t>Siz</a:t>
            </a:r>
            <a:r>
              <a:rPr lang="en-US" sz="1350" b="1" i="1" dirty="0">
                <a:solidFill>
                  <a:srgbClr val="FFFFFF"/>
                </a:solidFill>
                <a:latin typeface="Open Sans"/>
                <a:ea typeface="Open Sans"/>
                <a:cs typeface="Open Sans"/>
              </a:rPr>
              <a:t> bizim </a:t>
            </a:r>
            <a:r>
              <a:rPr lang="en-US" sz="1350" b="1" i="1" dirty="0" err="1">
                <a:solidFill>
                  <a:srgbClr val="FFFFFF"/>
                </a:solidFill>
                <a:latin typeface="Open Sans"/>
                <a:ea typeface="Open Sans"/>
                <a:cs typeface="Open Sans"/>
              </a:rPr>
              <a:t>sakalımızı</a:t>
            </a:r>
            <a:r>
              <a:rPr lang="en-US" sz="1350" b="1" i="1" dirty="0">
                <a:solidFill>
                  <a:srgbClr val="FFFFFF"/>
                </a:solidFill>
                <a:latin typeface="Open Sans"/>
                <a:ea typeface="Open Sans"/>
                <a:cs typeface="Open Sans"/>
              </a:rPr>
              <a:t> </a:t>
            </a:r>
            <a:r>
              <a:rPr lang="en-US" sz="1350" b="1" i="1" dirty="0" err="1">
                <a:solidFill>
                  <a:srgbClr val="FFFFFF"/>
                </a:solidFill>
                <a:latin typeface="Open Sans"/>
                <a:ea typeface="Open Sans"/>
                <a:cs typeface="Open Sans"/>
              </a:rPr>
              <a:t>kestiniz</a:t>
            </a:r>
            <a:r>
              <a:rPr lang="en-US" sz="1350" b="1" i="1" dirty="0">
                <a:solidFill>
                  <a:srgbClr val="FFFFFF"/>
                </a:solidFill>
                <a:latin typeface="Open Sans"/>
                <a:ea typeface="Open Sans"/>
                <a:cs typeface="Open Sans"/>
              </a:rPr>
              <a:t>, ama biz </a:t>
            </a:r>
            <a:r>
              <a:rPr lang="en-US" sz="1350" b="1" i="1" dirty="0" err="1">
                <a:solidFill>
                  <a:srgbClr val="FFFFFF"/>
                </a:solidFill>
                <a:latin typeface="Open Sans"/>
                <a:ea typeface="Open Sans"/>
                <a:cs typeface="Open Sans"/>
              </a:rPr>
              <a:t>sizin</a:t>
            </a:r>
            <a:r>
              <a:rPr lang="en-US" sz="1350" b="1" i="1" dirty="0">
                <a:solidFill>
                  <a:srgbClr val="FFFFFF"/>
                </a:solidFill>
                <a:latin typeface="Open Sans"/>
                <a:ea typeface="Open Sans"/>
                <a:cs typeface="Open Sans"/>
              </a:rPr>
              <a:t> </a:t>
            </a:r>
            <a:r>
              <a:rPr lang="en-US" sz="1350" b="1" i="1" dirty="0" err="1">
                <a:solidFill>
                  <a:srgbClr val="FFFFFF"/>
                </a:solidFill>
                <a:latin typeface="Open Sans"/>
                <a:ea typeface="Open Sans"/>
                <a:cs typeface="Open Sans"/>
              </a:rPr>
              <a:t>kolunuzu</a:t>
            </a:r>
            <a:r>
              <a:rPr lang="en-US" sz="1350" b="1" i="1" dirty="0">
                <a:solidFill>
                  <a:srgbClr val="FFFFFF"/>
                </a:solidFill>
                <a:latin typeface="Open Sans"/>
                <a:ea typeface="Open Sans"/>
                <a:cs typeface="Open Sans"/>
              </a:rPr>
              <a:t> </a:t>
            </a:r>
            <a:r>
              <a:rPr lang="en-US" sz="1350" b="1" i="1" dirty="0" err="1">
                <a:solidFill>
                  <a:srgbClr val="FFFFFF"/>
                </a:solidFill>
                <a:latin typeface="Open Sans"/>
                <a:ea typeface="Open Sans"/>
                <a:cs typeface="Open Sans"/>
              </a:rPr>
              <a:t>kestik</a:t>
            </a:r>
            <a:r>
              <a:rPr lang="en-US" sz="1350" b="1" i="1" dirty="0">
                <a:solidFill>
                  <a:srgbClr val="FFFFFF"/>
                </a:solidFill>
                <a:latin typeface="Open Sans"/>
                <a:ea typeface="Open Sans"/>
                <a:cs typeface="Open Sans"/>
              </a:rPr>
              <a:t>. Sakal </a:t>
            </a:r>
            <a:r>
              <a:rPr lang="en-US" sz="1350" b="1" i="1" dirty="0" err="1">
                <a:solidFill>
                  <a:srgbClr val="FFFFFF"/>
                </a:solidFill>
                <a:latin typeface="Open Sans"/>
                <a:ea typeface="Open Sans"/>
                <a:cs typeface="Open Sans"/>
              </a:rPr>
              <a:t>yeniden</a:t>
            </a:r>
            <a:r>
              <a:rPr lang="en-US" sz="1350" b="1" i="1" dirty="0">
                <a:solidFill>
                  <a:srgbClr val="FFFFFF"/>
                </a:solidFill>
                <a:latin typeface="Open Sans"/>
                <a:ea typeface="Open Sans"/>
                <a:cs typeface="Open Sans"/>
              </a:rPr>
              <a:t> </a:t>
            </a:r>
            <a:r>
              <a:rPr lang="en-US" sz="1350" b="1" i="1" dirty="0" err="1">
                <a:solidFill>
                  <a:srgbClr val="FFFFFF"/>
                </a:solidFill>
                <a:latin typeface="Open Sans"/>
                <a:ea typeface="Open Sans"/>
                <a:cs typeface="Open Sans"/>
              </a:rPr>
              <a:t>uzar</a:t>
            </a:r>
            <a:r>
              <a:rPr lang="en-US" sz="1350" b="1" i="1" dirty="0">
                <a:solidFill>
                  <a:srgbClr val="FFFFFF"/>
                </a:solidFill>
                <a:latin typeface="Open Sans"/>
                <a:ea typeface="Open Sans"/>
                <a:cs typeface="Open Sans"/>
              </a:rPr>
              <a:t>."  —  </a:t>
            </a:r>
            <a:r>
              <a:rPr lang="en-US" sz="1350" b="1" i="1" dirty="0" err="1">
                <a:solidFill>
                  <a:srgbClr val="FFFFFF"/>
                </a:solidFill>
                <a:latin typeface="Open Sans"/>
                <a:ea typeface="Open Sans"/>
                <a:cs typeface="Open Sans"/>
              </a:rPr>
              <a:t>Sokollu</a:t>
            </a:r>
            <a:r>
              <a:rPr lang="en-US" sz="1350" b="1" i="1" dirty="0">
                <a:solidFill>
                  <a:srgbClr val="FFFFFF"/>
                </a:solidFill>
                <a:latin typeface="Open Sans"/>
                <a:ea typeface="Open Sans"/>
                <a:cs typeface="Open Sans"/>
              </a:rPr>
              <a:t> Mehmed </a:t>
            </a:r>
            <a:r>
              <a:rPr lang="en-US" sz="1350" b="1" i="1" dirty="0" err="1">
                <a:solidFill>
                  <a:srgbClr val="FFFFFF"/>
                </a:solidFill>
                <a:latin typeface="Open Sans"/>
                <a:ea typeface="Open Sans"/>
                <a:cs typeface="Open Sans"/>
              </a:rPr>
              <a:t>Paşa</a:t>
            </a:r>
            <a:endParaRPr lang="en-US" sz="1350" b="1" i="1" dirty="0">
              <a:solidFill>
                <a:srgbClr val="FFFFFF"/>
              </a:solidFill>
              <a:latin typeface="Open Sans"/>
              <a:ea typeface="Open Sans"/>
              <a:cs typeface="Open Sans"/>
            </a:endParaRPr>
          </a:p>
        </p:txBody>
      </p:sp>
      <p:pic>
        <p:nvPicPr>
          <p:cNvPr id="8" name="Picture 7">
            <a:extLst>
              <a:ext uri="{FF2B5EF4-FFF2-40B4-BE49-F238E27FC236}">
                <a16:creationId xmlns:a16="http://schemas.microsoft.com/office/drawing/2014/main" id="{3EECF523-7A10-8812-8105-F032AD903A9C}"/>
              </a:ext>
            </a:extLst>
          </p:cNvPr>
          <p:cNvPicPr>
            <a:picLocks noChangeAspect="1"/>
          </p:cNvPicPr>
          <p:nvPr/>
        </p:nvPicPr>
        <p:blipFill>
          <a:blip r:embed="rId4"/>
          <a:stretch>
            <a:fillRect/>
          </a:stretch>
        </p:blipFill>
        <p:spPr>
          <a:xfrm>
            <a:off x="6275276" y="955634"/>
            <a:ext cx="5780721" cy="5167015"/>
          </a:xfrm>
          <a:prstGeom prst="rect">
            <a:avLst/>
          </a:prstGeom>
        </p:spPr>
      </p:pic>
    </p:spTree>
    <p:extLst>
      <p:ext uri="{BB962C8B-B14F-4D97-AF65-F5344CB8AC3E}">
        <p14:creationId xmlns:p14="http://schemas.microsoft.com/office/powerpoint/2010/main" val="18235212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C1989-F0EE-B1B8-BE53-1101D09B062D}"/>
              </a:ext>
            </a:extLst>
          </p:cNvPr>
          <p:cNvSpPr>
            <a:spLocks noGrp="1"/>
          </p:cNvSpPr>
          <p:nvPr>
            <p:ph type="title"/>
          </p:nvPr>
        </p:nvSpPr>
        <p:spPr>
          <a:xfrm>
            <a:off x="635000" y="508000"/>
            <a:ext cx="10922000" cy="762000"/>
          </a:xfrm>
        </p:spPr>
        <p:txBody>
          <a:bodyPr>
            <a:normAutofit/>
          </a:bodyPr>
          <a:lstStyle/>
          <a:p>
            <a:r>
              <a:rPr lang="en-US" sz="2900" b="1">
                <a:latin typeface="Montserrat"/>
              </a:rPr>
              <a:t>Kaptan-ı Derya Ali Paşa'nın Miğferi</a:t>
            </a:r>
          </a:p>
        </p:txBody>
      </p:sp>
      <p:sp>
        <p:nvSpPr>
          <p:cNvPr id="3" name="Rectangle 2">
            <a:extLst>
              <a:ext uri="{FF2B5EF4-FFF2-40B4-BE49-F238E27FC236}">
                <a16:creationId xmlns:a16="http://schemas.microsoft.com/office/drawing/2014/main" id="{9FF2A222-9310-41CB-818E-0934C2D35FE8}"/>
              </a:ext>
            </a:extLst>
          </p:cNvPr>
          <p:cNvSpPr/>
          <p:nvPr/>
        </p:nvSpPr>
        <p:spPr>
          <a:xfrm>
            <a:off x="660400" y="1346200"/>
            <a:ext cx="889000" cy="63500"/>
          </a:xfrm>
          <a:prstGeom prst="rect">
            <a:avLst/>
          </a:prstGeom>
          <a:solidFill>
            <a:srgbClr val="C0563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Rectangle 3">
            <a:extLst>
              <a:ext uri="{FF2B5EF4-FFF2-40B4-BE49-F238E27FC236}">
                <a16:creationId xmlns:a16="http://schemas.microsoft.com/office/drawing/2014/main" id="{450A2AB8-CC83-4B25-BCAB-1CADC5311513}"/>
              </a:ext>
            </a:extLst>
          </p:cNvPr>
          <p:cNvSpPr/>
          <p:nvPr/>
        </p:nvSpPr>
        <p:spPr>
          <a:xfrm>
            <a:off x="609600" y="1574800"/>
            <a:ext cx="10972800" cy="4775200"/>
          </a:xfrm>
          <a:prstGeom prst="rect">
            <a:avLst/>
          </a:prstGeom>
          <a:solidFill>
            <a:srgbClr val="EEF3F8"/>
          </a:solidFill>
          <a:ln w="12700" cap="flat" cmpd="sng" algn="ctr">
            <a:solidFill>
              <a:srgbClr val="D5DEE7"/>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1A1D3BB7-8A50-4B49-A78D-737E51E4D7F4}"/>
              </a:ext>
            </a:extLst>
          </p:cNvPr>
          <p:cNvSpPr txBox="1"/>
          <p:nvPr/>
        </p:nvSpPr>
        <p:spPr>
          <a:xfrm>
            <a:off x="635000" y="6400800"/>
            <a:ext cx="10922000" cy="381000"/>
          </a:xfrm>
          <a:prstGeom prst="rect">
            <a:avLst/>
          </a:prstGeom>
          <a:noFill/>
        </p:spPr>
        <p:txBody>
          <a:bodyPr vertOverflow="overflow" vert="horz" wrap="square" rtlCol="0" anchor="t">
            <a:spAutoFit/>
          </a:bodyPr>
          <a:lstStyle/>
          <a:p>
            <a:pPr algn="l"/>
            <a:r>
              <a:rPr lang="en-US" sz="1300" i="1">
                <a:solidFill>
                  <a:srgbClr val="5B6B7B"/>
                </a:solidFill>
                <a:latin typeface="Open Sans"/>
                <a:ea typeface="Open Sans"/>
                <a:cs typeface="Open Sans"/>
              </a:rPr>
              <a:t>Üzerinde Kuran'dan ayetler işli miğfer; kılıç darbesi ve balta benzeri sert cisim darbe izleriyle. Madrid Kraliyet Cephaneliği.</a:t>
            </a:r>
          </a:p>
        </p:txBody>
      </p:sp>
      <p:pic>
        <p:nvPicPr>
          <p:cNvPr id="6" name="Picture 5">
            <a:extLst>
              <a:ext uri="{FF2B5EF4-FFF2-40B4-BE49-F238E27FC236}">
                <a16:creationId xmlns:a16="http://schemas.microsoft.com/office/drawing/2014/main" id="{AD6C1462-AA83-05D7-A388-AAEA408C0043}"/>
              </a:ext>
            </a:extLst>
          </p:cNvPr>
          <p:cNvPicPr>
            <a:picLocks noChangeAspect="1"/>
          </p:cNvPicPr>
          <p:nvPr/>
        </p:nvPicPr>
        <p:blipFill>
          <a:blip r:embed="rId3"/>
          <a:stretch>
            <a:fillRect/>
          </a:stretch>
        </p:blipFill>
        <p:spPr>
          <a:xfrm>
            <a:off x="660400" y="1625600"/>
            <a:ext cx="10871200" cy="4748042"/>
          </a:xfrm>
          <a:prstGeom prst="rect">
            <a:avLst/>
          </a:prstGeom>
        </p:spPr>
      </p:pic>
    </p:spTree>
    <p:extLst>
      <p:ext uri="{BB962C8B-B14F-4D97-AF65-F5344CB8AC3E}">
        <p14:creationId xmlns:p14="http://schemas.microsoft.com/office/powerpoint/2010/main" val="35944179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02435-F0BF-A169-AA96-86F3723DA861}"/>
              </a:ext>
            </a:extLst>
          </p:cNvPr>
          <p:cNvSpPr>
            <a:spLocks noGrp="1"/>
          </p:cNvSpPr>
          <p:nvPr>
            <p:ph type="title"/>
          </p:nvPr>
        </p:nvSpPr>
        <p:spPr>
          <a:xfrm>
            <a:off x="635000" y="508000"/>
            <a:ext cx="10922000" cy="762000"/>
          </a:xfrm>
        </p:spPr>
        <p:txBody>
          <a:bodyPr>
            <a:normAutofit/>
          </a:bodyPr>
          <a:lstStyle/>
          <a:p>
            <a:r>
              <a:rPr lang="en-US" sz="2600" b="1">
                <a:latin typeface="Montserrat"/>
              </a:rPr>
              <a:t>Savaş Ganimetleri: Kılıç, Kalkan ve Kol Zırhı</a:t>
            </a:r>
          </a:p>
        </p:txBody>
      </p:sp>
      <p:sp>
        <p:nvSpPr>
          <p:cNvPr id="3" name="Rectangle 2">
            <a:extLst>
              <a:ext uri="{FF2B5EF4-FFF2-40B4-BE49-F238E27FC236}">
                <a16:creationId xmlns:a16="http://schemas.microsoft.com/office/drawing/2014/main" id="{A2F28801-CEF4-4E7E-9213-7B153E62E02C}"/>
              </a:ext>
            </a:extLst>
          </p:cNvPr>
          <p:cNvSpPr/>
          <p:nvPr/>
        </p:nvSpPr>
        <p:spPr>
          <a:xfrm>
            <a:off x="660400" y="1346200"/>
            <a:ext cx="889000" cy="63500"/>
          </a:xfrm>
          <a:prstGeom prst="rect">
            <a:avLst/>
          </a:prstGeom>
          <a:solidFill>
            <a:srgbClr val="C0563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Rectangle 3">
            <a:extLst>
              <a:ext uri="{FF2B5EF4-FFF2-40B4-BE49-F238E27FC236}">
                <a16:creationId xmlns:a16="http://schemas.microsoft.com/office/drawing/2014/main" id="{72173481-BFFE-4C4E-A6CB-4CD50DDB91CC}"/>
              </a:ext>
            </a:extLst>
          </p:cNvPr>
          <p:cNvSpPr/>
          <p:nvPr/>
        </p:nvSpPr>
        <p:spPr>
          <a:xfrm>
            <a:off x="609600" y="1574800"/>
            <a:ext cx="10972800" cy="4775200"/>
          </a:xfrm>
          <a:prstGeom prst="rect">
            <a:avLst/>
          </a:prstGeom>
          <a:solidFill>
            <a:srgbClr val="EEF3F8"/>
          </a:solidFill>
          <a:ln w="12700" cap="flat" cmpd="sng" algn="ctr">
            <a:solidFill>
              <a:srgbClr val="D5DEE7"/>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2AA502A8-96D4-4E20-A00B-946CE85FF2A3}"/>
              </a:ext>
            </a:extLst>
          </p:cNvPr>
          <p:cNvSpPr txBox="1"/>
          <p:nvPr/>
        </p:nvSpPr>
        <p:spPr>
          <a:xfrm>
            <a:off x="635000" y="6400800"/>
            <a:ext cx="10922000" cy="381000"/>
          </a:xfrm>
          <a:prstGeom prst="rect">
            <a:avLst/>
          </a:prstGeom>
          <a:noFill/>
        </p:spPr>
        <p:txBody>
          <a:bodyPr vertOverflow="overflow" vert="horz" wrap="square" rtlCol="0" anchor="t">
            <a:spAutoFit/>
          </a:bodyPr>
          <a:lstStyle/>
          <a:p>
            <a:pPr algn="l"/>
            <a:r>
              <a:rPr lang="en-US" sz="1300" i="1">
                <a:solidFill>
                  <a:srgbClr val="5B6B7B"/>
                </a:solidFill>
                <a:latin typeface="Open Sans"/>
                <a:ea typeface="Open Sans"/>
                <a:cs typeface="Open Sans"/>
              </a:rPr>
              <a:t>Ali Paşa'nın işlemeli kılıcı, etrafı hasır ortası demir 450 yıllık Osmanlı kalkanı ve ayet işlemeli kol zırhı — tüm ekipmanda Kuran'dan ayetler işli.</a:t>
            </a:r>
          </a:p>
        </p:txBody>
      </p:sp>
      <p:pic>
        <p:nvPicPr>
          <p:cNvPr id="6" name="Picture 5">
            <a:extLst>
              <a:ext uri="{FF2B5EF4-FFF2-40B4-BE49-F238E27FC236}">
                <a16:creationId xmlns:a16="http://schemas.microsoft.com/office/drawing/2014/main" id="{C8434D73-9042-1114-E1A9-ACC0017B8F76}"/>
              </a:ext>
            </a:extLst>
          </p:cNvPr>
          <p:cNvPicPr>
            <a:picLocks noChangeAspect="1"/>
          </p:cNvPicPr>
          <p:nvPr/>
        </p:nvPicPr>
        <p:blipFill>
          <a:blip r:embed="rId3"/>
          <a:stretch>
            <a:fillRect/>
          </a:stretch>
        </p:blipFill>
        <p:spPr>
          <a:xfrm>
            <a:off x="660400" y="1625600"/>
            <a:ext cx="10871200" cy="4601127"/>
          </a:xfrm>
          <a:prstGeom prst="rect">
            <a:avLst/>
          </a:prstGeom>
        </p:spPr>
      </p:pic>
    </p:spTree>
    <p:extLst>
      <p:ext uri="{BB962C8B-B14F-4D97-AF65-F5344CB8AC3E}">
        <p14:creationId xmlns:p14="http://schemas.microsoft.com/office/powerpoint/2010/main" val="9006969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3D991-3343-C0B4-5C93-ABD0FF62DC0B}"/>
              </a:ext>
            </a:extLst>
          </p:cNvPr>
          <p:cNvSpPr>
            <a:spLocks noGrp="1"/>
          </p:cNvSpPr>
          <p:nvPr>
            <p:ph type="title"/>
          </p:nvPr>
        </p:nvSpPr>
        <p:spPr>
          <a:xfrm>
            <a:off x="201246" y="128942"/>
            <a:ext cx="10922000" cy="762000"/>
          </a:xfrm>
        </p:spPr>
        <p:txBody>
          <a:bodyPr>
            <a:normAutofit/>
          </a:bodyPr>
          <a:lstStyle/>
          <a:p>
            <a:r>
              <a:rPr lang="es-ES" sz="2600" b="1">
                <a:latin typeface="Montserrat"/>
              </a:rPr>
              <a:t>Cervantes ve Don Kişot'un Lepanto Bağı</a:t>
            </a:r>
            <a:endParaRPr lang="en-US" sz="2600" b="1">
              <a:latin typeface="Montserrat"/>
            </a:endParaRPr>
          </a:p>
        </p:txBody>
      </p:sp>
      <p:sp>
        <p:nvSpPr>
          <p:cNvPr id="5" name="Rectangle: Rounded Corners 4">
            <a:extLst>
              <a:ext uri="{FF2B5EF4-FFF2-40B4-BE49-F238E27FC236}">
                <a16:creationId xmlns:a16="http://schemas.microsoft.com/office/drawing/2014/main" id="{60A47136-B541-487C-B7B4-9AB7CEE2EA5E}"/>
              </a:ext>
            </a:extLst>
          </p:cNvPr>
          <p:cNvSpPr/>
          <p:nvPr/>
        </p:nvSpPr>
        <p:spPr>
          <a:xfrm>
            <a:off x="332577" y="5588214"/>
            <a:ext cx="8059713" cy="879890"/>
          </a:xfrm>
          <a:prstGeom prst="roundRect">
            <a:avLst/>
          </a:prstGeom>
          <a:solidFill>
            <a:srgbClr val="FBEDE9"/>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9E9601C7-7147-49F2-B4DB-66759F61F8E5}"/>
              </a:ext>
            </a:extLst>
          </p:cNvPr>
          <p:cNvSpPr txBox="1"/>
          <p:nvPr/>
        </p:nvSpPr>
        <p:spPr>
          <a:xfrm>
            <a:off x="302463" y="5974309"/>
            <a:ext cx="9060165" cy="307777"/>
          </a:xfrm>
          <a:prstGeom prst="rect">
            <a:avLst/>
          </a:prstGeom>
          <a:noFill/>
        </p:spPr>
        <p:txBody>
          <a:bodyPr vertOverflow="overflow" vert="horz" wrap="square" rtlCol="0" anchor="ctr" anchorCtr="0">
            <a:spAutoFit/>
          </a:bodyPr>
          <a:lstStyle/>
          <a:p>
            <a:pPr algn="l"/>
            <a:r>
              <a:rPr lang="en-US" sz="1400" b="1" i="1" dirty="0">
                <a:solidFill>
                  <a:srgbClr val="9A4430"/>
                </a:solidFill>
                <a:latin typeface="Open Sans"/>
                <a:ea typeface="Open Sans"/>
                <a:cs typeface="Open Sans"/>
              </a:rPr>
              <a:t>El </a:t>
            </a:r>
            <a:r>
              <a:rPr lang="en-US" sz="1400" b="1" i="1" dirty="0" err="1">
                <a:solidFill>
                  <a:srgbClr val="9A4430"/>
                </a:solidFill>
                <a:latin typeface="Open Sans"/>
                <a:ea typeface="Open Sans"/>
                <a:cs typeface="Open Sans"/>
              </a:rPr>
              <a:t>manco</a:t>
            </a:r>
            <a:r>
              <a:rPr lang="en-US" sz="1400" b="1" i="1" dirty="0">
                <a:solidFill>
                  <a:srgbClr val="9A4430"/>
                </a:solidFill>
                <a:latin typeface="Open Sans"/>
                <a:ea typeface="Open Sans"/>
                <a:cs typeface="Open Sans"/>
              </a:rPr>
              <a:t> de Lepanto : </a:t>
            </a:r>
            <a:r>
              <a:rPr lang="en-US" sz="1400" b="1" i="1" dirty="0" err="1">
                <a:solidFill>
                  <a:srgbClr val="9A4430"/>
                </a:solidFill>
                <a:latin typeface="Open Sans"/>
                <a:ea typeface="Open Sans"/>
                <a:cs typeface="Open Sans"/>
              </a:rPr>
              <a:t>Lepanto'nun</a:t>
            </a:r>
            <a:r>
              <a:rPr lang="en-US" sz="1400" b="1" i="1" dirty="0">
                <a:solidFill>
                  <a:srgbClr val="9A4430"/>
                </a:solidFill>
                <a:latin typeface="Open Sans"/>
                <a:ea typeface="Open Sans"/>
                <a:cs typeface="Open Sans"/>
              </a:rPr>
              <a:t> </a:t>
            </a:r>
            <a:r>
              <a:rPr lang="en-US" sz="1400" b="1" i="1" dirty="0" err="1">
                <a:solidFill>
                  <a:srgbClr val="9A4430"/>
                </a:solidFill>
                <a:latin typeface="Open Sans"/>
                <a:ea typeface="Open Sans"/>
                <a:cs typeface="Open Sans"/>
              </a:rPr>
              <a:t>tek</a:t>
            </a:r>
            <a:r>
              <a:rPr lang="en-US" sz="1400" b="1" i="1" dirty="0">
                <a:solidFill>
                  <a:srgbClr val="9A4430"/>
                </a:solidFill>
                <a:latin typeface="Open Sans"/>
                <a:ea typeface="Open Sans"/>
                <a:cs typeface="Open Sans"/>
              </a:rPr>
              <a:t> </a:t>
            </a:r>
            <a:r>
              <a:rPr lang="en-US" sz="1400" b="1" i="1" dirty="0" err="1">
                <a:solidFill>
                  <a:srgbClr val="9A4430"/>
                </a:solidFill>
                <a:latin typeface="Open Sans"/>
                <a:ea typeface="Open Sans"/>
                <a:cs typeface="Open Sans"/>
              </a:rPr>
              <a:t>elli</a:t>
            </a:r>
            <a:r>
              <a:rPr lang="en-US" sz="1400" b="1" i="1" dirty="0">
                <a:solidFill>
                  <a:srgbClr val="9A4430"/>
                </a:solidFill>
                <a:latin typeface="Open Sans"/>
                <a:ea typeface="Open Sans"/>
                <a:cs typeface="Open Sans"/>
              </a:rPr>
              <a:t> </a:t>
            </a:r>
            <a:r>
              <a:rPr lang="en-US" sz="1400" b="1" i="1" dirty="0" err="1">
                <a:solidFill>
                  <a:srgbClr val="9A4430"/>
                </a:solidFill>
                <a:latin typeface="Open Sans"/>
                <a:ea typeface="Open Sans"/>
                <a:cs typeface="Open Sans"/>
              </a:rPr>
              <a:t>kahramanı</a:t>
            </a:r>
            <a:endParaRPr lang="en-US" sz="1400" b="1" i="1" dirty="0">
              <a:solidFill>
                <a:srgbClr val="9A4430"/>
              </a:solidFill>
              <a:latin typeface="Open Sans"/>
              <a:ea typeface="Open Sans"/>
              <a:cs typeface="Open Sans"/>
            </a:endParaRPr>
          </a:p>
        </p:txBody>
      </p:sp>
      <p:pic>
        <p:nvPicPr>
          <p:cNvPr id="9" name="Picture 8">
            <a:extLst>
              <a:ext uri="{FF2B5EF4-FFF2-40B4-BE49-F238E27FC236}">
                <a16:creationId xmlns:a16="http://schemas.microsoft.com/office/drawing/2014/main" id="{891E9420-F6EC-9F7D-E915-932C7149C7BE}"/>
              </a:ext>
            </a:extLst>
          </p:cNvPr>
          <p:cNvPicPr>
            <a:picLocks noChangeAspect="1"/>
          </p:cNvPicPr>
          <p:nvPr/>
        </p:nvPicPr>
        <p:blipFill>
          <a:blip r:embed="rId3"/>
          <a:stretch>
            <a:fillRect/>
          </a:stretch>
        </p:blipFill>
        <p:spPr>
          <a:xfrm>
            <a:off x="201246" y="723955"/>
            <a:ext cx="8473831" cy="5115112"/>
          </a:xfrm>
          <a:prstGeom prst="rect">
            <a:avLst/>
          </a:prstGeom>
        </p:spPr>
      </p:pic>
      <p:pic>
        <p:nvPicPr>
          <p:cNvPr id="11" name="Picture 10">
            <a:extLst>
              <a:ext uri="{FF2B5EF4-FFF2-40B4-BE49-F238E27FC236}">
                <a16:creationId xmlns:a16="http://schemas.microsoft.com/office/drawing/2014/main" id="{9EA392AB-C6B4-7BD5-5B0A-CB35F35BAD30}"/>
              </a:ext>
            </a:extLst>
          </p:cNvPr>
          <p:cNvPicPr>
            <a:picLocks noChangeAspect="1"/>
          </p:cNvPicPr>
          <p:nvPr/>
        </p:nvPicPr>
        <p:blipFill>
          <a:blip r:embed="rId4" cstate="screen">
            <a:extLst>
              <a:ext uri="{28A0092B-C50C-407E-A947-70E740481C1C}">
                <a14:useLocalDpi xmlns:a14="http://schemas.microsoft.com/office/drawing/2010/main" val="0"/>
              </a:ext>
            </a:extLst>
          </a:blip>
          <a:srcRect/>
          <a:stretch>
            <a:fillRect/>
          </a:stretch>
        </p:blipFill>
        <p:spPr>
          <a:xfrm>
            <a:off x="8675077" y="0"/>
            <a:ext cx="3881338" cy="6858000"/>
          </a:xfrm>
          <a:prstGeom prst="rect">
            <a:avLst/>
          </a:prstGeom>
        </p:spPr>
      </p:pic>
    </p:spTree>
    <p:extLst>
      <p:ext uri="{BB962C8B-B14F-4D97-AF65-F5344CB8AC3E}">
        <p14:creationId xmlns:p14="http://schemas.microsoft.com/office/powerpoint/2010/main" val="17113327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B8BD1334-6327-1523-70B3-D62DD52D919A}"/>
              </a:ext>
            </a:extLst>
          </p:cNvPr>
          <p:cNvPicPr>
            <a:picLocks noChangeAspect="1"/>
          </p:cNvPicPr>
          <p:nvPr/>
        </p:nvPicPr>
        <p:blipFill>
          <a:blip r:embed="rId3" cstate="screen">
            <a:extLst>
              <a:ext uri="{28A0092B-C50C-407E-A947-70E740481C1C}">
                <a14:useLocalDpi xmlns:a14="http://schemas.microsoft.com/office/drawing/2010/main" val="0"/>
              </a:ext>
            </a:extLst>
          </a:blip>
          <a:srcRect/>
          <a:stretch>
            <a:fillRect/>
          </a:stretch>
        </p:blipFill>
        <p:spPr>
          <a:xfrm>
            <a:off x="2861801" y="754657"/>
            <a:ext cx="5104764" cy="610334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Title 1">
            <a:extLst>
              <a:ext uri="{FF2B5EF4-FFF2-40B4-BE49-F238E27FC236}">
                <a16:creationId xmlns:a16="http://schemas.microsoft.com/office/drawing/2014/main" id="{429E16FC-462C-7E55-8B55-227F55CD9F67}"/>
              </a:ext>
            </a:extLst>
          </p:cNvPr>
          <p:cNvSpPr>
            <a:spLocks noGrp="1"/>
          </p:cNvSpPr>
          <p:nvPr>
            <p:ph type="title"/>
          </p:nvPr>
        </p:nvSpPr>
        <p:spPr>
          <a:xfrm>
            <a:off x="-636" y="50800"/>
            <a:ext cx="10922000" cy="762000"/>
          </a:xfrm>
        </p:spPr>
        <p:txBody>
          <a:bodyPr>
            <a:normAutofit/>
          </a:bodyPr>
          <a:lstStyle/>
          <a:p>
            <a:r>
              <a:rPr lang="de-DE" sz="2800" b="1" dirty="0">
                <a:latin typeface="Montserrat"/>
              </a:rPr>
              <a:t>Boğa Güreşi: Bildiğimizden Bir Tık Farklıymış!</a:t>
            </a:r>
            <a:endParaRPr lang="en-US" sz="2800" b="1" dirty="0">
              <a:latin typeface="Montserrat"/>
            </a:endParaRPr>
          </a:p>
        </p:txBody>
      </p:sp>
      <p:pic>
        <p:nvPicPr>
          <p:cNvPr id="11" name="Picture 10">
            <a:extLst>
              <a:ext uri="{FF2B5EF4-FFF2-40B4-BE49-F238E27FC236}">
                <a16:creationId xmlns:a16="http://schemas.microsoft.com/office/drawing/2014/main" id="{E354DB84-E580-DD78-E3F1-629ECFA3F9C5}"/>
              </a:ext>
            </a:extLst>
          </p:cNvPr>
          <p:cNvPicPr>
            <a:picLocks noChangeAspect="1"/>
          </p:cNvPicPr>
          <p:nvPr/>
        </p:nvPicPr>
        <p:blipFill>
          <a:blip r:embed="rId4" cstate="screen">
            <a:extLst>
              <a:ext uri="{28A0092B-C50C-407E-A947-70E740481C1C}">
                <a14:useLocalDpi xmlns:a14="http://schemas.microsoft.com/office/drawing/2010/main" val="0"/>
              </a:ext>
            </a:extLst>
          </a:blip>
          <a:srcRect/>
          <a:stretch>
            <a:fillRect/>
          </a:stretch>
        </p:blipFill>
        <p:spPr>
          <a:xfrm>
            <a:off x="0" y="812800"/>
            <a:ext cx="3198933" cy="609561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7" name="Picture 16">
            <a:extLst>
              <a:ext uri="{FF2B5EF4-FFF2-40B4-BE49-F238E27FC236}">
                <a16:creationId xmlns:a16="http://schemas.microsoft.com/office/drawing/2014/main" id="{B767779D-62FD-EE76-B5AD-581922F8F516}"/>
              </a:ext>
            </a:extLst>
          </p:cNvPr>
          <p:cNvPicPr>
            <a:picLocks noChangeAspect="1"/>
          </p:cNvPicPr>
          <p:nvPr/>
        </p:nvPicPr>
        <p:blipFill>
          <a:blip r:embed="rId5" cstate="screen">
            <a:extLst>
              <a:ext uri="{28A0092B-C50C-407E-A947-70E740481C1C}">
                <a14:useLocalDpi xmlns:a14="http://schemas.microsoft.com/office/drawing/2010/main" val="0"/>
              </a:ext>
            </a:extLst>
          </a:blip>
          <a:srcRect/>
          <a:stretch>
            <a:fillRect/>
          </a:stretch>
        </p:blipFill>
        <p:spPr>
          <a:xfrm rot="2416526">
            <a:off x="9238951" y="-275210"/>
            <a:ext cx="1338897" cy="439485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5" name="Picture 14">
            <a:extLst>
              <a:ext uri="{FF2B5EF4-FFF2-40B4-BE49-F238E27FC236}">
                <a16:creationId xmlns:a16="http://schemas.microsoft.com/office/drawing/2014/main" id="{E547114A-EBDE-70F8-8227-6ABB4838FDCE}"/>
              </a:ext>
            </a:extLst>
          </p:cNvPr>
          <p:cNvPicPr>
            <a:picLocks noChangeAspect="1"/>
          </p:cNvPicPr>
          <p:nvPr/>
        </p:nvPicPr>
        <p:blipFill>
          <a:blip r:embed="rId6" cstate="screen">
            <a:extLst>
              <a:ext uri="{28A0092B-C50C-407E-A947-70E740481C1C}">
                <a14:useLocalDpi xmlns:a14="http://schemas.microsoft.com/office/drawing/2010/main" val="0"/>
              </a:ext>
            </a:extLst>
          </a:blip>
          <a:srcRect/>
          <a:stretch>
            <a:fillRect/>
          </a:stretch>
        </p:blipFill>
        <p:spPr>
          <a:xfrm>
            <a:off x="7720380" y="3640155"/>
            <a:ext cx="4389558" cy="317482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2033914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7B6085C-4F96-4905-8EE9-816F0884ACEF}"/>
              </a:ext>
            </a:extLst>
          </p:cNvPr>
          <p:cNvSpPr/>
          <p:nvPr/>
        </p:nvSpPr>
        <p:spPr>
          <a:xfrm>
            <a:off x="74245" y="1535723"/>
            <a:ext cx="11996929" cy="3364524"/>
          </a:xfrm>
          <a:prstGeom prst="roundRect">
            <a:avLst/>
          </a:prstGeom>
          <a:solidFill>
            <a:srgbClr val="F4F8F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E1FC4108-F768-43FF-B76B-E99968BE46F8}"/>
              </a:ext>
            </a:extLst>
          </p:cNvPr>
          <p:cNvSpPr txBox="1"/>
          <p:nvPr/>
        </p:nvSpPr>
        <p:spPr>
          <a:xfrm>
            <a:off x="902676" y="2226852"/>
            <a:ext cx="11000304" cy="2123658"/>
          </a:xfrm>
          <a:prstGeom prst="rect">
            <a:avLst/>
          </a:prstGeom>
          <a:noFill/>
        </p:spPr>
        <p:txBody>
          <a:bodyPr vertOverflow="overflow" vert="horz" wrap="square" rtlCol="0" anchor="ctr" anchorCtr="0">
            <a:spAutoFit/>
          </a:bodyPr>
          <a:lstStyle/>
          <a:p>
            <a:pPr algn="l"/>
            <a:r>
              <a:rPr lang="en-US" sz="4400" b="1" dirty="0">
                <a:solidFill>
                  <a:srgbClr val="16263A"/>
                </a:solidFill>
                <a:latin typeface="Montserrat"/>
              </a:rPr>
              <a:t>Enterprise </a:t>
            </a:r>
            <a:r>
              <a:rPr lang="en-US" sz="4400" b="1" dirty="0" err="1">
                <a:solidFill>
                  <a:srgbClr val="16263A"/>
                </a:solidFill>
                <a:latin typeface="Montserrat"/>
              </a:rPr>
              <a:t>AI'ın</a:t>
            </a:r>
            <a:r>
              <a:rPr lang="en-US" sz="4400" b="1" dirty="0">
                <a:solidFill>
                  <a:srgbClr val="16263A"/>
                </a:solidFill>
                <a:latin typeface="Montserrat"/>
              </a:rPr>
              <a:t> </a:t>
            </a:r>
            <a:r>
              <a:rPr lang="en-US" sz="4400" b="1" dirty="0" err="1">
                <a:solidFill>
                  <a:srgbClr val="16263A"/>
                </a:solidFill>
                <a:latin typeface="Montserrat"/>
              </a:rPr>
              <a:t>bir</a:t>
            </a:r>
            <a:r>
              <a:rPr lang="en-US" sz="4400" b="1" dirty="0">
                <a:solidFill>
                  <a:srgbClr val="16263A"/>
                </a:solidFill>
                <a:latin typeface="Montserrat"/>
              </a:rPr>
              <a:t> </a:t>
            </a:r>
            <a:r>
              <a:rPr lang="en-US" sz="4400" b="1" dirty="0" err="1">
                <a:solidFill>
                  <a:srgbClr val="16263A"/>
                </a:solidFill>
                <a:latin typeface="Montserrat"/>
              </a:rPr>
              <a:t>sonraki</a:t>
            </a:r>
            <a:r>
              <a:rPr lang="en-US" sz="4400" b="1" dirty="0">
                <a:solidFill>
                  <a:srgbClr val="16263A"/>
                </a:solidFill>
                <a:latin typeface="Montserrat"/>
              </a:rPr>
              <a:t> </a:t>
            </a:r>
            <a:r>
              <a:rPr lang="en-US" sz="4400" b="1" dirty="0" err="1">
                <a:solidFill>
                  <a:srgbClr val="16263A"/>
                </a:solidFill>
                <a:latin typeface="Montserrat"/>
              </a:rPr>
              <a:t>aşaması</a:t>
            </a:r>
            <a:r>
              <a:rPr lang="en-US" sz="4400" b="1" dirty="0">
                <a:solidFill>
                  <a:srgbClr val="16263A"/>
                </a:solidFill>
                <a:latin typeface="Montserrat"/>
              </a:rPr>
              <a:t>, </a:t>
            </a:r>
            <a:br>
              <a:rPr lang="en-US" sz="4400" b="1" dirty="0">
                <a:solidFill>
                  <a:srgbClr val="16263A"/>
                </a:solidFill>
                <a:latin typeface="Montserrat"/>
              </a:rPr>
            </a:br>
            <a:r>
              <a:rPr lang="en-US" sz="4400" b="1" dirty="0" err="1">
                <a:solidFill>
                  <a:srgbClr val="16263A"/>
                </a:solidFill>
                <a:latin typeface="Montserrat"/>
              </a:rPr>
              <a:t>etkileyici</a:t>
            </a:r>
            <a:r>
              <a:rPr lang="en-US" sz="4400" b="1" dirty="0">
                <a:solidFill>
                  <a:srgbClr val="16263A"/>
                </a:solidFill>
                <a:latin typeface="Montserrat"/>
              </a:rPr>
              <a:t> </a:t>
            </a:r>
            <a:r>
              <a:rPr lang="en-US" sz="4400" b="1" dirty="0" err="1">
                <a:solidFill>
                  <a:srgbClr val="16263A"/>
                </a:solidFill>
                <a:latin typeface="Montserrat"/>
              </a:rPr>
              <a:t>demolardan</a:t>
            </a:r>
            <a:r>
              <a:rPr lang="en-US" sz="4400" b="1" dirty="0">
                <a:solidFill>
                  <a:srgbClr val="16263A"/>
                </a:solidFill>
                <a:latin typeface="Montserrat"/>
              </a:rPr>
              <a:t> çok </a:t>
            </a:r>
            <a:br>
              <a:rPr lang="en-US" sz="4400" b="1" dirty="0">
                <a:solidFill>
                  <a:srgbClr val="16263A"/>
                </a:solidFill>
                <a:latin typeface="Montserrat"/>
              </a:rPr>
            </a:br>
            <a:r>
              <a:rPr lang="en-US" sz="4400" b="1" u="sng" dirty="0" err="1">
                <a:solidFill>
                  <a:srgbClr val="16263A"/>
                </a:solidFill>
                <a:latin typeface="Montserrat"/>
              </a:rPr>
              <a:t>güvenilir</a:t>
            </a:r>
            <a:r>
              <a:rPr lang="en-US" sz="4400" b="1" u="sng" dirty="0">
                <a:solidFill>
                  <a:srgbClr val="16263A"/>
                </a:solidFill>
                <a:latin typeface="Montserrat"/>
              </a:rPr>
              <a:t> </a:t>
            </a:r>
            <a:r>
              <a:rPr lang="en-US" sz="4400" b="1" u="sng" dirty="0" err="1">
                <a:solidFill>
                  <a:srgbClr val="16263A"/>
                </a:solidFill>
                <a:latin typeface="Montserrat"/>
              </a:rPr>
              <a:t>sistemlerle</a:t>
            </a:r>
            <a:r>
              <a:rPr lang="en-US" sz="4400" b="1" dirty="0">
                <a:solidFill>
                  <a:srgbClr val="16263A"/>
                </a:solidFill>
                <a:latin typeface="Montserrat"/>
              </a:rPr>
              <a:t> ilgili olacak.</a:t>
            </a:r>
          </a:p>
        </p:txBody>
      </p:sp>
      <p:sp>
        <p:nvSpPr>
          <p:cNvPr id="13" name="Rectangle 12">
            <a:extLst>
              <a:ext uri="{FF2B5EF4-FFF2-40B4-BE49-F238E27FC236}">
                <a16:creationId xmlns:a16="http://schemas.microsoft.com/office/drawing/2014/main" id="{CEB7AF70-03E9-9ED3-4F44-939DF8ADC239}"/>
              </a:ext>
            </a:extLst>
          </p:cNvPr>
          <p:cNvSpPr/>
          <p:nvPr/>
        </p:nvSpPr>
        <p:spPr>
          <a:xfrm>
            <a:off x="800762" y="2280581"/>
            <a:ext cx="101914" cy="2069929"/>
          </a:xfrm>
          <a:prstGeom prst="rect">
            <a:avLst/>
          </a:prstGeom>
          <a:solidFill>
            <a:srgbClr val="1C7FB8"/>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858776495"/>
      </p:ext>
    </p:extLst>
  </p:cSld>
  <p:clrMapOvr>
    <a:masterClrMapping/>
  </p:clrMapOvr>
</p:sld>
</file>

<file path=ppt/theme/theme1.xml><?xml version="1.0" encoding="utf-8"?>
<a:theme xmlns:a="http://schemas.openxmlformats.org/drawingml/2006/main" name="Office Theme [1782665818168]">
  <a:themeElements>
    <a:clrScheme name="Office">
      <a:dk1>
        <a:srgbClr val="16263A"/>
      </a:dk1>
      <a:lt1>
        <a:srgbClr val="FFFFFF"/>
      </a:lt1>
      <a:dk2>
        <a:srgbClr val="24364A"/>
      </a:dk2>
      <a:lt2>
        <a:srgbClr val="EEF3F8"/>
      </a:lt2>
      <a:accent1>
        <a:srgbClr val="1C7FB8"/>
      </a:accent1>
      <a:accent2>
        <a:srgbClr val="E08A2B"/>
      </a:accent2>
      <a:accent3>
        <a:srgbClr val="2BA39A"/>
      </a:accent3>
      <a:accent4>
        <a:srgbClr val="C0563B"/>
      </a:accent4>
      <a:accent5>
        <a:srgbClr val="5B6B7B"/>
      </a:accent5>
      <a:accent6>
        <a:srgbClr val="E8B84B"/>
      </a:accent6>
      <a:hlink>
        <a:srgbClr val="467886"/>
      </a:hlink>
      <a:folHlink>
        <a:srgbClr val="96607D"/>
      </a:folHlink>
    </a:clrScheme>
    <a:fontScheme name="Office">
      <a:majorFont>
        <a:latin typeface="Montserra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Open San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07" row="5">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4733637-4DEE-4622-A99D-0890284D611B}">
  <we:reference id="wa200010001" version="1.0.0.1" store="en-US" storeType="OMEX"/>
  <we:alternateReferences>
    <we:reference id="WA200010001" version="1.0.0.1" store="" storeType="OMEX"/>
  </we:alternateReferences>
  <we:properties>
    <we:property name="claude.fileId" value="&quot;e36e7d90-a580-4816-a0d9-70d880b553e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342</TotalTime>
  <Words>4181</Words>
  <Application>Microsoft Office PowerPoint</Application>
  <PresentationFormat>Widescreen</PresentationFormat>
  <Paragraphs>333</Paragraphs>
  <Slides>35</Slides>
  <Notes>35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-apple-system</vt:lpstr>
      <vt:lpstr>Aptos</vt:lpstr>
      <vt:lpstr>Arial</vt:lpstr>
      <vt:lpstr>Montserrat</vt:lpstr>
      <vt:lpstr>Open Sans</vt:lpstr>
      <vt:lpstr>Poppins</vt:lpstr>
      <vt:lpstr>Segoe UI Light</vt:lpstr>
      <vt:lpstr>Office Theme [1782665818168]</vt:lpstr>
      <vt:lpstr>PowerPoint Presentation</vt:lpstr>
      <vt:lpstr>Konferans Hakkında</vt:lpstr>
      <vt:lpstr>PowerPoint Presentation</vt:lpstr>
      <vt:lpstr>PowerPoint Presentation</vt:lpstr>
      <vt:lpstr>Diğer Oturumlar</vt:lpstr>
      <vt:lpstr>PowerPoint Presentation</vt:lpstr>
      <vt:lpstr>Prisoners Dilemma: Mahkum İkilemi</vt:lpstr>
      <vt:lpstr>Learn the business</vt:lpstr>
      <vt:lpstr>Work Incrementally</vt:lpstr>
      <vt:lpstr>3 Hata Düşmeyin</vt:lpstr>
      <vt:lpstr>Türklerin de ünlü olduğu yerler var 😆 </vt:lpstr>
      <vt:lpstr>Organizasyonlarda Güç: Power-With</vt:lpstr>
      <vt:lpstr>Gücün Kaynakları ve Karar Verme Süreci</vt:lpstr>
      <vt:lpstr>İş Yerinde Karizma ve Bilgi</vt:lpstr>
      <vt:lpstr>Biz Neden Değerliyiz?</vt:lpstr>
      <vt:lpstr>Architecture Advice Process: Kararı Herkes Verebilir</vt:lpstr>
      <vt:lpstr>PowerPoint Presentation</vt:lpstr>
      <vt:lpstr>AI Hype  "En Güçlü Model?!"</vt:lpstr>
      <vt:lpstr>PowerPoint Presentation</vt:lpstr>
      <vt:lpstr>Gerçek: Değer Gen AI Yığınında Nereye Akıyor?</vt:lpstr>
      <vt:lpstr>AI Üretti — Peki Sonra Ne Olur?</vt:lpstr>
      <vt:lpstr>AI Ajanları Ne Yapabilir, Ne Yapamaz? </vt:lpstr>
      <vt:lpstr>AI Ajanları Ne Yapabilir, Ne Yapamaz? </vt:lpstr>
      <vt:lpstr>AI Ajanları Ne Yapabilir, Ne Yapamaz? </vt:lpstr>
      <vt:lpstr>PowerPoint Presentation</vt:lpstr>
      <vt:lpstr>ADR — Mimari Karar Kaydı</vt:lpstr>
      <vt:lpstr>PowerPoint Presentation</vt:lpstr>
      <vt:lpstr>Konferans Deneyimi ve Networking</vt:lpstr>
      <vt:lpstr>Temel Çıkarımlarım</vt:lpstr>
      <vt:lpstr>Kültürel Ziyaretler: Lepanto Deniz Savaşı</vt:lpstr>
      <vt:lpstr>Kaptan-ı Derya Ali Paşa'nın Miğferi</vt:lpstr>
      <vt:lpstr>Savaş Ganimetleri: Kılıç, Kalkan ve Kol Zırhı</vt:lpstr>
      <vt:lpstr>Cervantes ve Don Kişot'un Lepanto Bağı</vt:lpstr>
      <vt:lpstr>Boğa Güreşi: Bildiğimizden Bir Tık Farklıymış!</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Alper Ebiçoğlu</dc:creator>
  <cp:lastModifiedBy>Alper Ebiçoğlu</cp:lastModifiedBy>
  <cp:revision>60</cp:revision>
  <dcterms:created xsi:type="dcterms:W3CDTF">2026-06-28T16:46:53Z</dcterms:created>
  <dcterms:modified xsi:type="dcterms:W3CDTF">2026-06-29T15:44:40Z</dcterms:modified>
</cp:coreProperties>
</file>